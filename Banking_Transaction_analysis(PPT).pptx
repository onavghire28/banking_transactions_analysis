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257" r:id="rId3"/>
    <p:sldId id="259" r:id="rId4"/>
    <p:sldId id="258" r:id="rId5"/>
    <p:sldId id="285" r:id="rId6"/>
    <p:sldId id="260" r:id="rId7"/>
    <p:sldId id="261" r:id="rId8"/>
    <p:sldId id="262" r:id="rId9"/>
    <p:sldId id="263" r:id="rId10"/>
    <p:sldId id="264" r:id="rId11"/>
    <p:sldId id="265" r:id="rId12"/>
    <p:sldId id="266" r:id="rId13"/>
    <p:sldId id="267" r:id="rId14"/>
    <p:sldId id="268" r:id="rId15"/>
    <p:sldId id="271" r:id="rId16"/>
    <p:sldId id="270" r:id="rId17"/>
    <p:sldId id="272" r:id="rId18"/>
    <p:sldId id="273" r:id="rId19"/>
    <p:sldId id="274" r:id="rId20"/>
    <p:sldId id="275" r:id="rId21"/>
    <p:sldId id="277" r:id="rId22"/>
    <p:sldId id="286" r:id="rId23"/>
    <p:sldId id="278" r:id="rId24"/>
    <p:sldId id="276" r:id="rId25"/>
    <p:sldId id="281" r:id="rId26"/>
    <p:sldId id="282" r:id="rId27"/>
    <p:sldId id="283" r:id="rId28"/>
    <p:sldId id="288" r:id="rId29"/>
    <p:sldId id="287" r:id="rId30"/>
    <p:sldId id="284"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3" Type="http://schemas.openxmlformats.org/officeDocument/2006/relationships/oleObject" Target="file:///C:\Users\Om\Downloads\Banking.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Om\Downloads\Banking.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Om\Downloads\Banking.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Om\Downloads\Banking.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Om\Downloads\Banking.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Om\Downloads\Banking.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Om\Downloads\Banking.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Om\Downloads\Banking.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Om\Downloads\Banking.xlsx" TargetMode="External"/><Relationship Id="rId2" Type="http://schemas.microsoft.com/office/2011/relationships/chartColorStyle" Target="colors9.xml"/><Relationship Id="rId1" Type="http://schemas.microsoft.com/office/2011/relationships/chartStyle" Target="style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[Banking.xlsx]Sheet3!PivotTable2</c:name>
    <c:fmtId val="7"/>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aseline="0"/>
              <a:t>Total Transaction by Transaction Type </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dLbl>
          <c:idx val="0"/>
          <c:layout>
            <c:manualLayout>
              <c:x val="7.8828702155473815E-2"/>
              <c:y val="-9.0090090090090086E-2"/>
            </c:manualLayout>
          </c:layout>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1349580457848174"/>
                  <c:h val="9.4760736700231107E-2"/>
                </c:manualLayout>
              </c15:layout>
            </c:ext>
          </c:extLst>
        </c:dLbl>
      </c:pivotFmt>
      <c:pivotFmt>
        <c:idx val="2"/>
        <c:spPr>
          <a:solidFill>
            <a:schemeClr val="accent1"/>
          </a:solidFill>
          <a:ln w="19050">
            <a:solidFill>
              <a:schemeClr val="lt1"/>
            </a:solidFill>
          </a:ln>
          <a:effectLst/>
        </c:spPr>
        <c:dLbl>
          <c:idx val="0"/>
          <c:layout>
            <c:manualLayout>
              <c:x val="-5.7914931241702911E-2"/>
              <c:y val="-0.11853959222380275"/>
            </c:manualLayout>
          </c:layout>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1349580457848174"/>
                  <c:h val="7.5794401944422662E-2"/>
                </c:manualLayout>
              </c15:layout>
            </c:ext>
          </c:extLst>
        </c:dLbl>
      </c:pivotFmt>
      <c:pivotFmt>
        <c:idx val="3"/>
        <c:spPr>
          <a:solidFill>
            <a:schemeClr val="accent1"/>
          </a:solidFill>
          <a:ln w="19050">
            <a:solidFill>
              <a:schemeClr val="lt1"/>
            </a:solidFill>
          </a:ln>
          <a:effectLst/>
        </c:spPr>
        <c:dLbl>
          <c:idx val="0"/>
          <c:layout>
            <c:manualLayout>
              <c:x val="-0.11261261261261264"/>
              <c:y val="2.6078710289236522E-2"/>
            </c:manualLayout>
          </c:layout>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11887052969730133"/>
                  <c:h val="9.0019153011278996E-2"/>
                </c:manualLayout>
              </c15:layout>
            </c:ext>
          </c:extLst>
        </c:dLbl>
      </c:pivotFmt>
      <c:pivotFmt>
        <c:idx val="4"/>
        <c:spPr>
          <a:solidFill>
            <a:schemeClr val="accent1"/>
          </a:solidFill>
          <a:ln w="19050">
            <a:solidFill>
              <a:schemeClr val="lt1"/>
            </a:solidFill>
          </a:ln>
          <a:effectLst/>
        </c:spPr>
        <c:dLbl>
          <c:idx val="0"/>
          <c:layout>
            <c:manualLayout>
              <c:x val="0.13191763191763189"/>
              <c:y val="9.9573257467994308E-2"/>
            </c:manualLayout>
          </c:layout>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15104556187233351"/>
                  <c:h val="8.5277569322326871E-2"/>
                </c:manualLayout>
              </c15:layout>
            </c:ext>
          </c:extLst>
        </c:dLbl>
      </c:pivotFmt>
      <c:pivotFmt>
        <c:idx val="5"/>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w="19050">
            <a:solidFill>
              <a:schemeClr val="lt1"/>
            </a:solidFill>
          </a:ln>
          <a:effectLst/>
        </c:spPr>
        <c:dLbl>
          <c:idx val="0"/>
          <c:layout>
            <c:manualLayout>
              <c:x val="7.8828702155473815E-2"/>
              <c:y val="-9.0090090090090086E-2"/>
            </c:manualLayout>
          </c:layout>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1349580457848174"/>
                  <c:h val="9.4760736700231107E-2"/>
                </c:manualLayout>
              </c15:layout>
            </c:ext>
          </c:extLst>
        </c:dLbl>
      </c:pivotFmt>
      <c:pivotFmt>
        <c:idx val="7"/>
        <c:spPr>
          <a:solidFill>
            <a:schemeClr val="accent1"/>
          </a:solidFill>
          <a:ln w="19050">
            <a:solidFill>
              <a:schemeClr val="lt1"/>
            </a:solidFill>
          </a:ln>
          <a:effectLst/>
        </c:spPr>
        <c:dLbl>
          <c:idx val="0"/>
          <c:layout>
            <c:manualLayout>
              <c:x val="0.13191763191763189"/>
              <c:y val="9.9573257467994308E-2"/>
            </c:manualLayout>
          </c:layout>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15104556187233351"/>
                  <c:h val="8.5277569322326871E-2"/>
                </c:manualLayout>
              </c15:layout>
            </c:ext>
          </c:extLst>
        </c:dLbl>
      </c:pivotFmt>
      <c:pivotFmt>
        <c:idx val="8"/>
        <c:spPr>
          <a:solidFill>
            <a:schemeClr val="accent1"/>
          </a:solidFill>
          <a:ln w="19050">
            <a:solidFill>
              <a:schemeClr val="lt1"/>
            </a:solidFill>
          </a:ln>
          <a:effectLst/>
        </c:spPr>
        <c:dLbl>
          <c:idx val="0"/>
          <c:layout>
            <c:manualLayout>
              <c:x val="-0.11261261261261264"/>
              <c:y val="2.6078710289236522E-2"/>
            </c:manualLayout>
          </c:layout>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11887052969730133"/>
                  <c:h val="9.0019153011278996E-2"/>
                </c:manualLayout>
              </c15:layout>
            </c:ext>
          </c:extLst>
        </c:dLbl>
      </c:pivotFmt>
      <c:pivotFmt>
        <c:idx val="9"/>
        <c:spPr>
          <a:solidFill>
            <a:schemeClr val="accent1"/>
          </a:solidFill>
          <a:ln w="19050">
            <a:solidFill>
              <a:schemeClr val="lt1"/>
            </a:solidFill>
          </a:ln>
          <a:effectLst/>
        </c:spPr>
        <c:dLbl>
          <c:idx val="0"/>
          <c:layout>
            <c:manualLayout>
              <c:x val="-5.7914931241702911E-2"/>
              <c:y val="-0.11853959222380275"/>
            </c:manualLayout>
          </c:layout>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1349580457848174"/>
                  <c:h val="7.5794401944422662E-2"/>
                </c:manualLayout>
              </c15:layout>
            </c:ext>
          </c:extLst>
        </c:dLbl>
      </c:pivotFmt>
      <c:pivotFmt>
        <c:idx val="1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w="19050">
            <a:solidFill>
              <a:schemeClr val="lt1"/>
            </a:solidFill>
          </a:ln>
          <a:effectLst/>
        </c:spPr>
        <c:dLbl>
          <c:idx val="0"/>
          <c:layout>
            <c:manualLayout>
              <c:x val="7.8828702155473815E-2"/>
              <c:y val="-9.0090090090090086E-2"/>
            </c:manualLayout>
          </c:layout>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1349580457848174"/>
                  <c:h val="9.4760736700231107E-2"/>
                </c:manualLayout>
              </c15:layout>
            </c:ext>
          </c:extLst>
        </c:dLbl>
      </c:pivotFmt>
      <c:pivotFmt>
        <c:idx val="12"/>
        <c:spPr>
          <a:solidFill>
            <a:schemeClr val="accent1"/>
          </a:solidFill>
          <a:ln w="19050">
            <a:solidFill>
              <a:schemeClr val="lt1"/>
            </a:solidFill>
          </a:ln>
          <a:effectLst/>
        </c:spPr>
        <c:dLbl>
          <c:idx val="0"/>
          <c:layout>
            <c:manualLayout>
              <c:x val="0.13191763191763189"/>
              <c:y val="9.9573257467994308E-2"/>
            </c:manualLayout>
          </c:layout>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15104556187233351"/>
                  <c:h val="8.5277569322326871E-2"/>
                </c:manualLayout>
              </c15:layout>
            </c:ext>
          </c:extLst>
        </c:dLbl>
      </c:pivotFmt>
      <c:pivotFmt>
        <c:idx val="13"/>
        <c:spPr>
          <a:solidFill>
            <a:schemeClr val="accent1"/>
          </a:solidFill>
          <a:ln w="19050">
            <a:solidFill>
              <a:schemeClr val="lt1"/>
            </a:solidFill>
          </a:ln>
          <a:effectLst/>
        </c:spPr>
        <c:dLbl>
          <c:idx val="0"/>
          <c:layout>
            <c:manualLayout>
              <c:x val="-0.11261261261261264"/>
              <c:y val="2.6078710289236522E-2"/>
            </c:manualLayout>
          </c:layout>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11887052969730133"/>
                  <c:h val="9.0019153011278996E-2"/>
                </c:manualLayout>
              </c15:layout>
            </c:ext>
          </c:extLst>
        </c:dLbl>
      </c:pivotFmt>
      <c:pivotFmt>
        <c:idx val="14"/>
        <c:spPr>
          <a:solidFill>
            <a:schemeClr val="accent1"/>
          </a:solidFill>
          <a:ln w="19050">
            <a:solidFill>
              <a:schemeClr val="lt1"/>
            </a:solidFill>
          </a:ln>
          <a:effectLst/>
        </c:spPr>
        <c:dLbl>
          <c:idx val="0"/>
          <c:layout>
            <c:manualLayout>
              <c:x val="-5.7914931241702911E-2"/>
              <c:y val="-0.11853959222380275"/>
            </c:manualLayout>
          </c:layout>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1349580457848174"/>
                  <c:h val="7.5794401944422662E-2"/>
                </c:manualLayout>
              </c15:layout>
            </c:ext>
          </c:extLst>
        </c:dLbl>
      </c:pivotFmt>
    </c:pivotFmts>
    <c:plotArea>
      <c:layout/>
      <c:doughnutChart>
        <c:varyColors val="1"/>
        <c:ser>
          <c:idx val="0"/>
          <c:order val="0"/>
          <c:tx>
            <c:strRef>
              <c:f>Sheet3!$B$3</c:f>
              <c:strCache>
                <c:ptCount val="1"/>
                <c:pt idx="0">
                  <c:v>Total</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3E90-4A84-AD12-4ACD7899A204}"/>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3E90-4A84-AD12-4ACD7899A204}"/>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3E90-4A84-AD12-4ACD7899A204}"/>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3E90-4A84-AD12-4ACD7899A204}"/>
              </c:ext>
            </c:extLst>
          </c:dPt>
          <c:dLbls>
            <c:dLbl>
              <c:idx val="0"/>
              <c:layout>
                <c:manualLayout>
                  <c:x val="7.8828702155473815E-2"/>
                  <c:y val="-9.0090090090090086E-2"/>
                </c:manualLayout>
              </c:layout>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1349580457848174"/>
                      <c:h val="9.4760736700231107E-2"/>
                    </c:manualLayout>
                  </c15:layout>
                </c:ext>
                <c:ext xmlns:c16="http://schemas.microsoft.com/office/drawing/2014/chart" uri="{C3380CC4-5D6E-409C-BE32-E72D297353CC}">
                  <c16:uniqueId val="{00000001-3E90-4A84-AD12-4ACD7899A204}"/>
                </c:ext>
              </c:extLst>
            </c:dLbl>
            <c:dLbl>
              <c:idx val="1"/>
              <c:layout>
                <c:manualLayout>
                  <c:x val="0.13191763191763189"/>
                  <c:y val="9.9573257467994308E-2"/>
                </c:manualLayout>
              </c:layout>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15104556187233351"/>
                      <c:h val="8.5277569322326871E-2"/>
                    </c:manualLayout>
                  </c15:layout>
                </c:ext>
                <c:ext xmlns:c16="http://schemas.microsoft.com/office/drawing/2014/chart" uri="{C3380CC4-5D6E-409C-BE32-E72D297353CC}">
                  <c16:uniqueId val="{00000003-3E90-4A84-AD12-4ACD7899A204}"/>
                </c:ext>
              </c:extLst>
            </c:dLbl>
            <c:dLbl>
              <c:idx val="2"/>
              <c:layout>
                <c:manualLayout>
                  <c:x val="-0.11261261261261264"/>
                  <c:y val="2.6078710289236522E-2"/>
                </c:manualLayout>
              </c:layout>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11887052969730133"/>
                      <c:h val="9.0019153011278996E-2"/>
                    </c:manualLayout>
                  </c15:layout>
                </c:ext>
                <c:ext xmlns:c16="http://schemas.microsoft.com/office/drawing/2014/chart" uri="{C3380CC4-5D6E-409C-BE32-E72D297353CC}">
                  <c16:uniqueId val="{00000005-3E90-4A84-AD12-4ACD7899A204}"/>
                </c:ext>
              </c:extLst>
            </c:dLbl>
            <c:dLbl>
              <c:idx val="3"/>
              <c:layout>
                <c:manualLayout>
                  <c:x val="-5.7914931241702911E-2"/>
                  <c:y val="-0.11853959222380275"/>
                </c:manualLayout>
              </c:layout>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1349580457848174"/>
                      <c:h val="7.5794401944422662E-2"/>
                    </c:manualLayout>
                  </c15:layout>
                </c:ext>
                <c:ext xmlns:c16="http://schemas.microsoft.com/office/drawing/2014/chart" uri="{C3380CC4-5D6E-409C-BE32-E72D297353CC}">
                  <c16:uniqueId val="{00000007-3E90-4A84-AD12-4ACD7899A204}"/>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Sheet3!$A$4:$A$8</c:f>
              <c:strCache>
                <c:ptCount val="4"/>
                <c:pt idx="0">
                  <c:v>Card Payment</c:v>
                </c:pt>
                <c:pt idx="1">
                  <c:v>Deposit</c:v>
                </c:pt>
                <c:pt idx="2">
                  <c:v>Online Transfer</c:v>
                </c:pt>
                <c:pt idx="3">
                  <c:v>Withdrawal</c:v>
                </c:pt>
              </c:strCache>
            </c:strRef>
          </c:cat>
          <c:val>
            <c:numRef>
              <c:f>Sheet3!$B$4:$B$8</c:f>
              <c:numCache>
                <c:formatCode>0.00%</c:formatCode>
                <c:ptCount val="4"/>
                <c:pt idx="0">
                  <c:v>0.23586608760653183</c:v>
                </c:pt>
                <c:pt idx="1">
                  <c:v>0.26128024197748123</c:v>
                </c:pt>
                <c:pt idx="2">
                  <c:v>0.24657484341048258</c:v>
                </c:pt>
                <c:pt idx="3">
                  <c:v>0.25627882700550436</c:v>
                </c:pt>
              </c:numCache>
            </c:numRef>
          </c:val>
          <c:extLst>
            <c:ext xmlns:c16="http://schemas.microsoft.com/office/drawing/2014/chart" uri="{C3380CC4-5D6E-409C-BE32-E72D297353CC}">
              <c16:uniqueId val="{00000008-3E90-4A84-AD12-4ACD7899A204}"/>
            </c:ext>
          </c:extLst>
        </c:ser>
        <c:dLbls>
          <c:showLegendKey val="0"/>
          <c:showVal val="1"/>
          <c:showCatName val="0"/>
          <c:showSerName val="0"/>
          <c:showPercent val="0"/>
          <c:showBubbleSize val="0"/>
          <c:showLeaderLines val="1"/>
        </c:dLbls>
        <c:firstSliceAng val="0"/>
        <c:holeSize val="75"/>
      </c:doughnut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[Banking.xlsx]Sheet3!PivotTable4</c:name>
    <c:fmtId val="4"/>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Month</a:t>
            </a:r>
            <a:r>
              <a:rPr lang="en-US" baseline="0"/>
              <a:t> Wise Transaction</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dLbl>
          <c:idx val="0"/>
          <c:layout>
            <c:manualLayout>
              <c:x val="6.3227111785533613E-3"/>
              <c:y val="-5.5555555555555601E-2"/>
            </c:manualLayout>
          </c:layout>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17692220376853499"/>
                  <c:h val="9.2523330417031202E-2"/>
                </c:manualLayout>
              </c15:layout>
            </c:ext>
          </c:extLst>
        </c:dLbl>
      </c:pivotFmt>
      <c:pivotFmt>
        <c:idx val="2"/>
        <c:spPr>
          <a:solidFill>
            <a:schemeClr val="accent1"/>
          </a:solidFill>
          <a:ln>
            <a:noFill/>
          </a:ln>
          <a:effectLst/>
        </c:spPr>
        <c:dLbl>
          <c:idx val="0"/>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19209671059706307"/>
                  <c:h val="8.3264071157771929E-2"/>
                </c:manualLayout>
              </c15:layout>
            </c:ext>
          </c:extLst>
        </c:dLbl>
      </c:pivotFmt>
      <c:pivotFmt>
        <c:idx val="3"/>
        <c:spPr>
          <a:solidFill>
            <a:schemeClr val="accent1"/>
          </a:solidFill>
          <a:ln>
            <a:noFill/>
          </a:ln>
          <a:effectLst/>
        </c:spPr>
        <c:dLbl>
          <c:idx val="0"/>
          <c:layout>
            <c:manualLayout>
              <c:x val="2.529184041676126E-3"/>
              <c:y val="-3.4722039953339251E-2"/>
            </c:manualLayout>
          </c:layout>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17692220376853499"/>
                  <c:h val="7.8634441528142307E-2"/>
                </c:manualLayout>
              </c15:layout>
            </c:ext>
          </c:extLst>
        </c:dLbl>
      </c:pivotFmt>
      <c:pivotFmt>
        <c:idx val="4"/>
        <c:spPr>
          <a:solidFill>
            <a:schemeClr val="accent1"/>
          </a:solidFill>
          <a:ln>
            <a:noFill/>
          </a:ln>
          <a:effectLst/>
        </c:spPr>
        <c:dLbl>
          <c:idx val="0"/>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18703854165422037"/>
                  <c:h val="8.789370078740158E-2"/>
                </c:manualLayout>
              </c15:layout>
            </c:ext>
          </c:extLst>
        </c:dLbl>
      </c:pivotFmt>
      <c:pivotFmt>
        <c:idx val="5"/>
        <c:spPr>
          <a:solidFill>
            <a:schemeClr val="accent1"/>
          </a:solidFill>
          <a:ln>
            <a:noFill/>
          </a:ln>
          <a:effectLst/>
        </c:spPr>
        <c:dLbl>
          <c:idx val="0"/>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17692220376853499"/>
                  <c:h val="9.2523330417031202E-2"/>
                </c:manualLayout>
              </c15:layout>
            </c:ext>
          </c:extLst>
        </c:dLbl>
      </c:pivotFmt>
      <c:pivotFmt>
        <c:idx val="6"/>
        <c:spPr>
          <a:solidFill>
            <a:schemeClr val="accent1"/>
          </a:solidFill>
          <a:ln>
            <a:noFill/>
          </a:ln>
          <a:effectLst/>
        </c:spPr>
        <c:dLbl>
          <c:idx val="0"/>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17692220376853499"/>
                  <c:h val="8.3264071157771929E-2"/>
                </c:manualLayout>
              </c15:layout>
            </c:ext>
          </c:extLst>
        </c:dLbl>
      </c:pivotFmt>
      <c:pivotFmt>
        <c:idx val="7"/>
        <c:spPr>
          <a:solidFill>
            <a:schemeClr val="accent1"/>
          </a:solidFill>
          <a:ln>
            <a:noFill/>
          </a:ln>
          <a:effectLst/>
        </c:spPr>
        <c:dLbl>
          <c:idx val="0"/>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17186403482569232"/>
                  <c:h val="7.8634441528142307E-2"/>
                </c:manualLayout>
              </c15:layout>
            </c:ext>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Sheet3!$B$16</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Sheet3!$A$17:$A$24</c:f>
              <c:strCache>
                <c:ptCount val="7"/>
                <c:pt idx="0">
                  <c:v>April</c:v>
                </c:pt>
                <c:pt idx="1">
                  <c:v>February</c:v>
                </c:pt>
                <c:pt idx="2">
                  <c:v>January</c:v>
                </c:pt>
                <c:pt idx="3">
                  <c:v>July</c:v>
                </c:pt>
                <c:pt idx="4">
                  <c:v>June</c:v>
                </c:pt>
                <c:pt idx="5">
                  <c:v>March</c:v>
                </c:pt>
                <c:pt idx="6">
                  <c:v>May</c:v>
                </c:pt>
              </c:strCache>
            </c:strRef>
          </c:cat>
          <c:val>
            <c:numRef>
              <c:f>Sheet3!$B$17:$B$24</c:f>
              <c:numCache>
                <c:formatCode>General</c:formatCode>
                <c:ptCount val="7"/>
                <c:pt idx="0">
                  <c:v>720</c:v>
                </c:pt>
                <c:pt idx="1">
                  <c:v>672</c:v>
                </c:pt>
                <c:pt idx="2">
                  <c:v>744</c:v>
                </c:pt>
                <c:pt idx="3">
                  <c:v>656</c:v>
                </c:pt>
                <c:pt idx="4">
                  <c:v>720</c:v>
                </c:pt>
                <c:pt idx="5">
                  <c:v>744</c:v>
                </c:pt>
                <c:pt idx="6">
                  <c:v>744</c:v>
                </c:pt>
              </c:numCache>
            </c:numRef>
          </c:val>
          <c:extLst>
            <c:ext xmlns:c16="http://schemas.microsoft.com/office/drawing/2014/chart" uri="{C3380CC4-5D6E-409C-BE32-E72D297353CC}">
              <c16:uniqueId val="{00000000-0174-402F-80FE-F7B508318322}"/>
            </c:ext>
          </c:extLst>
        </c:ser>
        <c:dLbls>
          <c:dLblPos val="outEnd"/>
          <c:showLegendKey val="0"/>
          <c:showVal val="1"/>
          <c:showCatName val="0"/>
          <c:showSerName val="0"/>
          <c:showPercent val="0"/>
          <c:showBubbleSize val="0"/>
        </c:dLbls>
        <c:gapWidth val="219"/>
        <c:overlap val="-27"/>
        <c:axId val="1276100768"/>
        <c:axId val="1243038464"/>
      </c:barChart>
      <c:catAx>
        <c:axId val="12761007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43038464"/>
        <c:crosses val="autoZero"/>
        <c:auto val="1"/>
        <c:lblAlgn val="ctr"/>
        <c:lblOffset val="100"/>
        <c:noMultiLvlLbl val="0"/>
      </c:catAx>
      <c:valAx>
        <c:axId val="1243038464"/>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127610076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[Banking.xlsx]Sheet3!PivotTable5</c:name>
    <c:fmtId val="3"/>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Day</a:t>
            </a:r>
            <a:r>
              <a:rPr lang="en-US" baseline="0"/>
              <a:t> Wise Transactions</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dLbl>
          <c:idx val="0"/>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17365403663749079"/>
                  <c:h val="8.789370078740158E-2"/>
                </c:manualLayout>
              </c15:layout>
            </c:ext>
          </c:extLst>
        </c:dLbl>
      </c:pivotFmt>
      <c:pivotFmt>
        <c:idx val="2"/>
        <c:spPr>
          <a:solidFill>
            <a:schemeClr val="accent1"/>
          </a:solidFill>
          <a:ln>
            <a:noFill/>
          </a:ln>
          <a:effectLst/>
        </c:spPr>
        <c:dLbl>
          <c:idx val="0"/>
          <c:layout>
            <c:manualLayout>
              <c:x val="8.5658345570239838E-2"/>
              <c:y val="-1.157407407407407E-2"/>
            </c:manualLayout>
          </c:layout>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18344356184551819"/>
                  <c:h val="8.789370078740158E-2"/>
                </c:manualLayout>
              </c15:layout>
            </c:ext>
          </c:extLst>
        </c:dLbl>
      </c:pivotFmt>
      <c:pivotFmt>
        <c:idx val="3"/>
        <c:spPr>
          <a:solidFill>
            <a:schemeClr val="accent1"/>
          </a:solidFill>
          <a:ln>
            <a:noFill/>
          </a:ln>
          <a:effectLst/>
        </c:spPr>
        <c:dLbl>
          <c:idx val="0"/>
          <c:layout>
            <c:manualLayout>
              <c:x val="2.4473813020067631E-3"/>
              <c:y val="0"/>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dLbl>
          <c:idx val="0"/>
          <c:layout>
            <c:manualLayout>
              <c:x val="-3.4263338228095984E-2"/>
              <c:y val="-2.3148148148148147E-2"/>
            </c:manualLayout>
          </c:layout>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17365403663749079"/>
                  <c:h val="7.4004811898512685E-2"/>
                </c:manualLayout>
              </c15:layout>
            </c:ext>
          </c:extLst>
        </c:dLbl>
      </c:pivotFmt>
      <c:pivotFmt>
        <c:idx val="5"/>
        <c:spPr>
          <a:solidFill>
            <a:schemeClr val="accent1"/>
          </a:solidFill>
          <a:ln>
            <a:noFill/>
          </a:ln>
          <a:effectLst/>
        </c:spPr>
        <c:dLbl>
          <c:idx val="0"/>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18344356184551819"/>
                  <c:h val="9.2523330417031202E-2"/>
                </c:manualLayout>
              </c15:layout>
            </c:ext>
          </c:extLst>
        </c:dLbl>
      </c:pivotFmt>
      <c:pivotFmt>
        <c:idx val="6"/>
        <c:spPr>
          <a:solidFill>
            <a:schemeClr val="accent1"/>
          </a:solidFill>
          <a:ln>
            <a:noFill/>
          </a:ln>
          <a:effectLst/>
        </c:spPr>
        <c:dLbl>
          <c:idx val="0"/>
          <c:layout>
            <c:manualLayout>
              <c:x val="8.5658345570239769E-3"/>
              <c:y val="-2.5462962962963062E-2"/>
            </c:manualLayout>
          </c:layout>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17610141793949763"/>
                  <c:h val="9.7152960046660811E-2"/>
                </c:manualLayout>
              </c15:layout>
            </c:ext>
          </c:extLst>
        </c:dLbl>
      </c:pivotFmt>
      <c:pivotFmt>
        <c:idx val="7"/>
        <c:spPr>
          <a:solidFill>
            <a:schemeClr val="accent1"/>
          </a:solidFill>
          <a:ln>
            <a:noFill/>
          </a:ln>
          <a:effectLst/>
        </c:spPr>
        <c:dLbl>
          <c:idx val="0"/>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17365403663749079"/>
                  <c:h val="7.8634441528142307E-2"/>
                </c:manualLayout>
              </c15:layout>
            </c:ext>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Sheet3!$B$30</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Sheet3!$A$31:$A$38</c:f>
              <c:strCache>
                <c:ptCount val="7"/>
                <c:pt idx="0">
                  <c:v>Friday</c:v>
                </c:pt>
                <c:pt idx="1">
                  <c:v>Monday</c:v>
                </c:pt>
                <c:pt idx="2">
                  <c:v>Saturday</c:v>
                </c:pt>
                <c:pt idx="3">
                  <c:v>Sunday</c:v>
                </c:pt>
                <c:pt idx="4">
                  <c:v>Thursday</c:v>
                </c:pt>
                <c:pt idx="5">
                  <c:v>Tuesday</c:v>
                </c:pt>
                <c:pt idx="6">
                  <c:v>Wednesday</c:v>
                </c:pt>
              </c:strCache>
            </c:strRef>
          </c:cat>
          <c:val>
            <c:numRef>
              <c:f>Sheet3!$B$31:$B$38</c:f>
              <c:numCache>
                <c:formatCode>0</c:formatCode>
                <c:ptCount val="7"/>
                <c:pt idx="0">
                  <c:v>704</c:v>
                </c:pt>
                <c:pt idx="1">
                  <c:v>720</c:v>
                </c:pt>
                <c:pt idx="2">
                  <c:v>696</c:v>
                </c:pt>
                <c:pt idx="3">
                  <c:v>720</c:v>
                </c:pt>
                <c:pt idx="4">
                  <c:v>720</c:v>
                </c:pt>
                <c:pt idx="5">
                  <c:v>720</c:v>
                </c:pt>
                <c:pt idx="6">
                  <c:v>720</c:v>
                </c:pt>
              </c:numCache>
            </c:numRef>
          </c:val>
          <c:extLst>
            <c:ext xmlns:c16="http://schemas.microsoft.com/office/drawing/2014/chart" uri="{C3380CC4-5D6E-409C-BE32-E72D297353CC}">
              <c16:uniqueId val="{00000000-0284-4450-A9A3-44EAA37C5940}"/>
            </c:ext>
          </c:extLst>
        </c:ser>
        <c:dLbls>
          <c:dLblPos val="outEnd"/>
          <c:showLegendKey val="0"/>
          <c:showVal val="1"/>
          <c:showCatName val="0"/>
          <c:showSerName val="0"/>
          <c:showPercent val="0"/>
          <c:showBubbleSize val="0"/>
        </c:dLbls>
        <c:gapWidth val="219"/>
        <c:overlap val="-27"/>
        <c:axId val="1266971600"/>
        <c:axId val="1266970160"/>
      </c:barChart>
      <c:catAx>
        <c:axId val="12669716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66970160"/>
        <c:crosses val="autoZero"/>
        <c:auto val="1"/>
        <c:lblAlgn val="ctr"/>
        <c:lblOffset val="100"/>
        <c:noMultiLvlLbl val="0"/>
      </c:catAx>
      <c:valAx>
        <c:axId val="1266970160"/>
        <c:scaling>
          <c:orientation val="minMax"/>
        </c:scaling>
        <c:delete val="1"/>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crossAx val="126697160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[Banking.xlsx]Sheet3!PivotTable1</c:name>
    <c:fmtId val="4"/>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Age</a:t>
            </a:r>
            <a:r>
              <a:rPr lang="en-US" baseline="0"/>
              <a:t> And Gender wise Transactions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dLbl>
          <c:idx val="0"/>
          <c:layout>
            <c:manualLayout>
              <c:x val="4.6213476446034518E-2"/>
              <c:y val="-1.8970189701897122E-2"/>
            </c:manualLayout>
          </c:layout>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20093929448443271"/>
                  <c:h val="0.10289994238525062"/>
                </c:manualLayout>
              </c15:layout>
            </c:ext>
          </c:extLst>
        </c:dLbl>
      </c:pivotFmt>
      <c:pivotFmt>
        <c:idx val="4"/>
        <c:spPr>
          <a:solidFill>
            <a:schemeClr val="accent1"/>
          </a:solidFill>
          <a:ln>
            <a:noFill/>
          </a:ln>
          <a:effectLst/>
        </c:spPr>
        <c:dLbl>
          <c:idx val="0"/>
          <c:layout>
            <c:manualLayout>
              <c:x val="3.279666070363739E-2"/>
              <c:y val="-8.1300813008130052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dLbl>
          <c:idx val="0"/>
          <c:layout>
            <c:manualLayout>
              <c:x val="9.838998211091235E-2"/>
              <c:y val="-5.420054200542028E-3"/>
            </c:manualLayout>
          </c:layout>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2115534864939736"/>
                  <c:h val="8.663977978362461E-2"/>
                </c:manualLayout>
              </c15:layout>
            </c:ext>
          </c:extLst>
        </c:dLbl>
      </c:pivotFmt>
      <c:pivotFmt>
        <c:idx val="6"/>
        <c:spPr>
          <a:solidFill>
            <a:schemeClr val="accent1"/>
          </a:solidFill>
          <a:ln>
            <a:noFill/>
          </a:ln>
          <a:effectLst/>
        </c:spPr>
        <c:dLbl>
          <c:idx val="0"/>
          <c:layout>
            <c:manualLayout>
              <c:x val="-5.4660469730318395E-17"/>
              <c:y val="-6.5040650406504072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dLbl>
          <c:idx val="0"/>
          <c:layout>
            <c:manualLayout>
              <c:x val="7.006559332140716E-2"/>
              <c:y val="-3.523035230352304E-2"/>
            </c:manualLayout>
          </c:layout>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21286535292211906"/>
                  <c:h val="9.2059833984166603E-2"/>
                </c:manualLayout>
              </c15:layout>
            </c:ext>
          </c:extLst>
        </c:dLbl>
      </c:pivotFmt>
      <c:pivotFmt>
        <c:idx val="8"/>
        <c:spPr>
          <a:solidFill>
            <a:schemeClr val="accent1"/>
          </a:solidFill>
          <a:ln>
            <a:noFill/>
          </a:ln>
          <a:effectLst/>
        </c:spPr>
        <c:dLbl>
          <c:idx val="0"/>
          <c:layout>
            <c:manualLayout>
              <c:x val="-1.1926058437686349E-2"/>
              <c:y val="-1.0840108401084035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dLbl>
          <c:idx val="0"/>
          <c:layout>
            <c:manualLayout>
              <c:x val="-1.1926058437686349E-2"/>
              <c:y val="-1.0840108401084035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dLbl>
          <c:idx val="0"/>
          <c:layout>
            <c:manualLayout>
              <c:x val="-5.4660469730318395E-17"/>
              <c:y val="-6.5040650406504072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3"/>
        <c:spPr>
          <a:solidFill>
            <a:schemeClr val="accent2"/>
          </a:solidFill>
          <a:ln>
            <a:noFill/>
          </a:ln>
          <a:effectLst/>
        </c:spPr>
        <c:dLbl>
          <c:idx val="0"/>
          <c:layout>
            <c:manualLayout>
              <c:x val="3.279666070363739E-2"/>
              <c:y val="-8.1300813008130052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4"/>
        <c:spPr>
          <a:solidFill>
            <a:schemeClr val="accent2"/>
          </a:solidFill>
          <a:ln>
            <a:noFill/>
          </a:ln>
          <a:effectLst/>
        </c:spPr>
        <c:dLbl>
          <c:idx val="0"/>
          <c:layout>
            <c:manualLayout>
              <c:x val="9.838998211091235E-2"/>
              <c:y val="-5.420054200542028E-3"/>
            </c:manualLayout>
          </c:layout>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2115534864939736"/>
                  <c:h val="8.663977978362461E-2"/>
                </c:manualLayout>
              </c15:layout>
            </c:ext>
          </c:extLst>
        </c:dLbl>
      </c:pivotFmt>
      <c:pivotFmt>
        <c:idx val="1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6"/>
        <c:spPr>
          <a:solidFill>
            <a:schemeClr val="accent3"/>
          </a:solidFill>
          <a:ln>
            <a:noFill/>
          </a:ln>
          <a:effectLst/>
        </c:spPr>
        <c:dLbl>
          <c:idx val="0"/>
          <c:layout>
            <c:manualLayout>
              <c:x val="4.6213476446034518E-2"/>
              <c:y val="-1.8970189701897122E-2"/>
            </c:manualLayout>
          </c:layout>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20093929448443271"/>
                  <c:h val="0.10289994238525062"/>
                </c:manualLayout>
              </c15:layout>
            </c:ext>
          </c:extLst>
        </c:dLbl>
      </c:pivotFmt>
      <c:pivotFmt>
        <c:idx val="17"/>
        <c:spPr>
          <a:solidFill>
            <a:schemeClr val="accent3"/>
          </a:solidFill>
          <a:ln>
            <a:noFill/>
          </a:ln>
          <a:effectLst/>
        </c:spPr>
        <c:dLbl>
          <c:idx val="0"/>
          <c:layout>
            <c:manualLayout>
              <c:x val="7.006559332140716E-2"/>
              <c:y val="-3.523035230352304E-2"/>
            </c:manualLayout>
          </c:layout>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21286535292211906"/>
                  <c:h val="9.2059833984166603E-2"/>
                </c:manualLayout>
              </c15:layout>
            </c:ext>
          </c:extLst>
        </c:dLbl>
      </c:pivotFmt>
      <c:pivotFmt>
        <c:idx val="1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9"/>
        <c:spPr>
          <a:solidFill>
            <a:schemeClr val="accent1"/>
          </a:solidFill>
          <a:ln>
            <a:noFill/>
          </a:ln>
          <a:effectLst/>
        </c:spPr>
        <c:dLbl>
          <c:idx val="0"/>
          <c:layout>
            <c:manualLayout>
              <c:x val="-1.1926058437686349E-2"/>
              <c:y val="-1.0840108401084035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0"/>
        <c:spPr>
          <a:solidFill>
            <a:schemeClr val="accent1"/>
          </a:solidFill>
          <a:ln>
            <a:noFill/>
          </a:ln>
          <a:effectLst/>
        </c:spPr>
        <c:dLbl>
          <c:idx val="0"/>
          <c:layout>
            <c:manualLayout>
              <c:x val="-5.4660469730318395E-17"/>
              <c:y val="-6.5040650406504072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2"/>
        <c:spPr>
          <a:solidFill>
            <a:schemeClr val="accent2"/>
          </a:solidFill>
          <a:ln>
            <a:noFill/>
          </a:ln>
          <a:effectLst/>
        </c:spPr>
        <c:dLbl>
          <c:idx val="0"/>
          <c:layout>
            <c:manualLayout>
              <c:x val="3.279666070363739E-2"/>
              <c:y val="-8.1300813008130052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3"/>
        <c:spPr>
          <a:solidFill>
            <a:schemeClr val="accent2"/>
          </a:solidFill>
          <a:ln>
            <a:noFill/>
          </a:ln>
          <a:effectLst/>
        </c:spPr>
        <c:dLbl>
          <c:idx val="0"/>
          <c:layout>
            <c:manualLayout>
              <c:x val="9.838998211091235E-2"/>
              <c:y val="-5.420054200542028E-3"/>
            </c:manualLayout>
          </c:layout>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2115534864939736"/>
                  <c:h val="8.663977978362461E-2"/>
                </c:manualLayout>
              </c15:layout>
            </c:ext>
          </c:extLst>
        </c:dLbl>
      </c:pivotFmt>
      <c:pivotFmt>
        <c:idx val="2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5"/>
        <c:spPr>
          <a:solidFill>
            <a:schemeClr val="accent3"/>
          </a:solidFill>
          <a:ln>
            <a:noFill/>
          </a:ln>
          <a:effectLst/>
        </c:spPr>
        <c:dLbl>
          <c:idx val="0"/>
          <c:layout>
            <c:manualLayout>
              <c:x val="4.6213476446034518E-2"/>
              <c:y val="-1.8970189701897122E-2"/>
            </c:manualLayout>
          </c:layout>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20093929448443271"/>
                  <c:h val="0.10289994238525062"/>
                </c:manualLayout>
              </c15:layout>
            </c:ext>
          </c:extLst>
        </c:dLbl>
      </c:pivotFmt>
      <c:pivotFmt>
        <c:idx val="26"/>
        <c:spPr>
          <a:solidFill>
            <a:schemeClr val="accent3"/>
          </a:solidFill>
          <a:ln>
            <a:noFill/>
          </a:ln>
          <a:effectLst/>
        </c:spPr>
        <c:dLbl>
          <c:idx val="0"/>
          <c:layout>
            <c:manualLayout>
              <c:x val="7.006559332140716E-2"/>
              <c:y val="-3.523035230352304E-2"/>
            </c:manualLayout>
          </c:layout>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21286535292211906"/>
                  <c:h val="9.2059833984166603E-2"/>
                </c:manualLayout>
              </c15:layout>
            </c:ext>
          </c:extLst>
        </c:dLbl>
      </c:pivotFmt>
    </c:pivotFmts>
    <c:plotArea>
      <c:layout>
        <c:manualLayout>
          <c:layoutTarget val="inner"/>
          <c:xMode val="edge"/>
          <c:yMode val="edge"/>
          <c:x val="2.3852116875372691E-2"/>
          <c:y val="0.17932620922384701"/>
          <c:w val="0.75376656853492596"/>
          <c:h val="0.70035770528683927"/>
        </c:manualLayout>
      </c:layout>
      <c:barChart>
        <c:barDir val="col"/>
        <c:grouping val="clustered"/>
        <c:varyColors val="0"/>
        <c:ser>
          <c:idx val="0"/>
          <c:order val="0"/>
          <c:tx>
            <c:strRef>
              <c:f>Sheet3!$B$70:$B$71</c:f>
              <c:strCache>
                <c:ptCount val="1"/>
                <c:pt idx="0">
                  <c:v>Adulthood</c:v>
                </c:pt>
              </c:strCache>
            </c:strRef>
          </c:tx>
          <c:spPr>
            <a:solidFill>
              <a:schemeClr val="accent1"/>
            </a:solidFill>
            <a:ln>
              <a:noFill/>
            </a:ln>
            <a:effectLst/>
          </c:spPr>
          <c:invertIfNegative val="0"/>
          <c:dPt>
            <c:idx val="0"/>
            <c:invertIfNegative val="0"/>
            <c:bubble3D val="0"/>
            <c:extLst>
              <c:ext xmlns:c16="http://schemas.microsoft.com/office/drawing/2014/chart" uri="{C3380CC4-5D6E-409C-BE32-E72D297353CC}">
                <c16:uniqueId val="{00000000-3E84-4F99-B614-07DB64669104}"/>
              </c:ext>
            </c:extLst>
          </c:dPt>
          <c:dPt>
            <c:idx val="1"/>
            <c:invertIfNegative val="0"/>
            <c:bubble3D val="0"/>
            <c:extLst>
              <c:ext xmlns:c16="http://schemas.microsoft.com/office/drawing/2014/chart" uri="{C3380CC4-5D6E-409C-BE32-E72D297353CC}">
                <c16:uniqueId val="{00000001-3E84-4F99-B614-07DB64669104}"/>
              </c:ext>
            </c:extLst>
          </c:dPt>
          <c:dLbls>
            <c:dLbl>
              <c:idx val="0"/>
              <c:layout>
                <c:manualLayout>
                  <c:x val="-1.1926058437686349E-2"/>
                  <c:y val="-1.0840108401084035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3E84-4F99-B614-07DB64669104}"/>
                </c:ext>
              </c:extLst>
            </c:dLbl>
            <c:dLbl>
              <c:idx val="1"/>
              <c:layout>
                <c:manualLayout>
                  <c:x val="-5.4660469730318395E-17"/>
                  <c:y val="-6.5040650406504072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3E84-4F99-B614-07DB64669104}"/>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Sheet3!$A$72:$A$74</c:f>
              <c:strCache>
                <c:ptCount val="2"/>
                <c:pt idx="0">
                  <c:v>Female</c:v>
                </c:pt>
                <c:pt idx="1">
                  <c:v>Male</c:v>
                </c:pt>
              </c:strCache>
            </c:strRef>
          </c:cat>
          <c:val>
            <c:numRef>
              <c:f>Sheet3!$B$72:$B$74</c:f>
              <c:numCache>
                <c:formatCode>_ [$₹-439]* #,##0.00_ ;_ [$₹-439]* \-#,##0.00_ ;_ [$₹-439]* "-"??_ ;_ @_ </c:formatCode>
                <c:ptCount val="2"/>
                <c:pt idx="0">
                  <c:v>27662616.079999998</c:v>
                </c:pt>
                <c:pt idx="1">
                  <c:v>33884939.390000001</c:v>
                </c:pt>
              </c:numCache>
            </c:numRef>
          </c:val>
          <c:extLst>
            <c:ext xmlns:c16="http://schemas.microsoft.com/office/drawing/2014/chart" uri="{C3380CC4-5D6E-409C-BE32-E72D297353CC}">
              <c16:uniqueId val="{00000002-3E84-4F99-B614-07DB64669104}"/>
            </c:ext>
          </c:extLst>
        </c:ser>
        <c:ser>
          <c:idx val="1"/>
          <c:order val="1"/>
          <c:tx>
            <c:strRef>
              <c:f>Sheet3!$C$70:$C$71</c:f>
              <c:strCache>
                <c:ptCount val="1"/>
                <c:pt idx="0">
                  <c:v>Senior</c:v>
                </c:pt>
              </c:strCache>
            </c:strRef>
          </c:tx>
          <c:spPr>
            <a:solidFill>
              <a:schemeClr val="accent2"/>
            </a:solidFill>
            <a:ln>
              <a:noFill/>
            </a:ln>
            <a:effectLst/>
          </c:spPr>
          <c:invertIfNegative val="0"/>
          <c:dPt>
            <c:idx val="0"/>
            <c:invertIfNegative val="0"/>
            <c:bubble3D val="0"/>
            <c:extLst>
              <c:ext xmlns:c16="http://schemas.microsoft.com/office/drawing/2014/chart" uri="{C3380CC4-5D6E-409C-BE32-E72D297353CC}">
                <c16:uniqueId val="{00000003-3E84-4F99-B614-07DB64669104}"/>
              </c:ext>
            </c:extLst>
          </c:dPt>
          <c:dPt>
            <c:idx val="1"/>
            <c:invertIfNegative val="0"/>
            <c:bubble3D val="0"/>
            <c:extLst>
              <c:ext xmlns:c16="http://schemas.microsoft.com/office/drawing/2014/chart" uri="{C3380CC4-5D6E-409C-BE32-E72D297353CC}">
                <c16:uniqueId val="{00000004-3E84-4F99-B614-07DB64669104}"/>
              </c:ext>
            </c:extLst>
          </c:dPt>
          <c:dLbls>
            <c:dLbl>
              <c:idx val="0"/>
              <c:layout>
                <c:manualLayout>
                  <c:x val="3.279666070363739E-2"/>
                  <c:y val="-8.1300813008130052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3E84-4F99-B614-07DB64669104}"/>
                </c:ext>
              </c:extLst>
            </c:dLbl>
            <c:dLbl>
              <c:idx val="1"/>
              <c:layout>
                <c:manualLayout>
                  <c:x val="9.838998211091235E-2"/>
                  <c:y val="-5.420054200542028E-3"/>
                </c:manualLayout>
              </c:layout>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2115534864939736"/>
                      <c:h val="8.663977978362461E-2"/>
                    </c:manualLayout>
                  </c15:layout>
                </c:ext>
                <c:ext xmlns:c16="http://schemas.microsoft.com/office/drawing/2014/chart" uri="{C3380CC4-5D6E-409C-BE32-E72D297353CC}">
                  <c16:uniqueId val="{00000004-3E84-4F99-B614-07DB64669104}"/>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Sheet3!$A$72:$A$74</c:f>
              <c:strCache>
                <c:ptCount val="2"/>
                <c:pt idx="0">
                  <c:v>Female</c:v>
                </c:pt>
                <c:pt idx="1">
                  <c:v>Male</c:v>
                </c:pt>
              </c:strCache>
            </c:strRef>
          </c:cat>
          <c:val>
            <c:numRef>
              <c:f>Sheet3!$C$72:$C$74</c:f>
              <c:numCache>
                <c:formatCode>_ [$₹-439]* #,##0.00_ ;_ [$₹-439]* \-#,##0.00_ ;_ [$₹-439]* "-"??_ ;_ @_ </c:formatCode>
                <c:ptCount val="2"/>
                <c:pt idx="0">
                  <c:v>28669222.510000002</c:v>
                </c:pt>
                <c:pt idx="1">
                  <c:v>29954760.890000001</c:v>
                </c:pt>
              </c:numCache>
            </c:numRef>
          </c:val>
          <c:extLst>
            <c:ext xmlns:c16="http://schemas.microsoft.com/office/drawing/2014/chart" uri="{C3380CC4-5D6E-409C-BE32-E72D297353CC}">
              <c16:uniqueId val="{00000005-3E84-4F99-B614-07DB64669104}"/>
            </c:ext>
          </c:extLst>
        </c:ser>
        <c:ser>
          <c:idx val="2"/>
          <c:order val="2"/>
          <c:tx>
            <c:strRef>
              <c:f>Sheet3!$D$70:$D$71</c:f>
              <c:strCache>
                <c:ptCount val="1"/>
                <c:pt idx="0">
                  <c:v>Teeneger</c:v>
                </c:pt>
              </c:strCache>
            </c:strRef>
          </c:tx>
          <c:spPr>
            <a:solidFill>
              <a:schemeClr val="accent3"/>
            </a:solidFill>
            <a:ln>
              <a:noFill/>
            </a:ln>
            <a:effectLst/>
          </c:spPr>
          <c:invertIfNegative val="0"/>
          <c:dPt>
            <c:idx val="0"/>
            <c:invertIfNegative val="0"/>
            <c:bubble3D val="0"/>
            <c:extLst>
              <c:ext xmlns:c16="http://schemas.microsoft.com/office/drawing/2014/chart" uri="{C3380CC4-5D6E-409C-BE32-E72D297353CC}">
                <c16:uniqueId val="{00000006-3E84-4F99-B614-07DB64669104}"/>
              </c:ext>
            </c:extLst>
          </c:dPt>
          <c:dPt>
            <c:idx val="1"/>
            <c:invertIfNegative val="0"/>
            <c:bubble3D val="0"/>
            <c:extLst>
              <c:ext xmlns:c16="http://schemas.microsoft.com/office/drawing/2014/chart" uri="{C3380CC4-5D6E-409C-BE32-E72D297353CC}">
                <c16:uniqueId val="{00000007-3E84-4F99-B614-07DB64669104}"/>
              </c:ext>
            </c:extLst>
          </c:dPt>
          <c:dLbls>
            <c:dLbl>
              <c:idx val="0"/>
              <c:layout>
                <c:manualLayout>
                  <c:x val="4.6213476446034518E-2"/>
                  <c:y val="-1.8970189701897122E-2"/>
                </c:manualLayout>
              </c:layout>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20093929448443271"/>
                      <c:h val="0.10289994238525062"/>
                    </c:manualLayout>
                  </c15:layout>
                </c:ext>
                <c:ext xmlns:c16="http://schemas.microsoft.com/office/drawing/2014/chart" uri="{C3380CC4-5D6E-409C-BE32-E72D297353CC}">
                  <c16:uniqueId val="{00000006-3E84-4F99-B614-07DB64669104}"/>
                </c:ext>
              </c:extLst>
            </c:dLbl>
            <c:dLbl>
              <c:idx val="1"/>
              <c:layout>
                <c:manualLayout>
                  <c:x val="7.006559332140716E-2"/>
                  <c:y val="-3.523035230352304E-2"/>
                </c:manualLayout>
              </c:layout>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21286535292211906"/>
                      <c:h val="9.2059833984166603E-2"/>
                    </c:manualLayout>
                  </c15:layout>
                </c:ext>
                <c:ext xmlns:c16="http://schemas.microsoft.com/office/drawing/2014/chart" uri="{C3380CC4-5D6E-409C-BE32-E72D297353CC}">
                  <c16:uniqueId val="{00000007-3E84-4F99-B614-07DB64669104}"/>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Sheet3!$A$72:$A$74</c:f>
              <c:strCache>
                <c:ptCount val="2"/>
                <c:pt idx="0">
                  <c:v>Female</c:v>
                </c:pt>
                <c:pt idx="1">
                  <c:v>Male</c:v>
                </c:pt>
              </c:strCache>
            </c:strRef>
          </c:cat>
          <c:val>
            <c:numRef>
              <c:f>Sheet3!$D$72:$D$74</c:f>
              <c:numCache>
                <c:formatCode>_ [$₹-439]* #,##0.00_ ;_ [$₹-439]* \-#,##0.00_ ;_ [$₹-439]* "-"??_ ;_ @_ </c:formatCode>
                <c:ptCount val="2"/>
                <c:pt idx="0">
                  <c:v>2832201.63</c:v>
                </c:pt>
                <c:pt idx="1">
                  <c:v>2899353.63</c:v>
                </c:pt>
              </c:numCache>
            </c:numRef>
          </c:val>
          <c:extLst>
            <c:ext xmlns:c16="http://schemas.microsoft.com/office/drawing/2014/chart" uri="{C3380CC4-5D6E-409C-BE32-E72D297353CC}">
              <c16:uniqueId val="{00000008-3E84-4F99-B614-07DB64669104}"/>
            </c:ext>
          </c:extLst>
        </c:ser>
        <c:dLbls>
          <c:dLblPos val="outEnd"/>
          <c:showLegendKey val="0"/>
          <c:showVal val="1"/>
          <c:showCatName val="0"/>
          <c:showSerName val="0"/>
          <c:showPercent val="0"/>
          <c:showBubbleSize val="0"/>
        </c:dLbls>
        <c:gapWidth val="219"/>
        <c:overlap val="-27"/>
        <c:axId val="574480112"/>
        <c:axId val="574480592"/>
      </c:barChart>
      <c:catAx>
        <c:axId val="5744801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74480592"/>
        <c:crosses val="autoZero"/>
        <c:auto val="1"/>
        <c:lblAlgn val="ctr"/>
        <c:lblOffset val="100"/>
        <c:noMultiLvlLbl val="0"/>
      </c:catAx>
      <c:valAx>
        <c:axId val="574480592"/>
        <c:scaling>
          <c:orientation val="minMax"/>
        </c:scaling>
        <c:delete val="1"/>
        <c:axPos val="l"/>
        <c:majorGridlines>
          <c:spPr>
            <a:ln w="9525" cap="flat" cmpd="sng" algn="ctr">
              <a:solidFill>
                <a:schemeClr val="tx1">
                  <a:lumMod val="15000"/>
                  <a:lumOff val="85000"/>
                </a:schemeClr>
              </a:solidFill>
              <a:round/>
            </a:ln>
            <a:effectLst/>
          </c:spPr>
        </c:majorGridlines>
        <c:numFmt formatCode="_ [$₹-439]* #,##0.00_ ;_ [$₹-439]* \-#,##0.00_ ;_ [$₹-439]* &quot;-&quot;??_ ;_ @_ " sourceLinked="1"/>
        <c:majorTickMark val="none"/>
        <c:minorTickMark val="none"/>
        <c:tickLblPos val="nextTo"/>
        <c:crossAx val="574480112"/>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[Banking.xlsx]Sheet3!PivotTable3</c:name>
    <c:fmtId val="3"/>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Active</a:t>
            </a:r>
            <a:r>
              <a:rPr lang="en-US" baseline="0"/>
              <a:t> vs Close Loan</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dLbl>
          <c:idx val="0"/>
          <c:layout>
            <c:manualLayout>
              <c:x val="4.6648512685914252E-2"/>
              <c:y val="-7.0659448818897658E-2"/>
            </c:manualLayout>
          </c:layout>
          <c:tx>
            <c:rich>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fld id="{DE26E280-9390-4A42-A251-152E9C1BE51A}" type="VALUE">
                  <a:rPr lang="en-US" sz="1200"/>
                  <a:pPr>
                    <a:defRPr sz="900" b="0" i="0" u="none" strike="noStrike" kern="1200" baseline="0">
                      <a:solidFill>
                        <a:schemeClr val="tx1">
                          <a:lumMod val="75000"/>
                          <a:lumOff val="25000"/>
                        </a:schemeClr>
                      </a:solidFill>
                      <a:latin typeface="+mn-lt"/>
                      <a:ea typeface="+mn-ea"/>
                      <a:cs typeface="+mn-cs"/>
                    </a:defRPr>
                  </a:pPr>
                  <a:t>[VALUE]</a:t>
                </a:fld>
                <a:endParaRPr lang="en-US"/>
              </a:p>
            </c:rich>
          </c:tx>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15:layout>
                <c:manualLayout>
                  <c:w val="0.16022222222222221"/>
                  <c:h val="0.14807888597258673"/>
                </c:manualLayout>
              </c15:layout>
              <c15:dlblFieldTable/>
              <c15:showDataLabelsRange val="0"/>
            </c:ext>
          </c:extLst>
        </c:dLbl>
      </c:pivotFmt>
      <c:pivotFmt>
        <c:idx val="2"/>
        <c:spPr>
          <a:solidFill>
            <a:schemeClr val="accent1"/>
          </a:solidFill>
          <a:ln w="19050">
            <a:solidFill>
              <a:schemeClr val="lt1"/>
            </a:solidFill>
          </a:ln>
          <a:effectLst/>
        </c:spPr>
        <c:dLbl>
          <c:idx val="0"/>
          <c:layout>
            <c:manualLayout>
              <c:x val="9.166666666666666E-2"/>
              <c:y val="0.1367377515310586"/>
            </c:manualLayout>
          </c:layout>
          <c:spPr>
            <a:noFill/>
            <a:ln>
              <a:noFill/>
            </a:ln>
            <a:effectLst/>
          </c:spPr>
          <c:txPr>
            <a:bodyPr rot="0" spcFirstLastPara="1" vertOverflow="ellipsis" vert="horz" wrap="square" lIns="38100" tIns="19050" rIns="38100" bIns="19050" anchor="ctr" anchorCtr="1">
              <a:noAutofit/>
            </a:bodyPr>
            <a:lstStyle/>
            <a:p>
              <a:pPr>
                <a:defRPr sz="12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15:layout>
                <c:manualLayout>
                  <c:w val="0.11180555555555556"/>
                  <c:h val="0.15393518518518517"/>
                </c:manualLayout>
              </c15:layout>
            </c:ext>
          </c:extLst>
        </c:dLbl>
      </c:pivotFmt>
      <c:pivotFmt>
        <c:idx val="3"/>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19050">
            <a:solidFill>
              <a:schemeClr val="lt1"/>
            </a:solidFill>
          </a:ln>
          <a:effectLst/>
        </c:spPr>
        <c:dLbl>
          <c:idx val="0"/>
          <c:layout>
            <c:manualLayout>
              <c:x val="9.166666666666666E-2"/>
              <c:y val="0.1367377515310586"/>
            </c:manualLayout>
          </c:layout>
          <c:spPr>
            <a:noFill/>
            <a:ln>
              <a:noFill/>
            </a:ln>
            <a:effectLst/>
          </c:spPr>
          <c:txPr>
            <a:bodyPr rot="0" spcFirstLastPara="1" vertOverflow="ellipsis" vert="horz" wrap="square" lIns="38100" tIns="19050" rIns="38100" bIns="19050" anchor="ctr" anchorCtr="1">
              <a:noAutofit/>
            </a:bodyPr>
            <a:lstStyle/>
            <a:p>
              <a:pPr>
                <a:defRPr sz="12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15:layout>
                <c:manualLayout>
                  <c:w val="0.11180555555555556"/>
                  <c:h val="0.15393518518518517"/>
                </c:manualLayout>
              </c15:layout>
            </c:ext>
          </c:extLst>
        </c:dLbl>
      </c:pivotFmt>
      <c:pivotFmt>
        <c:idx val="5"/>
        <c:spPr>
          <a:solidFill>
            <a:schemeClr val="accent1"/>
          </a:solidFill>
          <a:ln w="19050">
            <a:solidFill>
              <a:schemeClr val="lt1"/>
            </a:solidFill>
          </a:ln>
          <a:effectLst/>
        </c:spPr>
        <c:dLbl>
          <c:idx val="0"/>
          <c:layout>
            <c:manualLayout>
              <c:x val="4.6648512685914252E-2"/>
              <c:y val="-7.0659448818897658E-2"/>
            </c:manualLayout>
          </c:layout>
          <c:tx>
            <c:rich>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fld id="{DE26E280-9390-4A42-A251-152E9C1BE51A}" type="VALUE">
                  <a:rPr lang="en-US" sz="1200"/>
                  <a:pPr>
                    <a:defRPr sz="900" b="0" i="0" u="none" strike="noStrike" kern="1200" baseline="0">
                      <a:solidFill>
                        <a:schemeClr val="tx1">
                          <a:lumMod val="75000"/>
                          <a:lumOff val="25000"/>
                        </a:schemeClr>
                      </a:solidFill>
                      <a:latin typeface="+mn-lt"/>
                      <a:ea typeface="+mn-ea"/>
                      <a:cs typeface="+mn-cs"/>
                    </a:defRPr>
                  </a:pPr>
                  <a:t>[VALUE]</a:t>
                </a:fld>
                <a:endParaRPr lang="en-US"/>
              </a:p>
            </c:rich>
          </c:tx>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15:layout>
                <c:manualLayout>
                  <c:w val="0.16022222222222221"/>
                  <c:h val="0.14807888597258673"/>
                </c:manualLayout>
              </c15:layout>
              <c15:dlblFieldTable/>
              <c15:showDataLabelsRange val="0"/>
            </c:ext>
          </c:extLst>
        </c:dLbl>
      </c:pivotFmt>
      <c:pivotFmt>
        <c:idx val="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w="19050">
            <a:solidFill>
              <a:schemeClr val="lt1"/>
            </a:solidFill>
          </a:ln>
          <a:effectLst/>
        </c:spPr>
        <c:dLbl>
          <c:idx val="0"/>
          <c:layout>
            <c:manualLayout>
              <c:x val="9.166666666666666E-2"/>
              <c:y val="0.1367377515310586"/>
            </c:manualLayout>
          </c:layout>
          <c:spPr>
            <a:noFill/>
            <a:ln>
              <a:noFill/>
            </a:ln>
            <a:effectLst/>
          </c:spPr>
          <c:txPr>
            <a:bodyPr rot="0" spcFirstLastPara="1" vertOverflow="ellipsis" vert="horz" wrap="square" lIns="38100" tIns="19050" rIns="38100" bIns="19050" anchor="ctr" anchorCtr="1">
              <a:noAutofit/>
            </a:bodyPr>
            <a:lstStyle/>
            <a:p>
              <a:pPr>
                <a:defRPr sz="12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15:layout>
                <c:manualLayout>
                  <c:w val="0.11180555555555556"/>
                  <c:h val="0.15393518518518517"/>
                </c:manualLayout>
              </c15:layout>
            </c:ext>
          </c:extLst>
        </c:dLbl>
      </c:pivotFmt>
      <c:pivotFmt>
        <c:idx val="8"/>
        <c:spPr>
          <a:solidFill>
            <a:schemeClr val="accent1"/>
          </a:solidFill>
          <a:ln w="19050">
            <a:solidFill>
              <a:schemeClr val="lt1"/>
            </a:solidFill>
          </a:ln>
          <a:effectLst/>
        </c:spPr>
        <c:dLbl>
          <c:idx val="0"/>
          <c:layout>
            <c:manualLayout>
              <c:x val="4.6648512685914252E-2"/>
              <c:y val="-7.0659448818897658E-2"/>
            </c:manualLayout>
          </c:layout>
          <c:tx>
            <c:rich>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fld id="{DE26E280-9390-4A42-A251-152E9C1BE51A}" type="VALUE">
                  <a:rPr lang="en-US" sz="1200"/>
                  <a:pPr>
                    <a:defRPr sz="900" b="0" i="0" u="none" strike="noStrike" kern="1200" baseline="0">
                      <a:solidFill>
                        <a:schemeClr val="tx1">
                          <a:lumMod val="75000"/>
                          <a:lumOff val="25000"/>
                        </a:schemeClr>
                      </a:solidFill>
                      <a:latin typeface="+mn-lt"/>
                      <a:ea typeface="+mn-ea"/>
                      <a:cs typeface="+mn-cs"/>
                    </a:defRPr>
                  </a:pPr>
                  <a:t>[VALUE]</a:t>
                </a:fld>
                <a:endParaRPr lang="en-US"/>
              </a:p>
            </c:rich>
          </c:tx>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15:layout>
                <c:manualLayout>
                  <c:w val="0.16022222222222221"/>
                  <c:h val="0.14807888597258673"/>
                </c:manualLayout>
              </c15:layout>
              <c15:dlblFieldTable/>
              <c15:showDataLabelsRange val="0"/>
            </c:ext>
          </c:extLst>
        </c:dLbl>
      </c:pivotFmt>
    </c:pivotFmts>
    <c:plotArea>
      <c:layout/>
      <c:pieChart>
        <c:varyColors val="1"/>
        <c:ser>
          <c:idx val="0"/>
          <c:order val="0"/>
          <c:tx>
            <c:strRef>
              <c:f>Sheet3!$B$76</c:f>
              <c:strCache>
                <c:ptCount val="1"/>
                <c:pt idx="0">
                  <c:v>Total</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A62A-4E76-979C-6ECE899241C2}"/>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A62A-4E76-979C-6ECE899241C2}"/>
              </c:ext>
            </c:extLst>
          </c:dPt>
          <c:dLbls>
            <c:dLbl>
              <c:idx val="0"/>
              <c:layout>
                <c:manualLayout>
                  <c:x val="9.166666666666666E-2"/>
                  <c:y val="0.1367377515310586"/>
                </c:manualLayout>
              </c:layout>
              <c:spPr>
                <a:noFill/>
                <a:ln>
                  <a:noFill/>
                </a:ln>
                <a:effectLst/>
              </c:spPr>
              <c:txPr>
                <a:bodyPr rot="0" spcFirstLastPara="1" vertOverflow="ellipsis" vert="horz" wrap="square" lIns="38100" tIns="19050" rIns="38100" bIns="19050" anchor="ctr" anchorCtr="1">
                  <a:noAutofit/>
                </a:bodyPr>
                <a:lstStyle/>
                <a:p>
                  <a:pPr>
                    <a:defRPr sz="12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15:layout>
                    <c:manualLayout>
                      <c:w val="0.11180555555555556"/>
                      <c:h val="0.15393518518518517"/>
                    </c:manualLayout>
                  </c15:layout>
                </c:ext>
                <c:ext xmlns:c16="http://schemas.microsoft.com/office/drawing/2014/chart" uri="{C3380CC4-5D6E-409C-BE32-E72D297353CC}">
                  <c16:uniqueId val="{00000001-A62A-4E76-979C-6ECE899241C2}"/>
                </c:ext>
              </c:extLst>
            </c:dLbl>
            <c:dLbl>
              <c:idx val="1"/>
              <c:layout>
                <c:manualLayout>
                  <c:x val="4.6648512685914252E-2"/>
                  <c:y val="-7.0659448818897658E-2"/>
                </c:manualLayout>
              </c:layout>
              <c:tx>
                <c:rich>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fld id="{DE26E280-9390-4A42-A251-152E9C1BE51A}" type="VALUE">
                      <a:rPr lang="en-US" sz="1200"/>
                      <a:pPr>
                        <a:defRPr/>
                      </a:pPr>
                      <a:t>[VALUE]</a:t>
                    </a:fld>
                    <a:endParaRPr lang="en-US"/>
                  </a:p>
                </c:rich>
              </c:tx>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15:layout>
                    <c:manualLayout>
                      <c:w val="0.16022222222222221"/>
                      <c:h val="0.14807888597258673"/>
                    </c:manualLayout>
                  </c15:layout>
                  <c15:dlblFieldTable/>
                  <c15:showDataLabelsRange val="0"/>
                </c:ext>
                <c:ext xmlns:c16="http://schemas.microsoft.com/office/drawing/2014/chart" uri="{C3380CC4-5D6E-409C-BE32-E72D297353CC}">
                  <c16:uniqueId val="{00000003-A62A-4E76-979C-6ECE899241C2}"/>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Sheet3!$A$77:$A$79</c:f>
              <c:strCache>
                <c:ptCount val="2"/>
                <c:pt idx="0">
                  <c:v>Active</c:v>
                </c:pt>
                <c:pt idx="1">
                  <c:v>Closed</c:v>
                </c:pt>
              </c:strCache>
            </c:strRef>
          </c:cat>
          <c:val>
            <c:numRef>
              <c:f>Sheet3!$B$77:$B$79</c:f>
              <c:numCache>
                <c:formatCode>General</c:formatCode>
                <c:ptCount val="2"/>
                <c:pt idx="0">
                  <c:v>155</c:v>
                </c:pt>
                <c:pt idx="1">
                  <c:v>145</c:v>
                </c:pt>
              </c:numCache>
            </c:numRef>
          </c:val>
          <c:extLst>
            <c:ext xmlns:c16="http://schemas.microsoft.com/office/drawing/2014/chart" uri="{C3380CC4-5D6E-409C-BE32-E72D297353CC}">
              <c16:uniqueId val="{00000004-A62A-4E76-979C-6ECE899241C2}"/>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[Banking.xlsx]Sheet3!PivotTable7</c:name>
    <c:fmtId val="4"/>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Transaction</a:t>
            </a:r>
            <a:r>
              <a:rPr lang="en-US" baseline="0"/>
              <a:t> status wrt Channel</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0">
              <a:spAutoFit/>
            </a:bodyPr>
            <a:lstStyle/>
            <a:p>
              <a:pPr algn="ctr" rtl="0">
                <a:defRPr lang="en-US" sz="1200" b="0" i="0" u="none" strike="noStrike" kern="1200" baseline="0">
                  <a:solidFill>
                    <a:sysClr val="windowText" lastClr="000000">
                      <a:lumMod val="75000"/>
                      <a:lumOff val="25000"/>
                    </a:sys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0">
              <a:spAutoFit/>
            </a:bodyPr>
            <a:lstStyle/>
            <a:p>
              <a:pPr algn="ctr" rtl="0">
                <a:defRPr lang="en-US" sz="1200" b="0" i="0" u="none" strike="noStrike" kern="1200" baseline="0">
                  <a:solidFill>
                    <a:sysClr val="windowText" lastClr="000000">
                      <a:lumMod val="75000"/>
                      <a:lumOff val="25000"/>
                    </a:sys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dLbl>
          <c:idx val="0"/>
          <c:spPr>
            <a:noFill/>
            <a:ln>
              <a:noFill/>
            </a:ln>
            <a:effectLst/>
          </c:spPr>
          <c:txPr>
            <a:bodyPr rot="0" spcFirstLastPara="1" vertOverflow="ellipsis" vert="horz" wrap="square" lIns="38100" tIns="19050" rIns="38100" bIns="19050" anchor="ctr" anchorCtr="0">
              <a:noAutofit/>
            </a:bodyPr>
            <a:lstStyle/>
            <a:p>
              <a:pPr algn="ctr" rtl="0">
                <a:defRPr lang="en-US" sz="1200" b="0" i="0" u="none" strike="noStrike" kern="1200" baseline="0">
                  <a:solidFill>
                    <a:sysClr val="windowText" lastClr="000000">
                      <a:lumMod val="75000"/>
                      <a:lumOff val="25000"/>
                    </a:sys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14151377952755903"/>
                  <c:h val="8.789370078740158E-2"/>
                </c:manualLayout>
              </c15:layout>
            </c:ext>
          </c:extLst>
        </c:dLbl>
      </c:pivotFmt>
      <c:pivotFmt>
        <c:idx val="3"/>
        <c:spPr>
          <a:solidFill>
            <a:schemeClr val="accent1"/>
          </a:solidFill>
          <a:ln>
            <a:noFill/>
          </a:ln>
          <a:effectLst/>
        </c:spPr>
        <c:dLbl>
          <c:idx val="0"/>
          <c:spPr>
            <a:noFill/>
            <a:ln>
              <a:noFill/>
            </a:ln>
            <a:effectLst/>
          </c:spPr>
          <c:txPr>
            <a:bodyPr rot="0" spcFirstLastPara="1" vertOverflow="ellipsis" vert="horz" wrap="square" lIns="38100" tIns="19050" rIns="38100" bIns="19050" anchor="ctr" anchorCtr="0">
              <a:noAutofit/>
            </a:bodyPr>
            <a:lstStyle/>
            <a:p>
              <a:pPr algn="ctr" rtl="0">
                <a:defRPr lang="en-US" sz="1200" b="0" i="0" u="none" strike="noStrike" kern="1200" baseline="0">
                  <a:solidFill>
                    <a:sysClr val="windowText" lastClr="000000">
                      <a:lumMod val="75000"/>
                      <a:lumOff val="25000"/>
                    </a:sys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11773600174978127"/>
                  <c:h val="7.8634441528142307E-2"/>
                </c:manualLayout>
              </c15:layout>
            </c:ext>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5891469816272966"/>
          <c:y val="0.125"/>
          <c:w val="0.63454593175853014"/>
          <c:h val="0.76760061242344702"/>
        </c:manualLayout>
      </c:layout>
      <c:barChart>
        <c:barDir val="bar"/>
        <c:grouping val="clustered"/>
        <c:varyColors val="0"/>
        <c:ser>
          <c:idx val="0"/>
          <c:order val="0"/>
          <c:tx>
            <c:strRef>
              <c:f>Sheet3!$B$83:$B$84</c:f>
              <c:strCache>
                <c:ptCount val="1"/>
                <c:pt idx="0">
                  <c:v>Failed</c:v>
                </c:pt>
              </c:strCache>
            </c:strRef>
          </c:tx>
          <c:spPr>
            <a:solidFill>
              <a:schemeClr val="accent1"/>
            </a:solidFill>
            <a:ln>
              <a:noFill/>
            </a:ln>
            <a:effectLst/>
          </c:spPr>
          <c:invertIfNegative val="0"/>
          <c:dPt>
            <c:idx val="3"/>
            <c:invertIfNegative val="0"/>
            <c:bubble3D val="0"/>
            <c:extLst>
              <c:ext xmlns:c16="http://schemas.microsoft.com/office/drawing/2014/chart" uri="{C3380CC4-5D6E-409C-BE32-E72D297353CC}">
                <c16:uniqueId val="{00000000-2FD3-49D7-AE2F-C73CBED6ABD5}"/>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Sheet3!$A$85:$A$89</c:f>
              <c:strCache>
                <c:ptCount val="4"/>
                <c:pt idx="0">
                  <c:v>ATM</c:v>
                </c:pt>
                <c:pt idx="1">
                  <c:v>Branch</c:v>
                </c:pt>
                <c:pt idx="2">
                  <c:v>NetBanking</c:v>
                </c:pt>
                <c:pt idx="3">
                  <c:v>UPI</c:v>
                </c:pt>
              </c:strCache>
            </c:strRef>
          </c:cat>
          <c:val>
            <c:numRef>
              <c:f>Sheet3!$B$85:$B$89</c:f>
              <c:numCache>
                <c:formatCode>0</c:formatCode>
                <c:ptCount val="4"/>
                <c:pt idx="0">
                  <c:v>103</c:v>
                </c:pt>
                <c:pt idx="1">
                  <c:v>99</c:v>
                </c:pt>
                <c:pt idx="2">
                  <c:v>93</c:v>
                </c:pt>
                <c:pt idx="3">
                  <c:v>99</c:v>
                </c:pt>
              </c:numCache>
            </c:numRef>
          </c:val>
          <c:extLst>
            <c:ext xmlns:c16="http://schemas.microsoft.com/office/drawing/2014/chart" uri="{C3380CC4-5D6E-409C-BE32-E72D297353CC}">
              <c16:uniqueId val="{00000001-2FD3-49D7-AE2F-C73CBED6ABD5}"/>
            </c:ext>
          </c:extLst>
        </c:ser>
        <c:ser>
          <c:idx val="1"/>
          <c:order val="1"/>
          <c:tx>
            <c:strRef>
              <c:f>Sheet3!$C$83:$C$84</c:f>
              <c:strCache>
                <c:ptCount val="1"/>
                <c:pt idx="0">
                  <c:v>Success</c:v>
                </c:pt>
              </c:strCache>
            </c:strRef>
          </c:tx>
          <c:spPr>
            <a:solidFill>
              <a:schemeClr val="accent2"/>
            </a:solidFill>
            <a:ln>
              <a:noFill/>
            </a:ln>
            <a:effectLst/>
          </c:spPr>
          <c:invertIfNegative val="0"/>
          <c:dPt>
            <c:idx val="3"/>
            <c:invertIfNegative val="0"/>
            <c:bubble3D val="0"/>
            <c:extLst>
              <c:ext xmlns:c16="http://schemas.microsoft.com/office/drawing/2014/chart" uri="{C3380CC4-5D6E-409C-BE32-E72D297353CC}">
                <c16:uniqueId val="{00000002-2FD3-49D7-AE2F-C73CBED6ABD5}"/>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Sheet3!$A$85:$A$89</c:f>
              <c:strCache>
                <c:ptCount val="4"/>
                <c:pt idx="0">
                  <c:v>ATM</c:v>
                </c:pt>
                <c:pt idx="1">
                  <c:v>Branch</c:v>
                </c:pt>
                <c:pt idx="2">
                  <c:v>NetBanking</c:v>
                </c:pt>
                <c:pt idx="3">
                  <c:v>UPI</c:v>
                </c:pt>
              </c:strCache>
            </c:strRef>
          </c:cat>
          <c:val>
            <c:numRef>
              <c:f>Sheet3!$C$85:$C$89</c:f>
              <c:numCache>
                <c:formatCode>0</c:formatCode>
                <c:ptCount val="4"/>
                <c:pt idx="0">
                  <c:v>1130</c:v>
                </c:pt>
                <c:pt idx="1">
                  <c:v>1150</c:v>
                </c:pt>
                <c:pt idx="2">
                  <c:v>1153</c:v>
                </c:pt>
                <c:pt idx="3">
                  <c:v>1173</c:v>
                </c:pt>
              </c:numCache>
            </c:numRef>
          </c:val>
          <c:extLst>
            <c:ext xmlns:c16="http://schemas.microsoft.com/office/drawing/2014/chart" uri="{C3380CC4-5D6E-409C-BE32-E72D297353CC}">
              <c16:uniqueId val="{00000003-2FD3-49D7-AE2F-C73CBED6ABD5}"/>
            </c:ext>
          </c:extLst>
        </c:ser>
        <c:dLbls>
          <c:dLblPos val="outEnd"/>
          <c:showLegendKey val="0"/>
          <c:showVal val="1"/>
          <c:showCatName val="0"/>
          <c:showSerName val="0"/>
          <c:showPercent val="0"/>
          <c:showBubbleSize val="0"/>
        </c:dLbls>
        <c:gapWidth val="182"/>
        <c:axId val="1293941232"/>
        <c:axId val="1293952272"/>
      </c:barChart>
      <c:catAx>
        <c:axId val="1293941232"/>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93952272"/>
        <c:crosses val="autoZero"/>
        <c:auto val="1"/>
        <c:lblAlgn val="ctr"/>
        <c:lblOffset val="100"/>
        <c:noMultiLvlLbl val="0"/>
      </c:catAx>
      <c:valAx>
        <c:axId val="1293952272"/>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93941232"/>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[Banking.xlsx]Sheet3!PivotTable9</c:name>
    <c:fmtId val="4"/>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Transaction</a:t>
            </a:r>
            <a:r>
              <a:rPr lang="en-US" baseline="0"/>
              <a:t> Status wrt Transaction Type </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0">
              <a:spAutoFit/>
            </a:bodyPr>
            <a:lstStyle/>
            <a:p>
              <a:pPr algn="ctr">
                <a:defRPr lang="en-US" sz="12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pivotFmt>
      <c:pivotFmt>
        <c:idx val="3"/>
        <c:spPr>
          <a:solidFill>
            <a:schemeClr val="accent1"/>
          </a:solidFill>
          <a:ln>
            <a:noFill/>
          </a:ln>
          <a:effectLst/>
        </c:spPr>
        <c:marker>
          <c:symbol val="none"/>
        </c:marker>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1844998033782363"/>
          <c:y val="0.13425925925925927"/>
          <c:w val="0.70187042168509428"/>
          <c:h val="0.75834135316418783"/>
        </c:manualLayout>
      </c:layout>
      <c:barChart>
        <c:barDir val="col"/>
        <c:grouping val="clustered"/>
        <c:varyColors val="0"/>
        <c:ser>
          <c:idx val="0"/>
          <c:order val="0"/>
          <c:tx>
            <c:strRef>
              <c:f>Sheet3!$B$98:$B$99</c:f>
              <c:strCache>
                <c:ptCount val="1"/>
                <c:pt idx="0">
                  <c:v>Failed</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Sheet3!$A$100:$A$104</c:f>
              <c:strCache>
                <c:ptCount val="4"/>
                <c:pt idx="0">
                  <c:v>Card Payment</c:v>
                </c:pt>
                <c:pt idx="1">
                  <c:v>Deposit</c:v>
                </c:pt>
                <c:pt idx="2">
                  <c:v>Online Transfer</c:v>
                </c:pt>
                <c:pt idx="3">
                  <c:v>Withdrawal</c:v>
                </c:pt>
              </c:strCache>
            </c:strRef>
          </c:cat>
          <c:val>
            <c:numRef>
              <c:f>Sheet3!$B$100:$B$104</c:f>
              <c:numCache>
                <c:formatCode>0.00%</c:formatCode>
                <c:ptCount val="4"/>
                <c:pt idx="0">
                  <c:v>1.6199999999999999E-2</c:v>
                </c:pt>
                <c:pt idx="1">
                  <c:v>2.0799999999999999E-2</c:v>
                </c:pt>
                <c:pt idx="2">
                  <c:v>2.12E-2</c:v>
                </c:pt>
                <c:pt idx="3">
                  <c:v>2.06E-2</c:v>
                </c:pt>
              </c:numCache>
            </c:numRef>
          </c:val>
          <c:extLst>
            <c:ext xmlns:c16="http://schemas.microsoft.com/office/drawing/2014/chart" uri="{C3380CC4-5D6E-409C-BE32-E72D297353CC}">
              <c16:uniqueId val="{00000000-AA5C-4F42-BC23-A1543BED2F7A}"/>
            </c:ext>
          </c:extLst>
        </c:ser>
        <c:ser>
          <c:idx val="1"/>
          <c:order val="1"/>
          <c:tx>
            <c:strRef>
              <c:f>Sheet3!$C$98:$C$99</c:f>
              <c:strCache>
                <c:ptCount val="1"/>
                <c:pt idx="0">
                  <c:v>Success</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Sheet3!$A$100:$A$104</c:f>
              <c:strCache>
                <c:ptCount val="4"/>
                <c:pt idx="0">
                  <c:v>Card Payment</c:v>
                </c:pt>
                <c:pt idx="1">
                  <c:v>Deposit</c:v>
                </c:pt>
                <c:pt idx="2">
                  <c:v>Online Transfer</c:v>
                </c:pt>
                <c:pt idx="3">
                  <c:v>Withdrawal</c:v>
                </c:pt>
              </c:strCache>
            </c:strRef>
          </c:cat>
          <c:val>
            <c:numRef>
              <c:f>Sheet3!$C$100:$C$104</c:f>
              <c:numCache>
                <c:formatCode>0.00%</c:formatCode>
                <c:ptCount val="4"/>
                <c:pt idx="0">
                  <c:v>0.22459999999999999</c:v>
                </c:pt>
                <c:pt idx="1">
                  <c:v>0.23319999999999999</c:v>
                </c:pt>
                <c:pt idx="2">
                  <c:v>0.22459999999999999</c:v>
                </c:pt>
                <c:pt idx="3">
                  <c:v>0.23880000000000001</c:v>
                </c:pt>
              </c:numCache>
            </c:numRef>
          </c:val>
          <c:extLst>
            <c:ext xmlns:c16="http://schemas.microsoft.com/office/drawing/2014/chart" uri="{C3380CC4-5D6E-409C-BE32-E72D297353CC}">
              <c16:uniqueId val="{00000001-AA5C-4F42-BC23-A1543BED2F7A}"/>
            </c:ext>
          </c:extLst>
        </c:ser>
        <c:dLbls>
          <c:dLblPos val="outEnd"/>
          <c:showLegendKey val="0"/>
          <c:showVal val="1"/>
          <c:showCatName val="0"/>
          <c:showSerName val="0"/>
          <c:showPercent val="0"/>
          <c:showBubbleSize val="0"/>
        </c:dLbls>
        <c:gapWidth val="219"/>
        <c:overlap val="-27"/>
        <c:axId val="1256231296"/>
        <c:axId val="1256229856"/>
      </c:barChart>
      <c:catAx>
        <c:axId val="12562312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56229856"/>
        <c:crosses val="autoZero"/>
        <c:auto val="1"/>
        <c:lblAlgn val="ctr"/>
        <c:lblOffset val="100"/>
        <c:noMultiLvlLbl val="0"/>
      </c:catAx>
      <c:valAx>
        <c:axId val="1256229856"/>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5623129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[Banking.xlsx]Sheet3!PivotTable8</c:name>
    <c:fmtId val="5"/>
  </c:pivotSource>
  <c:chart>
    <c:title>
      <c:tx>
        <c:rich>
          <a:bodyPr rot="0" spcFirstLastPara="1" vertOverflow="ellipsis" vert="horz" wrap="square" anchor="ctr" anchorCtr="1"/>
          <a:lstStyle/>
          <a:p>
            <a:pPr>
              <a:defRPr lang="en-US" sz="1440" b="0" i="0" u="none" strike="noStrike" kern="1200" spc="0" baseline="0">
                <a:solidFill>
                  <a:sysClr val="windowText" lastClr="000000">
                    <a:lumMod val="75000"/>
                    <a:lumOff val="25000"/>
                  </a:sysClr>
                </a:solidFill>
                <a:latin typeface="+mn-lt"/>
                <a:ea typeface="+mn-ea"/>
                <a:cs typeface="+mn-cs"/>
              </a:defRPr>
            </a:pPr>
            <a:r>
              <a:rPr lang="en-US"/>
              <a:t>Transaction</a:t>
            </a:r>
            <a:r>
              <a:rPr lang="en-US" baseline="0"/>
              <a:t> wrt to Account Type</a:t>
            </a:r>
            <a:endParaRPr lang="en-US"/>
          </a:p>
        </c:rich>
      </c:tx>
      <c:overlay val="0"/>
      <c:spPr>
        <a:noFill/>
        <a:ln>
          <a:noFill/>
        </a:ln>
        <a:effectLst/>
      </c:spPr>
      <c:txPr>
        <a:bodyPr rot="0" spcFirstLastPara="1" vertOverflow="ellipsis" vert="horz" wrap="square" anchor="ctr" anchorCtr="1"/>
        <a:lstStyle/>
        <a:p>
          <a:pPr>
            <a:defRPr lang="en-US" sz="1440" b="0" i="0" u="none" strike="noStrike" kern="1200" spc="0" baseline="0">
              <a:solidFill>
                <a:sysClr val="windowText" lastClr="000000">
                  <a:lumMod val="75000"/>
                  <a:lumOff val="25000"/>
                </a:sysClr>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anchor="ctr" anchorCtr="1"/>
            <a:lstStyle/>
            <a:p>
              <a:pPr>
                <a:defRPr lang="en-US" sz="1200" b="0" i="0" u="none" strike="noStrike" kern="1200" baseline="0">
                  <a:solidFill>
                    <a:sysClr val="windowText" lastClr="000000">
                      <a:lumMod val="75000"/>
                      <a:lumOff val="25000"/>
                    </a:sys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dLbl>
          <c:idx val="0"/>
          <c:layout>
            <c:manualLayout>
              <c:x val="-9.7222112860892426E-2"/>
              <c:y val="-0.24537037037037041"/>
            </c:manualLayout>
          </c:layout>
          <c:spPr>
            <a:noFill/>
            <a:ln>
              <a:noFill/>
            </a:ln>
            <a:effectLst/>
          </c:spPr>
          <c:txPr>
            <a:bodyPr rot="0" spcFirstLastPara="1" vertOverflow="ellipsis" vert="horz" wrap="square" anchor="ctr" anchorCtr="1"/>
            <a:lstStyle/>
            <a:p>
              <a:pPr>
                <a:defRPr lang="en-US" sz="1200" b="0" i="0" u="none" strike="noStrike" kern="1200" baseline="0">
                  <a:solidFill>
                    <a:sysClr val="windowText" lastClr="000000">
                      <a:lumMod val="75000"/>
                      <a:lumOff val="25000"/>
                    </a:sys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23816666666666661"/>
                  <c:h val="0.21736111111111106"/>
                </c:manualLayout>
              </c15:layout>
            </c:ext>
          </c:extLst>
        </c:dLbl>
      </c:pivotFmt>
      <c:pivotFmt>
        <c:idx val="2"/>
        <c:spPr>
          <a:solidFill>
            <a:schemeClr val="accent1"/>
          </a:solidFill>
          <a:ln w="19050">
            <a:solidFill>
              <a:schemeClr val="lt1"/>
            </a:solidFill>
          </a:ln>
          <a:effectLst/>
        </c:spPr>
        <c:dLbl>
          <c:idx val="0"/>
          <c:layout>
            <c:manualLayout>
              <c:x val="0.18333344269466312"/>
              <c:y val="0.14351851851851849"/>
            </c:manualLayout>
          </c:layout>
          <c:spPr>
            <a:noFill/>
            <a:ln>
              <a:noFill/>
            </a:ln>
            <a:effectLst/>
          </c:spPr>
          <c:txPr>
            <a:bodyPr rot="0" spcFirstLastPara="1" vertOverflow="ellipsis" vert="horz" wrap="square" anchor="ctr" anchorCtr="1"/>
            <a:lstStyle/>
            <a:p>
              <a:pPr>
                <a:defRPr lang="en-US" sz="1200" b="0" i="0" u="none" strike="noStrike" kern="1200" baseline="0">
                  <a:solidFill>
                    <a:sysClr val="windowText" lastClr="000000">
                      <a:lumMod val="75000"/>
                      <a:lumOff val="25000"/>
                    </a:sys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23816666666666661"/>
                  <c:h val="0.21736111111111106"/>
                </c:manualLayout>
              </c15:layout>
            </c:ext>
          </c:extLst>
        </c:dLbl>
      </c:pivotFmt>
      <c:pivotFmt>
        <c:idx val="3"/>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anchor="ctr" anchorCtr="1"/>
            <a:lstStyle/>
            <a:p>
              <a:pPr>
                <a:defRPr lang="en-US" sz="1200" b="0" i="0" u="none" strike="noStrike" kern="1200" baseline="0">
                  <a:solidFill>
                    <a:sysClr val="windowText" lastClr="000000">
                      <a:lumMod val="75000"/>
                      <a:lumOff val="25000"/>
                    </a:sys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19050">
            <a:solidFill>
              <a:schemeClr val="lt1"/>
            </a:solidFill>
          </a:ln>
          <a:effectLst/>
        </c:spPr>
        <c:dLbl>
          <c:idx val="0"/>
          <c:layout>
            <c:manualLayout>
              <c:x val="0.18333344269466312"/>
              <c:y val="0.14351851851851849"/>
            </c:manualLayout>
          </c:layout>
          <c:spPr>
            <a:noFill/>
            <a:ln>
              <a:noFill/>
            </a:ln>
            <a:effectLst/>
          </c:spPr>
          <c:txPr>
            <a:bodyPr rot="0" spcFirstLastPara="1" vertOverflow="ellipsis" vert="horz" wrap="square" anchor="ctr" anchorCtr="1"/>
            <a:lstStyle/>
            <a:p>
              <a:pPr>
                <a:defRPr lang="en-US" sz="1200" b="0" i="0" u="none" strike="noStrike" kern="1200" baseline="0">
                  <a:solidFill>
                    <a:sysClr val="windowText" lastClr="000000">
                      <a:lumMod val="75000"/>
                      <a:lumOff val="25000"/>
                    </a:sys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23816666666666661"/>
                  <c:h val="0.21736111111111106"/>
                </c:manualLayout>
              </c15:layout>
            </c:ext>
          </c:extLst>
        </c:dLbl>
      </c:pivotFmt>
      <c:pivotFmt>
        <c:idx val="5"/>
        <c:spPr>
          <a:solidFill>
            <a:schemeClr val="accent1"/>
          </a:solidFill>
          <a:ln w="19050">
            <a:solidFill>
              <a:schemeClr val="lt1"/>
            </a:solidFill>
          </a:ln>
          <a:effectLst/>
        </c:spPr>
        <c:dLbl>
          <c:idx val="0"/>
          <c:layout>
            <c:manualLayout>
              <c:x val="-9.7222112860892426E-2"/>
              <c:y val="-0.24537037037037041"/>
            </c:manualLayout>
          </c:layout>
          <c:spPr>
            <a:noFill/>
            <a:ln>
              <a:noFill/>
            </a:ln>
            <a:effectLst/>
          </c:spPr>
          <c:txPr>
            <a:bodyPr rot="0" spcFirstLastPara="1" vertOverflow="ellipsis" vert="horz" wrap="square" anchor="ctr" anchorCtr="1"/>
            <a:lstStyle/>
            <a:p>
              <a:pPr>
                <a:defRPr lang="en-US" sz="1200" b="0" i="0" u="none" strike="noStrike" kern="1200" baseline="0">
                  <a:solidFill>
                    <a:sysClr val="windowText" lastClr="000000">
                      <a:lumMod val="75000"/>
                      <a:lumOff val="25000"/>
                    </a:sys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23816666666666661"/>
                  <c:h val="0.21736111111111106"/>
                </c:manualLayout>
              </c15:layout>
            </c:ext>
          </c:extLst>
        </c:dLbl>
      </c:pivotFmt>
      <c:pivotFmt>
        <c:idx val="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anchor="ctr" anchorCtr="1"/>
            <a:lstStyle/>
            <a:p>
              <a:pPr>
                <a:defRPr lang="en-US" sz="1200" b="0" i="0" u="none" strike="noStrike" kern="1200" baseline="0">
                  <a:solidFill>
                    <a:sysClr val="windowText" lastClr="000000">
                      <a:lumMod val="75000"/>
                      <a:lumOff val="25000"/>
                    </a:sys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w="19050">
            <a:solidFill>
              <a:schemeClr val="lt1"/>
            </a:solidFill>
          </a:ln>
          <a:effectLst/>
        </c:spPr>
        <c:dLbl>
          <c:idx val="0"/>
          <c:layout>
            <c:manualLayout>
              <c:x val="0.18333344269466312"/>
              <c:y val="0.14351851851851849"/>
            </c:manualLayout>
          </c:layout>
          <c:spPr>
            <a:noFill/>
            <a:ln>
              <a:noFill/>
            </a:ln>
            <a:effectLst/>
          </c:spPr>
          <c:txPr>
            <a:bodyPr rot="0" spcFirstLastPara="1" vertOverflow="ellipsis" vert="horz" wrap="square" anchor="ctr" anchorCtr="1"/>
            <a:lstStyle/>
            <a:p>
              <a:pPr>
                <a:defRPr lang="en-US" sz="1200" b="0" i="0" u="none" strike="noStrike" kern="1200" baseline="0">
                  <a:solidFill>
                    <a:sysClr val="windowText" lastClr="000000">
                      <a:lumMod val="75000"/>
                      <a:lumOff val="25000"/>
                    </a:sys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23816666666666661"/>
                  <c:h val="0.21736111111111106"/>
                </c:manualLayout>
              </c15:layout>
            </c:ext>
          </c:extLst>
        </c:dLbl>
      </c:pivotFmt>
      <c:pivotFmt>
        <c:idx val="8"/>
        <c:spPr>
          <a:solidFill>
            <a:schemeClr val="accent1"/>
          </a:solidFill>
          <a:ln w="19050">
            <a:solidFill>
              <a:schemeClr val="lt1"/>
            </a:solidFill>
          </a:ln>
          <a:effectLst/>
        </c:spPr>
        <c:dLbl>
          <c:idx val="0"/>
          <c:layout>
            <c:manualLayout>
              <c:x val="-9.7222112860892426E-2"/>
              <c:y val="-0.24537037037037041"/>
            </c:manualLayout>
          </c:layout>
          <c:spPr>
            <a:noFill/>
            <a:ln>
              <a:noFill/>
            </a:ln>
            <a:effectLst/>
          </c:spPr>
          <c:txPr>
            <a:bodyPr rot="0" spcFirstLastPara="1" vertOverflow="ellipsis" vert="horz" wrap="square" anchor="ctr" anchorCtr="1"/>
            <a:lstStyle/>
            <a:p>
              <a:pPr>
                <a:defRPr lang="en-US" sz="1200" b="0" i="0" u="none" strike="noStrike" kern="1200" baseline="0">
                  <a:solidFill>
                    <a:sysClr val="windowText" lastClr="000000">
                      <a:lumMod val="75000"/>
                      <a:lumOff val="25000"/>
                    </a:sys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23816666666666661"/>
                  <c:h val="0.21736111111111106"/>
                </c:manualLayout>
              </c15:layout>
            </c:ext>
          </c:extLst>
        </c:dLbl>
      </c:pivotFmt>
    </c:pivotFmts>
    <c:plotArea>
      <c:layout/>
      <c:doughnutChart>
        <c:varyColors val="1"/>
        <c:ser>
          <c:idx val="0"/>
          <c:order val="0"/>
          <c:tx>
            <c:strRef>
              <c:f>Sheet3!$B$92</c:f>
              <c:strCache>
                <c:ptCount val="1"/>
                <c:pt idx="0">
                  <c:v>Total</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3E4B-4447-8CF9-CF0E04CD1744}"/>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3E4B-4447-8CF9-CF0E04CD1744}"/>
              </c:ext>
            </c:extLst>
          </c:dPt>
          <c:dLbls>
            <c:dLbl>
              <c:idx val="0"/>
              <c:layout>
                <c:manualLayout>
                  <c:x val="0.18333344269466312"/>
                  <c:y val="0.14351851851851849"/>
                </c:manualLayout>
              </c:layout>
              <c:showLegendKey val="0"/>
              <c:showVal val="1"/>
              <c:showCatName val="0"/>
              <c:showSerName val="0"/>
              <c:showPercent val="0"/>
              <c:showBubbleSize val="0"/>
              <c:extLst>
                <c:ext xmlns:c15="http://schemas.microsoft.com/office/drawing/2012/chart" uri="{CE6537A1-D6FC-4f65-9D91-7224C49458BB}">
                  <c15:layout>
                    <c:manualLayout>
                      <c:w val="0.23816666666666661"/>
                      <c:h val="0.21736111111111106"/>
                    </c:manualLayout>
                  </c15:layout>
                </c:ext>
                <c:ext xmlns:c16="http://schemas.microsoft.com/office/drawing/2014/chart" uri="{C3380CC4-5D6E-409C-BE32-E72D297353CC}">
                  <c16:uniqueId val="{00000001-3E4B-4447-8CF9-CF0E04CD1744}"/>
                </c:ext>
              </c:extLst>
            </c:dLbl>
            <c:dLbl>
              <c:idx val="1"/>
              <c:layout>
                <c:manualLayout>
                  <c:x val="-9.7222112860892426E-2"/>
                  <c:y val="-0.24537037037037041"/>
                </c:manualLayout>
              </c:layout>
              <c:showLegendKey val="0"/>
              <c:showVal val="1"/>
              <c:showCatName val="0"/>
              <c:showSerName val="0"/>
              <c:showPercent val="0"/>
              <c:showBubbleSize val="0"/>
              <c:extLst>
                <c:ext xmlns:c15="http://schemas.microsoft.com/office/drawing/2012/chart" uri="{CE6537A1-D6FC-4f65-9D91-7224C49458BB}">
                  <c15:layout>
                    <c:manualLayout>
                      <c:w val="0.23816666666666661"/>
                      <c:h val="0.21736111111111106"/>
                    </c:manualLayout>
                  </c15:layout>
                </c:ext>
                <c:ext xmlns:c16="http://schemas.microsoft.com/office/drawing/2014/chart" uri="{C3380CC4-5D6E-409C-BE32-E72D297353CC}">
                  <c16:uniqueId val="{00000003-3E4B-4447-8CF9-CF0E04CD1744}"/>
                </c:ext>
              </c:extLst>
            </c:dLbl>
            <c:spPr>
              <a:noFill/>
              <a:ln>
                <a:noFill/>
              </a:ln>
              <a:effectLst/>
            </c:spPr>
            <c:txPr>
              <a:bodyPr rot="0" spcFirstLastPara="1" vertOverflow="ellipsis" vert="horz" wrap="square" anchor="ctr" anchorCtr="1"/>
              <a:lstStyle/>
              <a:p>
                <a:pPr>
                  <a:defRPr lang="en-US" sz="1200" b="0" i="0" u="none" strike="noStrike" kern="1200" baseline="0">
                    <a:solidFill>
                      <a:sysClr val="windowText" lastClr="000000">
                        <a:lumMod val="75000"/>
                        <a:lumOff val="25000"/>
                      </a:sys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Sheet3!$A$93:$A$95</c:f>
              <c:strCache>
                <c:ptCount val="2"/>
                <c:pt idx="0">
                  <c:v>Current</c:v>
                </c:pt>
                <c:pt idx="1">
                  <c:v>Savings</c:v>
                </c:pt>
              </c:strCache>
            </c:strRef>
          </c:cat>
          <c:val>
            <c:numRef>
              <c:f>Sheet3!$B$93:$B$95</c:f>
              <c:numCache>
                <c:formatCode>_ [$₹-439]* #,##0.00_ ;_ [$₹-439]* \-#,##0.00_ ;_ [$₹-439]* "-"??_ ;_ @_ </c:formatCode>
                <c:ptCount val="2"/>
                <c:pt idx="0">
                  <c:v>65057435.75</c:v>
                </c:pt>
                <c:pt idx="1">
                  <c:v>60845658.380000003</c:v>
                </c:pt>
              </c:numCache>
            </c:numRef>
          </c:val>
          <c:extLst>
            <c:ext xmlns:c16="http://schemas.microsoft.com/office/drawing/2014/chart" uri="{C3380CC4-5D6E-409C-BE32-E72D297353CC}">
              <c16:uniqueId val="{00000004-3E4B-4447-8CF9-CF0E04CD1744}"/>
            </c:ext>
          </c:extLst>
        </c:ser>
        <c:dLbls>
          <c:showLegendKey val="0"/>
          <c:showVal val="1"/>
          <c:showCatName val="0"/>
          <c:showSerName val="0"/>
          <c:showPercent val="0"/>
          <c:showBubbleSize val="0"/>
          <c:showLeaderLines val="1"/>
        </c:dLbls>
        <c:firstSliceAng val="0"/>
        <c:holeSize val="75"/>
      </c:doughnutChart>
      <c:spPr>
        <a:noFill/>
        <a:ln>
          <a:noFill/>
        </a:ln>
        <a:effectLst/>
      </c:spPr>
    </c:plotArea>
    <c:legend>
      <c:legendPos val="r"/>
      <c:overlay val="0"/>
      <c:spPr>
        <a:noFill/>
        <a:ln>
          <a:noFill/>
        </a:ln>
        <a:effectLst/>
      </c:spPr>
      <c:txPr>
        <a:bodyPr rot="0" spcFirstLastPara="1" vertOverflow="ellipsis" vert="horz" wrap="square" anchor="ctr" anchorCtr="1"/>
        <a:lstStyle/>
        <a:p>
          <a:pPr>
            <a:defRPr lang="en-US" sz="1200" b="0" i="0" u="none" strike="noStrike" kern="1200" baseline="0">
              <a:solidFill>
                <a:sysClr val="windowText" lastClr="000000">
                  <a:lumMod val="75000"/>
                  <a:lumOff val="25000"/>
                </a:sys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lgn="ctr" rtl="0">
        <a:defRPr lang="en-US" sz="1200" b="0" i="0" u="none" strike="noStrike" kern="1200" baseline="0">
          <a:solidFill>
            <a:sysClr val="windowText" lastClr="000000">
              <a:lumMod val="75000"/>
              <a:lumOff val="25000"/>
            </a:sysClr>
          </a:solidFill>
          <a:latin typeface="+mn-lt"/>
          <a:ea typeface="+mn-ea"/>
          <a:cs typeface="+mn-cs"/>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[Banking.xlsx]Sheet3!PivotTable10</c:name>
    <c:fmtId val="5"/>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Age</a:t>
            </a:r>
            <a:r>
              <a:rPr lang="en-US" baseline="0"/>
              <a:t> Group wise Transactions</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dLbl>
          <c:idx val="0"/>
          <c:layout>
            <c:manualLayout>
              <c:x val="7.6880834706205325E-2"/>
              <c:y val="-4.1666666666666664E-2"/>
            </c:manualLayout>
          </c:layout>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22519231018692679"/>
                  <c:h val="0.20041666666666666"/>
                </c:manualLayout>
              </c15:layout>
            </c:ext>
          </c:extLst>
        </c:dLbl>
      </c:pivotFmt>
      <c:pivotFmt>
        <c:idx val="3"/>
        <c:spPr>
          <a:solidFill>
            <a:schemeClr val="accent1"/>
          </a:solidFill>
          <a:ln>
            <a:noFill/>
          </a:ln>
          <a:effectLst/>
        </c:spPr>
        <c:dLbl>
          <c:idx val="0"/>
          <c:layout>
            <c:manualLayout>
              <c:x val="-5.216913783635365E-2"/>
              <c:y val="4.6296296296296294E-2"/>
            </c:manualLayout>
          </c:layout>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20871784560702564"/>
                  <c:h val="0.20041666666666666"/>
                </c:manualLayout>
              </c15:layout>
            </c:ext>
          </c:extLst>
        </c:dLbl>
      </c:pivotFmt>
      <c:pivotFmt>
        <c:idx val="4"/>
        <c:spPr>
          <a:solidFill>
            <a:schemeClr val="accent1"/>
          </a:solidFill>
          <a:ln>
            <a:noFill/>
          </a:ln>
          <a:effectLst/>
        </c:spPr>
        <c:dLbl>
          <c:idx val="0"/>
          <c:layout>
            <c:manualLayout>
              <c:x val="-5.2169137836353754E-2"/>
              <c:y val="-8.7962962962963048E-2"/>
            </c:manualLayout>
          </c:layout>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dLbl>
          <c:idx val="0"/>
          <c:layout>
            <c:manualLayout>
              <c:x val="4.3931905546402972E-2"/>
              <c:y val="-2.7777777777777693E-2"/>
            </c:manualLayout>
          </c:layout>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dLbl>
          <c:idx val="0"/>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20871784560702564"/>
                  <c:h val="0.20041666666666666"/>
                </c:manualLayout>
              </c15:layout>
            </c:ext>
          </c:extLst>
        </c:dLbl>
      </c:pivotFmt>
      <c:pivotFmt>
        <c:idx val="7"/>
        <c:spPr>
          <a:solidFill>
            <a:schemeClr val="accent1"/>
          </a:solidFill>
          <a:ln>
            <a:noFill/>
          </a:ln>
          <a:effectLst/>
        </c:spPr>
        <c:dLbl>
          <c:idx val="0"/>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21420933380032606"/>
                  <c:h val="0.20041666666666666"/>
                </c:manualLayout>
              </c15:layout>
            </c:ext>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dLbl>
          <c:idx val="0"/>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20871784560702564"/>
                  <c:h val="0.20041666666666666"/>
                </c:manualLayout>
              </c15:layout>
            </c:ext>
          </c:extLst>
        </c:dLbl>
      </c:pivotFmt>
      <c:pivotFmt>
        <c:idx val="10"/>
        <c:spPr>
          <a:solidFill>
            <a:schemeClr val="accent1"/>
          </a:solidFill>
          <a:ln>
            <a:noFill/>
          </a:ln>
          <a:effectLst/>
        </c:spPr>
        <c:dLbl>
          <c:idx val="0"/>
          <c:layout>
            <c:manualLayout>
              <c:x val="-5.216913783635365E-2"/>
              <c:y val="4.6296296296296294E-2"/>
            </c:manualLayout>
          </c:layout>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20871784560702564"/>
                  <c:h val="0.20041666666666666"/>
                </c:manualLayout>
              </c15:layout>
            </c:ext>
          </c:extLst>
        </c:dLbl>
      </c:pivotFmt>
      <c:pivotFmt>
        <c:idx val="11"/>
        <c:spPr>
          <a:solidFill>
            <a:schemeClr val="accent1"/>
          </a:solidFill>
          <a:ln>
            <a:noFill/>
          </a:ln>
          <a:effectLst/>
        </c:spPr>
        <c:dLbl>
          <c:idx val="0"/>
          <c:layout>
            <c:manualLayout>
              <c:x val="-5.2169137836353754E-2"/>
              <c:y val="-8.7962962962963048E-2"/>
            </c:manualLayout>
          </c:layout>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3"/>
        <c:spPr>
          <a:solidFill>
            <a:schemeClr val="accent2"/>
          </a:solidFill>
          <a:ln>
            <a:noFill/>
          </a:ln>
          <a:effectLst/>
        </c:spPr>
        <c:dLbl>
          <c:idx val="0"/>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21420933380032606"/>
                  <c:h val="0.20041666666666666"/>
                </c:manualLayout>
              </c15:layout>
            </c:ext>
          </c:extLst>
        </c:dLbl>
      </c:pivotFmt>
      <c:pivotFmt>
        <c:idx val="14"/>
        <c:spPr>
          <a:solidFill>
            <a:schemeClr val="accent2"/>
          </a:solidFill>
          <a:ln>
            <a:noFill/>
          </a:ln>
          <a:effectLst/>
        </c:spPr>
        <c:dLbl>
          <c:idx val="0"/>
          <c:layout>
            <c:manualLayout>
              <c:x val="7.6880834706205325E-2"/>
              <c:y val="-4.1666666666666664E-2"/>
            </c:manualLayout>
          </c:layout>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22519231018692679"/>
                  <c:h val="0.20041666666666666"/>
                </c:manualLayout>
              </c15:layout>
            </c:ext>
          </c:extLst>
        </c:dLbl>
      </c:pivotFmt>
      <c:pivotFmt>
        <c:idx val="15"/>
        <c:spPr>
          <a:solidFill>
            <a:schemeClr val="accent2"/>
          </a:solidFill>
          <a:ln>
            <a:noFill/>
          </a:ln>
          <a:effectLst/>
        </c:spPr>
        <c:dLbl>
          <c:idx val="0"/>
          <c:layout>
            <c:manualLayout>
              <c:x val="4.3931905546402972E-2"/>
              <c:y val="-2.7777777777777693E-2"/>
            </c:manualLayout>
          </c:layout>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7"/>
        <c:spPr>
          <a:solidFill>
            <a:schemeClr val="accent1"/>
          </a:solidFill>
          <a:ln>
            <a:noFill/>
          </a:ln>
          <a:effectLst/>
        </c:spPr>
        <c:dLbl>
          <c:idx val="0"/>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20871784560702564"/>
                  <c:h val="0.20041666666666666"/>
                </c:manualLayout>
              </c15:layout>
            </c:ext>
          </c:extLst>
        </c:dLbl>
      </c:pivotFmt>
      <c:pivotFmt>
        <c:idx val="18"/>
        <c:spPr>
          <a:solidFill>
            <a:schemeClr val="accent1"/>
          </a:solidFill>
          <a:ln>
            <a:noFill/>
          </a:ln>
          <a:effectLst/>
        </c:spPr>
        <c:dLbl>
          <c:idx val="0"/>
          <c:layout>
            <c:manualLayout>
              <c:x val="-5.216913783635365E-2"/>
              <c:y val="4.6296296296296294E-2"/>
            </c:manualLayout>
          </c:layout>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20871784560702564"/>
                  <c:h val="0.20041666666666666"/>
                </c:manualLayout>
              </c15:layout>
            </c:ext>
          </c:extLst>
        </c:dLbl>
      </c:pivotFmt>
      <c:pivotFmt>
        <c:idx val="19"/>
        <c:spPr>
          <a:solidFill>
            <a:schemeClr val="accent1"/>
          </a:solidFill>
          <a:ln>
            <a:noFill/>
          </a:ln>
          <a:effectLst/>
        </c:spPr>
        <c:dLbl>
          <c:idx val="0"/>
          <c:layout>
            <c:manualLayout>
              <c:x val="-5.2169137836353754E-2"/>
              <c:y val="-8.7962962962963048E-2"/>
            </c:manualLayout>
          </c:layout>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1"/>
        <c:spPr>
          <a:solidFill>
            <a:schemeClr val="accent2"/>
          </a:solidFill>
          <a:ln>
            <a:noFill/>
          </a:ln>
          <a:effectLst/>
        </c:spPr>
        <c:dLbl>
          <c:idx val="0"/>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21420933380032606"/>
                  <c:h val="0.20041666666666666"/>
                </c:manualLayout>
              </c15:layout>
            </c:ext>
          </c:extLst>
        </c:dLbl>
      </c:pivotFmt>
      <c:pivotFmt>
        <c:idx val="22"/>
        <c:spPr>
          <a:solidFill>
            <a:schemeClr val="accent2"/>
          </a:solidFill>
          <a:ln>
            <a:noFill/>
          </a:ln>
          <a:effectLst/>
        </c:spPr>
        <c:dLbl>
          <c:idx val="0"/>
          <c:layout>
            <c:manualLayout>
              <c:x val="7.6880834706205325E-2"/>
              <c:y val="-4.1666666666666664E-2"/>
            </c:manualLayout>
          </c:layout>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0.22519231018692679"/>
                  <c:h val="0.20041666666666666"/>
                </c:manualLayout>
              </c15:layout>
            </c:ext>
          </c:extLst>
        </c:dLbl>
      </c:pivotFmt>
      <c:pivotFmt>
        <c:idx val="23"/>
        <c:spPr>
          <a:solidFill>
            <a:schemeClr val="accent2"/>
          </a:solidFill>
          <a:ln>
            <a:noFill/>
          </a:ln>
          <a:effectLst/>
        </c:spPr>
        <c:dLbl>
          <c:idx val="0"/>
          <c:layout>
            <c:manualLayout>
              <c:x val="4.3931905546402972E-2"/>
              <c:y val="-2.7777777777777693E-2"/>
            </c:manualLayout>
          </c:layout>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3.0203185063152116E-2"/>
          <c:y val="0.1388888888888889"/>
          <c:w val="0.80629705059519952"/>
          <c:h val="0.75371172353455818"/>
        </c:manualLayout>
      </c:layout>
      <c:barChart>
        <c:barDir val="col"/>
        <c:grouping val="clustered"/>
        <c:varyColors val="0"/>
        <c:ser>
          <c:idx val="0"/>
          <c:order val="0"/>
          <c:tx>
            <c:strRef>
              <c:f>Sheet3!$B$107:$B$108</c:f>
              <c:strCache>
                <c:ptCount val="1"/>
                <c:pt idx="0">
                  <c:v>Female</c:v>
                </c:pt>
              </c:strCache>
            </c:strRef>
          </c:tx>
          <c:spPr>
            <a:solidFill>
              <a:schemeClr val="accent1"/>
            </a:solidFill>
            <a:ln>
              <a:noFill/>
            </a:ln>
            <a:effectLst/>
          </c:spPr>
          <c:invertIfNegative val="0"/>
          <c:dPt>
            <c:idx val="0"/>
            <c:invertIfNegative val="0"/>
            <c:bubble3D val="0"/>
            <c:extLst>
              <c:ext xmlns:c16="http://schemas.microsoft.com/office/drawing/2014/chart" uri="{C3380CC4-5D6E-409C-BE32-E72D297353CC}">
                <c16:uniqueId val="{00000000-5380-4DEB-B0D7-E1604C4E502E}"/>
              </c:ext>
            </c:extLst>
          </c:dPt>
          <c:dPt>
            <c:idx val="1"/>
            <c:invertIfNegative val="0"/>
            <c:bubble3D val="0"/>
            <c:extLst>
              <c:ext xmlns:c16="http://schemas.microsoft.com/office/drawing/2014/chart" uri="{C3380CC4-5D6E-409C-BE32-E72D297353CC}">
                <c16:uniqueId val="{00000001-5380-4DEB-B0D7-E1604C4E502E}"/>
              </c:ext>
            </c:extLst>
          </c:dPt>
          <c:dPt>
            <c:idx val="2"/>
            <c:invertIfNegative val="0"/>
            <c:bubble3D val="0"/>
            <c:extLst>
              <c:ext xmlns:c16="http://schemas.microsoft.com/office/drawing/2014/chart" uri="{C3380CC4-5D6E-409C-BE32-E72D297353CC}">
                <c16:uniqueId val="{00000002-5380-4DEB-B0D7-E1604C4E502E}"/>
              </c:ext>
            </c:extLst>
          </c:dPt>
          <c:dLbls>
            <c:dLbl>
              <c:idx val="0"/>
              <c:dLblPos val="outEnd"/>
              <c:showLegendKey val="0"/>
              <c:showVal val="1"/>
              <c:showCatName val="0"/>
              <c:showSerName val="0"/>
              <c:showPercent val="0"/>
              <c:showBubbleSize val="0"/>
              <c:extLst>
                <c:ext xmlns:c15="http://schemas.microsoft.com/office/drawing/2012/chart" uri="{CE6537A1-D6FC-4f65-9D91-7224C49458BB}">
                  <c15:layout>
                    <c:manualLayout>
                      <c:w val="0.20871784560702564"/>
                      <c:h val="0.20041666666666666"/>
                    </c:manualLayout>
                  </c15:layout>
                </c:ext>
                <c:ext xmlns:c16="http://schemas.microsoft.com/office/drawing/2014/chart" uri="{C3380CC4-5D6E-409C-BE32-E72D297353CC}">
                  <c16:uniqueId val="{00000000-5380-4DEB-B0D7-E1604C4E502E}"/>
                </c:ext>
              </c:extLst>
            </c:dLbl>
            <c:dLbl>
              <c:idx val="1"/>
              <c:layout>
                <c:manualLayout>
                  <c:x val="-5.216913783635365E-2"/>
                  <c:y val="4.6296296296296294E-2"/>
                </c:manualLayout>
              </c:layout>
              <c:dLblPos val="outEnd"/>
              <c:showLegendKey val="0"/>
              <c:showVal val="1"/>
              <c:showCatName val="0"/>
              <c:showSerName val="0"/>
              <c:showPercent val="0"/>
              <c:showBubbleSize val="0"/>
              <c:extLst>
                <c:ext xmlns:c15="http://schemas.microsoft.com/office/drawing/2012/chart" uri="{CE6537A1-D6FC-4f65-9D91-7224C49458BB}">
                  <c15:layout>
                    <c:manualLayout>
                      <c:w val="0.20871784560702564"/>
                      <c:h val="0.20041666666666666"/>
                    </c:manualLayout>
                  </c15:layout>
                </c:ext>
                <c:ext xmlns:c16="http://schemas.microsoft.com/office/drawing/2014/chart" uri="{C3380CC4-5D6E-409C-BE32-E72D297353CC}">
                  <c16:uniqueId val="{00000001-5380-4DEB-B0D7-E1604C4E502E}"/>
                </c:ext>
              </c:extLst>
            </c:dLbl>
            <c:dLbl>
              <c:idx val="2"/>
              <c:layout>
                <c:manualLayout>
                  <c:x val="-5.2169137836353754E-2"/>
                  <c:y val="-8.7962962962963048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5380-4DEB-B0D7-E1604C4E502E}"/>
                </c:ext>
              </c:extLst>
            </c:dLbl>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Sheet3!$A$109:$A$112</c:f>
              <c:strCache>
                <c:ptCount val="3"/>
                <c:pt idx="0">
                  <c:v>Adulthood</c:v>
                </c:pt>
                <c:pt idx="1">
                  <c:v>Senior</c:v>
                </c:pt>
                <c:pt idx="2">
                  <c:v>Teeneger</c:v>
                </c:pt>
              </c:strCache>
            </c:strRef>
          </c:cat>
          <c:val>
            <c:numRef>
              <c:f>Sheet3!$B$109:$B$112</c:f>
              <c:numCache>
                <c:formatCode>_ [$₹-439]* #,##0.00_ ;_ [$₹-439]* \-#,##0.00_ ;_ [$₹-439]* "-"??_ ;_ @_ </c:formatCode>
                <c:ptCount val="3"/>
                <c:pt idx="0">
                  <c:v>27662616.079999998</c:v>
                </c:pt>
                <c:pt idx="1">
                  <c:v>28669222.510000002</c:v>
                </c:pt>
                <c:pt idx="2">
                  <c:v>2832201.63</c:v>
                </c:pt>
              </c:numCache>
            </c:numRef>
          </c:val>
          <c:extLst>
            <c:ext xmlns:c16="http://schemas.microsoft.com/office/drawing/2014/chart" uri="{C3380CC4-5D6E-409C-BE32-E72D297353CC}">
              <c16:uniqueId val="{00000003-5380-4DEB-B0D7-E1604C4E502E}"/>
            </c:ext>
          </c:extLst>
        </c:ser>
        <c:ser>
          <c:idx val="1"/>
          <c:order val="1"/>
          <c:tx>
            <c:strRef>
              <c:f>Sheet3!$C$107:$C$108</c:f>
              <c:strCache>
                <c:ptCount val="1"/>
                <c:pt idx="0">
                  <c:v>Male</c:v>
                </c:pt>
              </c:strCache>
            </c:strRef>
          </c:tx>
          <c:spPr>
            <a:solidFill>
              <a:schemeClr val="accent2"/>
            </a:solidFill>
            <a:ln>
              <a:noFill/>
            </a:ln>
            <a:effectLst/>
          </c:spPr>
          <c:invertIfNegative val="0"/>
          <c:dPt>
            <c:idx val="0"/>
            <c:invertIfNegative val="0"/>
            <c:bubble3D val="0"/>
            <c:extLst>
              <c:ext xmlns:c16="http://schemas.microsoft.com/office/drawing/2014/chart" uri="{C3380CC4-5D6E-409C-BE32-E72D297353CC}">
                <c16:uniqueId val="{00000004-5380-4DEB-B0D7-E1604C4E502E}"/>
              </c:ext>
            </c:extLst>
          </c:dPt>
          <c:dPt>
            <c:idx val="1"/>
            <c:invertIfNegative val="0"/>
            <c:bubble3D val="0"/>
            <c:extLst>
              <c:ext xmlns:c16="http://schemas.microsoft.com/office/drawing/2014/chart" uri="{C3380CC4-5D6E-409C-BE32-E72D297353CC}">
                <c16:uniqueId val="{00000005-5380-4DEB-B0D7-E1604C4E502E}"/>
              </c:ext>
            </c:extLst>
          </c:dPt>
          <c:dPt>
            <c:idx val="2"/>
            <c:invertIfNegative val="0"/>
            <c:bubble3D val="0"/>
            <c:extLst>
              <c:ext xmlns:c16="http://schemas.microsoft.com/office/drawing/2014/chart" uri="{C3380CC4-5D6E-409C-BE32-E72D297353CC}">
                <c16:uniqueId val="{00000006-5380-4DEB-B0D7-E1604C4E502E}"/>
              </c:ext>
            </c:extLst>
          </c:dPt>
          <c:dLbls>
            <c:dLbl>
              <c:idx val="0"/>
              <c:dLblPos val="outEnd"/>
              <c:showLegendKey val="0"/>
              <c:showVal val="1"/>
              <c:showCatName val="0"/>
              <c:showSerName val="0"/>
              <c:showPercent val="0"/>
              <c:showBubbleSize val="0"/>
              <c:extLst>
                <c:ext xmlns:c15="http://schemas.microsoft.com/office/drawing/2012/chart" uri="{CE6537A1-D6FC-4f65-9D91-7224C49458BB}">
                  <c15:layout>
                    <c:manualLayout>
                      <c:w val="0.21420933380032606"/>
                      <c:h val="0.20041666666666666"/>
                    </c:manualLayout>
                  </c15:layout>
                </c:ext>
                <c:ext xmlns:c16="http://schemas.microsoft.com/office/drawing/2014/chart" uri="{C3380CC4-5D6E-409C-BE32-E72D297353CC}">
                  <c16:uniqueId val="{00000004-5380-4DEB-B0D7-E1604C4E502E}"/>
                </c:ext>
              </c:extLst>
            </c:dLbl>
            <c:dLbl>
              <c:idx val="1"/>
              <c:layout>
                <c:manualLayout>
                  <c:x val="7.6880834706205325E-2"/>
                  <c:y val="-4.1666666666666664E-2"/>
                </c:manualLayout>
              </c:layout>
              <c:dLblPos val="outEnd"/>
              <c:showLegendKey val="0"/>
              <c:showVal val="1"/>
              <c:showCatName val="0"/>
              <c:showSerName val="0"/>
              <c:showPercent val="0"/>
              <c:showBubbleSize val="0"/>
              <c:extLst>
                <c:ext xmlns:c15="http://schemas.microsoft.com/office/drawing/2012/chart" uri="{CE6537A1-D6FC-4f65-9D91-7224C49458BB}">
                  <c15:layout>
                    <c:manualLayout>
                      <c:w val="0.22519231018692679"/>
                      <c:h val="0.20041666666666666"/>
                    </c:manualLayout>
                  </c15:layout>
                </c:ext>
                <c:ext xmlns:c16="http://schemas.microsoft.com/office/drawing/2014/chart" uri="{C3380CC4-5D6E-409C-BE32-E72D297353CC}">
                  <c16:uniqueId val="{00000005-5380-4DEB-B0D7-E1604C4E502E}"/>
                </c:ext>
              </c:extLst>
            </c:dLbl>
            <c:dLbl>
              <c:idx val="2"/>
              <c:layout>
                <c:manualLayout>
                  <c:x val="4.3931905546402972E-2"/>
                  <c:y val="-2.7777777777777693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5380-4DEB-B0D7-E1604C4E502E}"/>
                </c:ext>
              </c:extLst>
            </c:dLbl>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Sheet3!$A$109:$A$112</c:f>
              <c:strCache>
                <c:ptCount val="3"/>
                <c:pt idx="0">
                  <c:v>Adulthood</c:v>
                </c:pt>
                <c:pt idx="1">
                  <c:v>Senior</c:v>
                </c:pt>
                <c:pt idx="2">
                  <c:v>Teeneger</c:v>
                </c:pt>
              </c:strCache>
            </c:strRef>
          </c:cat>
          <c:val>
            <c:numRef>
              <c:f>Sheet3!$C$109:$C$112</c:f>
              <c:numCache>
                <c:formatCode>_ [$₹-439]* #,##0.00_ ;_ [$₹-439]* \-#,##0.00_ ;_ [$₹-439]* "-"??_ ;_ @_ </c:formatCode>
                <c:ptCount val="3"/>
                <c:pt idx="0">
                  <c:v>33884939.390000001</c:v>
                </c:pt>
                <c:pt idx="1">
                  <c:v>29954760.890000001</c:v>
                </c:pt>
                <c:pt idx="2">
                  <c:v>2899353.63</c:v>
                </c:pt>
              </c:numCache>
            </c:numRef>
          </c:val>
          <c:extLst>
            <c:ext xmlns:c16="http://schemas.microsoft.com/office/drawing/2014/chart" uri="{C3380CC4-5D6E-409C-BE32-E72D297353CC}">
              <c16:uniqueId val="{00000007-5380-4DEB-B0D7-E1604C4E502E}"/>
            </c:ext>
          </c:extLst>
        </c:ser>
        <c:dLbls>
          <c:dLblPos val="outEnd"/>
          <c:showLegendKey val="0"/>
          <c:showVal val="1"/>
          <c:showCatName val="0"/>
          <c:showSerName val="0"/>
          <c:showPercent val="0"/>
          <c:showBubbleSize val="0"/>
        </c:dLbls>
        <c:gapWidth val="219"/>
        <c:overlap val="-27"/>
        <c:axId val="1270384816"/>
        <c:axId val="1270387696"/>
      </c:barChart>
      <c:catAx>
        <c:axId val="12703848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70387696"/>
        <c:crosses val="autoZero"/>
        <c:auto val="1"/>
        <c:lblAlgn val="ctr"/>
        <c:lblOffset val="100"/>
        <c:noMultiLvlLbl val="0"/>
      </c:catAx>
      <c:valAx>
        <c:axId val="1270387696"/>
        <c:scaling>
          <c:orientation val="minMax"/>
        </c:scaling>
        <c:delete val="1"/>
        <c:axPos val="l"/>
        <c:majorGridlines>
          <c:spPr>
            <a:ln w="9525" cap="flat" cmpd="sng" algn="ctr">
              <a:solidFill>
                <a:schemeClr val="tx1">
                  <a:lumMod val="15000"/>
                  <a:lumOff val="85000"/>
                </a:schemeClr>
              </a:solidFill>
              <a:round/>
            </a:ln>
            <a:effectLst/>
          </c:spPr>
        </c:majorGridlines>
        <c:numFmt formatCode="_ [$₹-439]* #,##0.00_ ;_ [$₹-439]* \-#,##0.00_ ;_ [$₹-439]* &quot;-&quot;??_ ;_ @_ " sourceLinked="1"/>
        <c:majorTickMark val="none"/>
        <c:minorTickMark val="none"/>
        <c:tickLblPos val="nextTo"/>
        <c:crossAx val="127038481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B255D5-DFE2-4CF3-AF31-CE77A7B32ACC}" type="datetimeFigureOut">
              <a:rPr lang="en-US" smtClean="0"/>
              <a:t>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5AA446-AE30-41C3-95D1-2A34774E5465}" type="slidenum">
              <a:rPr lang="en-US" smtClean="0"/>
              <a:t>‹#›</a:t>
            </a:fld>
            <a:endParaRPr lang="en-US"/>
          </a:p>
        </p:txBody>
      </p:sp>
    </p:spTree>
    <p:extLst>
      <p:ext uri="{BB962C8B-B14F-4D97-AF65-F5344CB8AC3E}">
        <p14:creationId xmlns:p14="http://schemas.microsoft.com/office/powerpoint/2010/main" val="13634389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D2473-D992-E279-2B76-99E66EBFC40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D360EC6-6C44-C9AA-3ABA-AEBD8201E2A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293FFA7-B04A-641A-F5F5-DF43C1E415F5}"/>
              </a:ext>
            </a:extLst>
          </p:cNvPr>
          <p:cNvSpPr>
            <a:spLocks noGrp="1"/>
          </p:cNvSpPr>
          <p:nvPr>
            <p:ph type="dt" sz="half" idx="10"/>
          </p:nvPr>
        </p:nvSpPr>
        <p:spPr/>
        <p:txBody>
          <a:bodyPr/>
          <a:lstStyle/>
          <a:p>
            <a:fld id="{24733770-D5FB-4693-802B-F806DBF14E85}" type="datetimeFigureOut">
              <a:rPr lang="en-US" smtClean="0"/>
              <a:t>1/5/2026</a:t>
            </a:fld>
            <a:endParaRPr lang="en-US"/>
          </a:p>
        </p:txBody>
      </p:sp>
      <p:sp>
        <p:nvSpPr>
          <p:cNvPr id="5" name="Footer Placeholder 4">
            <a:extLst>
              <a:ext uri="{FF2B5EF4-FFF2-40B4-BE49-F238E27FC236}">
                <a16:creationId xmlns:a16="http://schemas.microsoft.com/office/drawing/2014/main" id="{A9888800-4826-1F92-B70D-BB063CB035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879F13-4C75-CD1B-92DC-AB24615B1708}"/>
              </a:ext>
            </a:extLst>
          </p:cNvPr>
          <p:cNvSpPr>
            <a:spLocks noGrp="1"/>
          </p:cNvSpPr>
          <p:nvPr>
            <p:ph type="sldNum" sz="quarter" idx="12"/>
          </p:nvPr>
        </p:nvSpPr>
        <p:spPr/>
        <p:txBody>
          <a:bodyPr/>
          <a:lstStyle/>
          <a:p>
            <a:fld id="{BFF2E57D-127D-4FDE-AD4F-AA217A4B3142}" type="slidenum">
              <a:rPr lang="en-US" smtClean="0"/>
              <a:t>‹#›</a:t>
            </a:fld>
            <a:endParaRPr lang="en-US"/>
          </a:p>
        </p:txBody>
      </p:sp>
    </p:spTree>
    <p:extLst>
      <p:ext uri="{BB962C8B-B14F-4D97-AF65-F5344CB8AC3E}">
        <p14:creationId xmlns:p14="http://schemas.microsoft.com/office/powerpoint/2010/main" val="40666497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3D00C-762F-8AD4-E93B-2B74A6DCE5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CF99356-63CF-050A-2B4F-133700F374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325772-8A04-AC77-D98C-121B8AA2FB99}"/>
              </a:ext>
            </a:extLst>
          </p:cNvPr>
          <p:cNvSpPr>
            <a:spLocks noGrp="1"/>
          </p:cNvSpPr>
          <p:nvPr>
            <p:ph type="dt" sz="half" idx="10"/>
          </p:nvPr>
        </p:nvSpPr>
        <p:spPr/>
        <p:txBody>
          <a:bodyPr/>
          <a:lstStyle/>
          <a:p>
            <a:fld id="{24733770-D5FB-4693-802B-F806DBF14E85}" type="datetimeFigureOut">
              <a:rPr lang="en-US" smtClean="0"/>
              <a:t>1/5/2026</a:t>
            </a:fld>
            <a:endParaRPr lang="en-US"/>
          </a:p>
        </p:txBody>
      </p:sp>
      <p:sp>
        <p:nvSpPr>
          <p:cNvPr id="5" name="Footer Placeholder 4">
            <a:extLst>
              <a:ext uri="{FF2B5EF4-FFF2-40B4-BE49-F238E27FC236}">
                <a16:creationId xmlns:a16="http://schemas.microsoft.com/office/drawing/2014/main" id="{CC995C88-F98A-E81E-BC12-7D76354D4E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27A802-FE64-AD24-01A2-381CC98B2609}"/>
              </a:ext>
            </a:extLst>
          </p:cNvPr>
          <p:cNvSpPr>
            <a:spLocks noGrp="1"/>
          </p:cNvSpPr>
          <p:nvPr>
            <p:ph type="sldNum" sz="quarter" idx="12"/>
          </p:nvPr>
        </p:nvSpPr>
        <p:spPr/>
        <p:txBody>
          <a:bodyPr/>
          <a:lstStyle/>
          <a:p>
            <a:fld id="{BFF2E57D-127D-4FDE-AD4F-AA217A4B3142}" type="slidenum">
              <a:rPr lang="en-US" smtClean="0"/>
              <a:t>‹#›</a:t>
            </a:fld>
            <a:endParaRPr lang="en-US"/>
          </a:p>
        </p:txBody>
      </p:sp>
    </p:spTree>
    <p:extLst>
      <p:ext uri="{BB962C8B-B14F-4D97-AF65-F5344CB8AC3E}">
        <p14:creationId xmlns:p14="http://schemas.microsoft.com/office/powerpoint/2010/main" val="21514189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ED148-C24F-E85F-8026-8D6240BF7EF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A66A748-38E2-F86E-628C-924AEF2DEB5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750CA6F-A7CF-3D95-EA11-B130DAE32822}"/>
              </a:ext>
            </a:extLst>
          </p:cNvPr>
          <p:cNvSpPr>
            <a:spLocks noGrp="1"/>
          </p:cNvSpPr>
          <p:nvPr>
            <p:ph type="dt" sz="half" idx="10"/>
          </p:nvPr>
        </p:nvSpPr>
        <p:spPr/>
        <p:txBody>
          <a:bodyPr/>
          <a:lstStyle/>
          <a:p>
            <a:fld id="{24733770-D5FB-4693-802B-F806DBF14E85}" type="datetimeFigureOut">
              <a:rPr lang="en-US" smtClean="0"/>
              <a:t>1/5/2026</a:t>
            </a:fld>
            <a:endParaRPr lang="en-US"/>
          </a:p>
        </p:txBody>
      </p:sp>
      <p:sp>
        <p:nvSpPr>
          <p:cNvPr id="5" name="Footer Placeholder 4">
            <a:extLst>
              <a:ext uri="{FF2B5EF4-FFF2-40B4-BE49-F238E27FC236}">
                <a16:creationId xmlns:a16="http://schemas.microsoft.com/office/drawing/2014/main" id="{64772042-DFB8-EC0C-C401-D471F3C701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47C3C7-BD34-8ADF-064B-CEBAAF5499F7}"/>
              </a:ext>
            </a:extLst>
          </p:cNvPr>
          <p:cNvSpPr>
            <a:spLocks noGrp="1"/>
          </p:cNvSpPr>
          <p:nvPr>
            <p:ph type="sldNum" sz="quarter" idx="12"/>
          </p:nvPr>
        </p:nvSpPr>
        <p:spPr/>
        <p:txBody>
          <a:bodyPr/>
          <a:lstStyle/>
          <a:p>
            <a:fld id="{BFF2E57D-127D-4FDE-AD4F-AA217A4B3142}" type="slidenum">
              <a:rPr lang="en-US" smtClean="0"/>
              <a:t>‹#›</a:t>
            </a:fld>
            <a:endParaRPr lang="en-US"/>
          </a:p>
        </p:txBody>
      </p:sp>
    </p:spTree>
    <p:extLst>
      <p:ext uri="{BB962C8B-B14F-4D97-AF65-F5344CB8AC3E}">
        <p14:creationId xmlns:p14="http://schemas.microsoft.com/office/powerpoint/2010/main" val="35357243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C8923-A811-2A84-37E4-F3EFAA97EF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5D55A6C-C8DD-7C7D-507B-20682CEFBBE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AD69662-B5D1-D164-C502-6A854F74D9F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B42A86-082B-E4EA-8E65-513868EF8E47}"/>
              </a:ext>
            </a:extLst>
          </p:cNvPr>
          <p:cNvSpPr>
            <a:spLocks noGrp="1"/>
          </p:cNvSpPr>
          <p:nvPr>
            <p:ph type="dt" sz="half" idx="10"/>
          </p:nvPr>
        </p:nvSpPr>
        <p:spPr/>
        <p:txBody>
          <a:bodyPr/>
          <a:lstStyle/>
          <a:p>
            <a:fld id="{24733770-D5FB-4693-802B-F806DBF14E85}" type="datetimeFigureOut">
              <a:rPr lang="en-US" smtClean="0"/>
              <a:t>1/5/2026</a:t>
            </a:fld>
            <a:endParaRPr lang="en-US"/>
          </a:p>
        </p:txBody>
      </p:sp>
      <p:sp>
        <p:nvSpPr>
          <p:cNvPr id="6" name="Footer Placeholder 5">
            <a:extLst>
              <a:ext uri="{FF2B5EF4-FFF2-40B4-BE49-F238E27FC236}">
                <a16:creationId xmlns:a16="http://schemas.microsoft.com/office/drawing/2014/main" id="{67E3461B-98D3-E26F-141D-DCE062CC05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94AA9F0-DAD9-1E52-1225-2E424B129D47}"/>
              </a:ext>
            </a:extLst>
          </p:cNvPr>
          <p:cNvSpPr>
            <a:spLocks noGrp="1"/>
          </p:cNvSpPr>
          <p:nvPr>
            <p:ph type="sldNum" sz="quarter" idx="12"/>
          </p:nvPr>
        </p:nvSpPr>
        <p:spPr/>
        <p:txBody>
          <a:bodyPr/>
          <a:lstStyle/>
          <a:p>
            <a:fld id="{BFF2E57D-127D-4FDE-AD4F-AA217A4B3142}" type="slidenum">
              <a:rPr lang="en-US" smtClean="0"/>
              <a:t>‹#›</a:t>
            </a:fld>
            <a:endParaRPr lang="en-US"/>
          </a:p>
        </p:txBody>
      </p:sp>
    </p:spTree>
    <p:extLst>
      <p:ext uri="{BB962C8B-B14F-4D97-AF65-F5344CB8AC3E}">
        <p14:creationId xmlns:p14="http://schemas.microsoft.com/office/powerpoint/2010/main" val="3640067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4AC1E-4BFA-2218-A0AD-52D10B2DD1E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EFF8F2B-1E6B-D245-9A56-215DBA29A5E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7F5B1CF-0245-D813-FD95-CE076DB2E2A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1565BFD-DE30-148C-A561-96C869EF96F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C393D79-0192-0FAE-6712-A9384649EA9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64947E7-63A5-9DA7-3F1C-437E6342B0B8}"/>
              </a:ext>
            </a:extLst>
          </p:cNvPr>
          <p:cNvSpPr>
            <a:spLocks noGrp="1"/>
          </p:cNvSpPr>
          <p:nvPr>
            <p:ph type="dt" sz="half" idx="10"/>
          </p:nvPr>
        </p:nvSpPr>
        <p:spPr/>
        <p:txBody>
          <a:bodyPr/>
          <a:lstStyle/>
          <a:p>
            <a:fld id="{24733770-D5FB-4693-802B-F806DBF14E85}" type="datetimeFigureOut">
              <a:rPr lang="en-US" smtClean="0"/>
              <a:t>1/5/2026</a:t>
            </a:fld>
            <a:endParaRPr lang="en-US"/>
          </a:p>
        </p:txBody>
      </p:sp>
      <p:sp>
        <p:nvSpPr>
          <p:cNvPr id="8" name="Footer Placeholder 7">
            <a:extLst>
              <a:ext uri="{FF2B5EF4-FFF2-40B4-BE49-F238E27FC236}">
                <a16:creationId xmlns:a16="http://schemas.microsoft.com/office/drawing/2014/main" id="{F2C103FA-4AEC-A51A-7531-282A6FA4A35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F471F06-C864-73A2-26C7-EA3C2FB2CEB1}"/>
              </a:ext>
            </a:extLst>
          </p:cNvPr>
          <p:cNvSpPr>
            <a:spLocks noGrp="1"/>
          </p:cNvSpPr>
          <p:nvPr>
            <p:ph type="sldNum" sz="quarter" idx="12"/>
          </p:nvPr>
        </p:nvSpPr>
        <p:spPr/>
        <p:txBody>
          <a:bodyPr/>
          <a:lstStyle/>
          <a:p>
            <a:fld id="{BFF2E57D-127D-4FDE-AD4F-AA217A4B3142}" type="slidenum">
              <a:rPr lang="en-US" smtClean="0"/>
              <a:t>‹#›</a:t>
            </a:fld>
            <a:endParaRPr lang="en-US"/>
          </a:p>
        </p:txBody>
      </p:sp>
    </p:spTree>
    <p:extLst>
      <p:ext uri="{BB962C8B-B14F-4D97-AF65-F5344CB8AC3E}">
        <p14:creationId xmlns:p14="http://schemas.microsoft.com/office/powerpoint/2010/main" val="20455142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267FE-2645-064D-5004-97B5974907F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1BC9B3C-C153-05BC-8CE2-2865D1983E77}"/>
              </a:ext>
            </a:extLst>
          </p:cNvPr>
          <p:cNvSpPr>
            <a:spLocks noGrp="1"/>
          </p:cNvSpPr>
          <p:nvPr>
            <p:ph type="dt" sz="half" idx="10"/>
          </p:nvPr>
        </p:nvSpPr>
        <p:spPr/>
        <p:txBody>
          <a:bodyPr/>
          <a:lstStyle/>
          <a:p>
            <a:fld id="{24733770-D5FB-4693-802B-F806DBF14E85}" type="datetimeFigureOut">
              <a:rPr lang="en-US" smtClean="0"/>
              <a:t>1/5/2026</a:t>
            </a:fld>
            <a:endParaRPr lang="en-US"/>
          </a:p>
        </p:txBody>
      </p:sp>
      <p:sp>
        <p:nvSpPr>
          <p:cNvPr id="4" name="Footer Placeholder 3">
            <a:extLst>
              <a:ext uri="{FF2B5EF4-FFF2-40B4-BE49-F238E27FC236}">
                <a16:creationId xmlns:a16="http://schemas.microsoft.com/office/drawing/2014/main" id="{3C853B0E-DD57-F9DE-D1D6-B59A1D587EA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16510D-8951-BBC7-F9A4-3B91AD2F568B}"/>
              </a:ext>
            </a:extLst>
          </p:cNvPr>
          <p:cNvSpPr>
            <a:spLocks noGrp="1"/>
          </p:cNvSpPr>
          <p:nvPr>
            <p:ph type="sldNum" sz="quarter" idx="12"/>
          </p:nvPr>
        </p:nvSpPr>
        <p:spPr/>
        <p:txBody>
          <a:bodyPr/>
          <a:lstStyle/>
          <a:p>
            <a:fld id="{BFF2E57D-127D-4FDE-AD4F-AA217A4B3142}" type="slidenum">
              <a:rPr lang="en-US" smtClean="0"/>
              <a:t>‹#›</a:t>
            </a:fld>
            <a:endParaRPr lang="en-US"/>
          </a:p>
        </p:txBody>
      </p:sp>
    </p:spTree>
    <p:extLst>
      <p:ext uri="{BB962C8B-B14F-4D97-AF65-F5344CB8AC3E}">
        <p14:creationId xmlns:p14="http://schemas.microsoft.com/office/powerpoint/2010/main" val="7644371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2E10E8D-E8C4-65F0-3D33-75B51E35A1D4}"/>
              </a:ext>
            </a:extLst>
          </p:cNvPr>
          <p:cNvSpPr>
            <a:spLocks noGrp="1"/>
          </p:cNvSpPr>
          <p:nvPr>
            <p:ph type="dt" sz="half" idx="10"/>
          </p:nvPr>
        </p:nvSpPr>
        <p:spPr/>
        <p:txBody>
          <a:bodyPr/>
          <a:lstStyle/>
          <a:p>
            <a:fld id="{24733770-D5FB-4693-802B-F806DBF14E85}" type="datetimeFigureOut">
              <a:rPr lang="en-US" smtClean="0"/>
              <a:t>1/5/2026</a:t>
            </a:fld>
            <a:endParaRPr lang="en-US"/>
          </a:p>
        </p:txBody>
      </p:sp>
      <p:sp>
        <p:nvSpPr>
          <p:cNvPr id="3" name="Footer Placeholder 2">
            <a:extLst>
              <a:ext uri="{FF2B5EF4-FFF2-40B4-BE49-F238E27FC236}">
                <a16:creationId xmlns:a16="http://schemas.microsoft.com/office/drawing/2014/main" id="{AD96AC7C-5BBA-9C1F-A0FC-F6F6216A6DE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213B846-3974-6043-6C55-1C7A50E1AB09}"/>
              </a:ext>
            </a:extLst>
          </p:cNvPr>
          <p:cNvSpPr>
            <a:spLocks noGrp="1"/>
          </p:cNvSpPr>
          <p:nvPr>
            <p:ph type="sldNum" sz="quarter" idx="12"/>
          </p:nvPr>
        </p:nvSpPr>
        <p:spPr/>
        <p:txBody>
          <a:bodyPr/>
          <a:lstStyle/>
          <a:p>
            <a:fld id="{BFF2E57D-127D-4FDE-AD4F-AA217A4B3142}" type="slidenum">
              <a:rPr lang="en-US" smtClean="0"/>
              <a:t>‹#›</a:t>
            </a:fld>
            <a:endParaRPr lang="en-US"/>
          </a:p>
        </p:txBody>
      </p:sp>
    </p:spTree>
    <p:extLst>
      <p:ext uri="{BB962C8B-B14F-4D97-AF65-F5344CB8AC3E}">
        <p14:creationId xmlns:p14="http://schemas.microsoft.com/office/powerpoint/2010/main" val="37703822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9CDDD-0912-A963-856B-FCDDF45FD2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231AAA0-6243-E3BC-D906-FB144AD7B3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DBAB66A-CDBF-7EF3-A3A8-C9AC438A76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8871B8-9602-1DC7-52AD-819A65AEE141}"/>
              </a:ext>
            </a:extLst>
          </p:cNvPr>
          <p:cNvSpPr>
            <a:spLocks noGrp="1"/>
          </p:cNvSpPr>
          <p:nvPr>
            <p:ph type="dt" sz="half" idx="10"/>
          </p:nvPr>
        </p:nvSpPr>
        <p:spPr/>
        <p:txBody>
          <a:bodyPr/>
          <a:lstStyle/>
          <a:p>
            <a:fld id="{24733770-D5FB-4693-802B-F806DBF14E85}" type="datetimeFigureOut">
              <a:rPr lang="en-US" smtClean="0"/>
              <a:t>1/5/2026</a:t>
            </a:fld>
            <a:endParaRPr lang="en-US"/>
          </a:p>
        </p:txBody>
      </p:sp>
      <p:sp>
        <p:nvSpPr>
          <p:cNvPr id="6" name="Footer Placeholder 5">
            <a:extLst>
              <a:ext uri="{FF2B5EF4-FFF2-40B4-BE49-F238E27FC236}">
                <a16:creationId xmlns:a16="http://schemas.microsoft.com/office/drawing/2014/main" id="{1EF50A31-AA31-7829-96A0-011961983D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8EBEB0-481D-44DB-32CE-C897C995E468}"/>
              </a:ext>
            </a:extLst>
          </p:cNvPr>
          <p:cNvSpPr>
            <a:spLocks noGrp="1"/>
          </p:cNvSpPr>
          <p:nvPr>
            <p:ph type="sldNum" sz="quarter" idx="12"/>
          </p:nvPr>
        </p:nvSpPr>
        <p:spPr/>
        <p:txBody>
          <a:bodyPr/>
          <a:lstStyle/>
          <a:p>
            <a:fld id="{BFF2E57D-127D-4FDE-AD4F-AA217A4B3142}" type="slidenum">
              <a:rPr lang="en-US" smtClean="0"/>
              <a:t>‹#›</a:t>
            </a:fld>
            <a:endParaRPr lang="en-US"/>
          </a:p>
        </p:txBody>
      </p:sp>
    </p:spTree>
    <p:extLst>
      <p:ext uri="{BB962C8B-B14F-4D97-AF65-F5344CB8AC3E}">
        <p14:creationId xmlns:p14="http://schemas.microsoft.com/office/powerpoint/2010/main" val="3443554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85CBC-9F3A-7DBA-E9BA-1F55FCDA5A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274B4C9-56B4-D16B-A694-80ED67DE38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CE3248B-D0D5-CB53-E7B3-61318A824A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DE5539-E0D4-3D24-CD2A-9A6BFDA78003}"/>
              </a:ext>
            </a:extLst>
          </p:cNvPr>
          <p:cNvSpPr>
            <a:spLocks noGrp="1"/>
          </p:cNvSpPr>
          <p:nvPr>
            <p:ph type="dt" sz="half" idx="10"/>
          </p:nvPr>
        </p:nvSpPr>
        <p:spPr/>
        <p:txBody>
          <a:bodyPr/>
          <a:lstStyle/>
          <a:p>
            <a:fld id="{24733770-D5FB-4693-802B-F806DBF14E85}" type="datetimeFigureOut">
              <a:rPr lang="en-US" smtClean="0"/>
              <a:t>1/5/2026</a:t>
            </a:fld>
            <a:endParaRPr lang="en-US"/>
          </a:p>
        </p:txBody>
      </p:sp>
      <p:sp>
        <p:nvSpPr>
          <p:cNvPr id="6" name="Footer Placeholder 5">
            <a:extLst>
              <a:ext uri="{FF2B5EF4-FFF2-40B4-BE49-F238E27FC236}">
                <a16:creationId xmlns:a16="http://schemas.microsoft.com/office/drawing/2014/main" id="{B07F52F8-88D7-F6F0-0DB8-2E8FA228ED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8C2B991-30F5-BEC2-B92D-53DD9B9FE954}"/>
              </a:ext>
            </a:extLst>
          </p:cNvPr>
          <p:cNvSpPr>
            <a:spLocks noGrp="1"/>
          </p:cNvSpPr>
          <p:nvPr>
            <p:ph type="sldNum" sz="quarter" idx="12"/>
          </p:nvPr>
        </p:nvSpPr>
        <p:spPr/>
        <p:txBody>
          <a:bodyPr/>
          <a:lstStyle/>
          <a:p>
            <a:fld id="{BFF2E57D-127D-4FDE-AD4F-AA217A4B3142}" type="slidenum">
              <a:rPr lang="en-US" smtClean="0"/>
              <a:t>‹#›</a:t>
            </a:fld>
            <a:endParaRPr lang="en-US"/>
          </a:p>
        </p:txBody>
      </p:sp>
    </p:spTree>
    <p:extLst>
      <p:ext uri="{BB962C8B-B14F-4D97-AF65-F5344CB8AC3E}">
        <p14:creationId xmlns:p14="http://schemas.microsoft.com/office/powerpoint/2010/main" val="9495969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9A78A-F07B-C3CA-8A69-413B94A491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F8FF010-3462-25B2-1A22-8BA6B4AADC8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DBF2B7-E5E7-E64C-0D3F-A00789E5ADE3}"/>
              </a:ext>
            </a:extLst>
          </p:cNvPr>
          <p:cNvSpPr>
            <a:spLocks noGrp="1"/>
          </p:cNvSpPr>
          <p:nvPr>
            <p:ph type="dt" sz="half" idx="10"/>
          </p:nvPr>
        </p:nvSpPr>
        <p:spPr/>
        <p:txBody>
          <a:bodyPr/>
          <a:lstStyle/>
          <a:p>
            <a:fld id="{24733770-D5FB-4693-802B-F806DBF14E85}" type="datetimeFigureOut">
              <a:rPr lang="en-US" smtClean="0"/>
              <a:t>1/5/2026</a:t>
            </a:fld>
            <a:endParaRPr lang="en-US"/>
          </a:p>
        </p:txBody>
      </p:sp>
      <p:sp>
        <p:nvSpPr>
          <p:cNvPr id="5" name="Footer Placeholder 4">
            <a:extLst>
              <a:ext uri="{FF2B5EF4-FFF2-40B4-BE49-F238E27FC236}">
                <a16:creationId xmlns:a16="http://schemas.microsoft.com/office/drawing/2014/main" id="{6A588272-6167-C3A5-A7A0-7B37C50017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D18E2E-A2F6-C88C-A557-3F86F4C4629B}"/>
              </a:ext>
            </a:extLst>
          </p:cNvPr>
          <p:cNvSpPr>
            <a:spLocks noGrp="1"/>
          </p:cNvSpPr>
          <p:nvPr>
            <p:ph type="sldNum" sz="quarter" idx="12"/>
          </p:nvPr>
        </p:nvSpPr>
        <p:spPr/>
        <p:txBody>
          <a:bodyPr/>
          <a:lstStyle/>
          <a:p>
            <a:fld id="{BFF2E57D-127D-4FDE-AD4F-AA217A4B3142}" type="slidenum">
              <a:rPr lang="en-US" smtClean="0"/>
              <a:t>‹#›</a:t>
            </a:fld>
            <a:endParaRPr lang="en-US"/>
          </a:p>
        </p:txBody>
      </p:sp>
    </p:spTree>
    <p:extLst>
      <p:ext uri="{BB962C8B-B14F-4D97-AF65-F5344CB8AC3E}">
        <p14:creationId xmlns:p14="http://schemas.microsoft.com/office/powerpoint/2010/main" val="39057405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59A89E5-F395-C34D-6CED-B0D1516B8A5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31D3BCD-9D83-B13D-63EE-6E73C723D2E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6565DA-7D8C-1C63-632C-BA26F25D54A0}"/>
              </a:ext>
            </a:extLst>
          </p:cNvPr>
          <p:cNvSpPr>
            <a:spLocks noGrp="1"/>
          </p:cNvSpPr>
          <p:nvPr>
            <p:ph type="dt" sz="half" idx="10"/>
          </p:nvPr>
        </p:nvSpPr>
        <p:spPr/>
        <p:txBody>
          <a:bodyPr/>
          <a:lstStyle/>
          <a:p>
            <a:fld id="{24733770-D5FB-4693-802B-F806DBF14E85}" type="datetimeFigureOut">
              <a:rPr lang="en-US" smtClean="0"/>
              <a:t>1/5/2026</a:t>
            </a:fld>
            <a:endParaRPr lang="en-US"/>
          </a:p>
        </p:txBody>
      </p:sp>
      <p:sp>
        <p:nvSpPr>
          <p:cNvPr id="5" name="Footer Placeholder 4">
            <a:extLst>
              <a:ext uri="{FF2B5EF4-FFF2-40B4-BE49-F238E27FC236}">
                <a16:creationId xmlns:a16="http://schemas.microsoft.com/office/drawing/2014/main" id="{1FB75BC6-2225-A747-718D-1855BE7B1B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25FC98-99CB-F0E2-85A0-FEB0EEDFD116}"/>
              </a:ext>
            </a:extLst>
          </p:cNvPr>
          <p:cNvSpPr>
            <a:spLocks noGrp="1"/>
          </p:cNvSpPr>
          <p:nvPr>
            <p:ph type="sldNum" sz="quarter" idx="12"/>
          </p:nvPr>
        </p:nvSpPr>
        <p:spPr/>
        <p:txBody>
          <a:bodyPr/>
          <a:lstStyle/>
          <a:p>
            <a:fld id="{BFF2E57D-127D-4FDE-AD4F-AA217A4B3142}" type="slidenum">
              <a:rPr lang="en-US" smtClean="0"/>
              <a:t>‹#›</a:t>
            </a:fld>
            <a:endParaRPr lang="en-US"/>
          </a:p>
        </p:txBody>
      </p:sp>
    </p:spTree>
    <p:extLst>
      <p:ext uri="{BB962C8B-B14F-4D97-AF65-F5344CB8AC3E}">
        <p14:creationId xmlns:p14="http://schemas.microsoft.com/office/powerpoint/2010/main" val="5961001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939E2B3-CC64-9548-3F60-B212303619B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703A64F-1D5A-5AD5-96FD-184ADD6B16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75880D-8DD4-004A-D13F-C49DD6454A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733770-D5FB-4693-802B-F806DBF14E85}" type="datetimeFigureOut">
              <a:rPr lang="en-US" smtClean="0"/>
              <a:t>1/5/2026</a:t>
            </a:fld>
            <a:endParaRPr lang="en-US"/>
          </a:p>
        </p:txBody>
      </p:sp>
      <p:sp>
        <p:nvSpPr>
          <p:cNvPr id="5" name="Footer Placeholder 4">
            <a:extLst>
              <a:ext uri="{FF2B5EF4-FFF2-40B4-BE49-F238E27FC236}">
                <a16:creationId xmlns:a16="http://schemas.microsoft.com/office/drawing/2014/main" id="{F7D94974-292C-1E25-B5B7-44E96ADB3E0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684B9D2-9006-F388-2795-896ED2868EC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F2E57D-127D-4FDE-AD4F-AA217A4B3142}" type="slidenum">
              <a:rPr lang="en-US" smtClean="0"/>
              <a:t>‹#›</a:t>
            </a:fld>
            <a:endParaRPr lang="en-US"/>
          </a:p>
        </p:txBody>
      </p:sp>
    </p:spTree>
    <p:extLst>
      <p:ext uri="{BB962C8B-B14F-4D97-AF65-F5344CB8AC3E}">
        <p14:creationId xmlns:p14="http://schemas.microsoft.com/office/powerpoint/2010/main" val="2091806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chart" Target="../charts/chart3.xml"/></Relationships>
</file>

<file path=ppt/slides/_rels/slide1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chart" Target="../charts/chart9.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97C8AA8-52FE-8776-1FED-5973A44928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extBox 4">
            <a:extLst>
              <a:ext uri="{FF2B5EF4-FFF2-40B4-BE49-F238E27FC236}">
                <a16:creationId xmlns:a16="http://schemas.microsoft.com/office/drawing/2014/main" id="{CFEB9E2A-B18C-8854-C77A-7C70BA0ECA78}"/>
              </a:ext>
            </a:extLst>
          </p:cNvPr>
          <p:cNvSpPr txBox="1"/>
          <p:nvPr/>
        </p:nvSpPr>
        <p:spPr>
          <a:xfrm>
            <a:off x="600699" y="410520"/>
            <a:ext cx="11591301" cy="923330"/>
          </a:xfrm>
          <a:prstGeom prst="rect">
            <a:avLst/>
          </a:prstGeom>
          <a:noFill/>
          <a:effectLst>
            <a:outerShdw blurRad="50800" dist="38100" dir="2700000" algn="tl" rotWithShape="0">
              <a:prstClr val="black">
                <a:alpha val="40000"/>
              </a:prstClr>
            </a:outerShdw>
          </a:effectLst>
        </p:spPr>
        <p:txBody>
          <a:bodyPr wrap="square" rtlCol="0">
            <a:spAutoFit/>
          </a:bodyPr>
          <a:lstStyle/>
          <a:p>
            <a:pPr algn="ctr"/>
            <a:r>
              <a:rPr lang="en-IN" sz="5400" b="1" u="sng" dirty="0">
                <a:solidFill>
                  <a:schemeClr val="tx1">
                    <a:lumMod val="65000"/>
                    <a:lumOff val="35000"/>
                  </a:schemeClr>
                </a:solidFill>
                <a:highlight>
                  <a:srgbClr val="00FFFF"/>
                </a:highlight>
                <a:latin typeface="Times New Roman" panose="02020603050405020304" pitchFamily="18" charset="0"/>
                <a:cs typeface="Times New Roman" panose="02020603050405020304" pitchFamily="18" charset="0"/>
              </a:rPr>
              <a:t>Bank Transaction Analysis</a:t>
            </a:r>
          </a:p>
        </p:txBody>
      </p:sp>
    </p:spTree>
    <p:extLst>
      <p:ext uri="{BB962C8B-B14F-4D97-AF65-F5344CB8AC3E}">
        <p14:creationId xmlns:p14="http://schemas.microsoft.com/office/powerpoint/2010/main" val="36324907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46;p2">
            <a:extLst>
              <a:ext uri="{FF2B5EF4-FFF2-40B4-BE49-F238E27FC236}">
                <a16:creationId xmlns:a16="http://schemas.microsoft.com/office/drawing/2014/main" id="{DECAF65B-99A6-655E-21F6-39893950E3A2}"/>
              </a:ext>
            </a:extLst>
          </p:cNvPr>
          <p:cNvSpPr/>
          <p:nvPr/>
        </p:nvSpPr>
        <p:spPr>
          <a:xfrm>
            <a:off x="0" y="-15672"/>
            <a:ext cx="12192000" cy="6873671"/>
          </a:xfrm>
          <a:prstGeom prst="rect">
            <a:avLst/>
          </a:prstGeom>
          <a:solidFill>
            <a:schemeClr val="tx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4" name="Google Shape;147;p2">
            <a:extLst>
              <a:ext uri="{FF2B5EF4-FFF2-40B4-BE49-F238E27FC236}">
                <a16:creationId xmlns:a16="http://schemas.microsoft.com/office/drawing/2014/main" id="{C83F73E7-C48E-29D2-21B6-8578C259480E}"/>
              </a:ext>
            </a:extLst>
          </p:cNvPr>
          <p:cNvSpPr txBox="1">
            <a:spLocks/>
          </p:cNvSpPr>
          <p:nvPr/>
        </p:nvSpPr>
        <p:spPr>
          <a:xfrm>
            <a:off x="463044" y="421813"/>
            <a:ext cx="4188278" cy="492443"/>
          </a:xfrm>
          <a:prstGeom prst="rect">
            <a:avLst/>
          </a:prstGeom>
          <a:noFill/>
          <a:ln>
            <a:noFill/>
          </a:ln>
        </p:spPr>
        <p:txBody>
          <a:bodyPr spcFirstLastPara="1" wrap="square" lIns="0" tIns="0" rIns="0" bIns="0" anchor="t" anchorCtr="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0"/>
              </a:spcBef>
              <a:buClr>
                <a:schemeClr val="dk1"/>
              </a:buClr>
              <a:buSzPts val="1800"/>
            </a:pPr>
            <a:r>
              <a:rPr lang="en-US" sz="3200">
                <a:solidFill>
                  <a:schemeClr val="lt1"/>
                </a:solidFill>
                <a:latin typeface="Palatino Linotype" panose="02040502050505030304" pitchFamily="18" charset="0"/>
              </a:rPr>
              <a:t>Agenda</a:t>
            </a:r>
            <a:endParaRPr lang="en-US" sz="3200" dirty="0">
              <a:solidFill>
                <a:schemeClr val="lt1"/>
              </a:solidFill>
              <a:latin typeface="Palatino Linotype" panose="02040502050505030304" pitchFamily="18" charset="0"/>
            </a:endParaRPr>
          </a:p>
        </p:txBody>
      </p:sp>
      <p:sp>
        <p:nvSpPr>
          <p:cNvPr id="6" name="Google Shape;148;p2">
            <a:extLst>
              <a:ext uri="{FF2B5EF4-FFF2-40B4-BE49-F238E27FC236}">
                <a16:creationId xmlns:a16="http://schemas.microsoft.com/office/drawing/2014/main" id="{04177711-ED8D-59CA-6D07-E15490FE0098}"/>
              </a:ext>
            </a:extLst>
          </p:cNvPr>
          <p:cNvSpPr txBox="1"/>
          <p:nvPr/>
        </p:nvSpPr>
        <p:spPr>
          <a:xfrm>
            <a:off x="587693" y="1351740"/>
            <a:ext cx="7164600" cy="4154984"/>
          </a:xfrm>
          <a:prstGeom prst="rect">
            <a:avLst/>
          </a:prstGeom>
          <a:noFill/>
          <a:ln>
            <a:noFill/>
          </a:ln>
        </p:spPr>
        <p:txBody>
          <a:bodyPr spcFirstLastPara="1" wrap="square" lIns="0" tIns="0" rIns="0" bIns="0" anchor="t" anchorCtr="0">
            <a:spAutoFit/>
          </a:bodyPr>
          <a:lstStyle/>
          <a:p>
            <a:pPr marL="342900" marR="0" lvl="0" indent="-342900" algn="l" rtl="0">
              <a:lnSpc>
                <a:spcPct val="100000"/>
              </a:lnSpc>
              <a:spcBef>
                <a:spcPts val="1200"/>
              </a:spcBef>
              <a:spcAft>
                <a:spcPts val="0"/>
              </a:spcAft>
              <a:buClr>
                <a:srgbClr val="FFFFFF"/>
              </a:buClr>
              <a:buSzPts val="1800"/>
              <a:buFont typeface="Arial" panose="020B0604020202020204" pitchFamily="34" charset="0"/>
              <a:buChar char="•"/>
            </a:pPr>
            <a:r>
              <a:rPr lang="en-IN" sz="2000" dirty="0">
                <a:solidFill>
                  <a:schemeClr val="bg1"/>
                </a:solidFill>
                <a:effectLst/>
                <a:latin typeface="Palatino Linotype" panose="02040502050505030304" pitchFamily="18" charset="0"/>
                <a:cs typeface="Poppins" panose="020B0604020202020204" charset="0"/>
              </a:rPr>
              <a:t>Problem Statement</a:t>
            </a:r>
            <a:endParaRPr sz="2000" dirty="0">
              <a:solidFill>
                <a:schemeClr val="bg1"/>
              </a:solidFill>
              <a:latin typeface="Palatino Linotype" panose="02040502050505030304" pitchFamily="18" charset="0"/>
              <a:ea typeface="Poppins"/>
              <a:cs typeface="Poppins" panose="020B0604020202020204" charset="0"/>
              <a:sym typeface="Poppins"/>
            </a:endParaRPr>
          </a:p>
          <a:p>
            <a:pPr marL="342900" marR="0" lvl="0" indent="-342900" algn="l" rtl="0">
              <a:lnSpc>
                <a:spcPct val="100000"/>
              </a:lnSpc>
              <a:spcBef>
                <a:spcPts val="1200"/>
              </a:spcBef>
              <a:spcAft>
                <a:spcPts val="0"/>
              </a:spcAft>
              <a:buClr>
                <a:schemeClr val="lt1"/>
              </a:buClr>
              <a:buSzPts val="1800"/>
              <a:buFont typeface="Arial" panose="020B0604020202020204" pitchFamily="34" charset="0"/>
              <a:buChar char="•"/>
            </a:pPr>
            <a:r>
              <a:rPr lang="en-US" sz="2000" i="0" u="none" strike="noStrike" cap="none" dirty="0">
                <a:solidFill>
                  <a:schemeClr val="bg1"/>
                </a:solidFill>
                <a:latin typeface="Palatino Linotype" panose="02040502050505030304" pitchFamily="18" charset="0"/>
                <a:ea typeface="Poppins"/>
                <a:cs typeface="Poppins" panose="020B0604020202020204" charset="0"/>
                <a:sym typeface="Poppins"/>
              </a:rPr>
              <a:t>Approach</a:t>
            </a:r>
            <a:endParaRPr sz="2000" i="0" u="none" strike="noStrike" cap="none" dirty="0">
              <a:solidFill>
                <a:schemeClr val="bg1"/>
              </a:solidFill>
              <a:latin typeface="Palatino Linotype" panose="02040502050505030304" pitchFamily="18" charset="0"/>
              <a:ea typeface="Poppins"/>
              <a:cs typeface="Poppins" panose="020B0604020202020204" charset="0"/>
              <a:sym typeface="Poppins"/>
            </a:endParaRPr>
          </a:p>
          <a:p>
            <a:pPr marL="342900" marR="0" lvl="0" indent="-342900" algn="l" rtl="0">
              <a:lnSpc>
                <a:spcPct val="100000"/>
              </a:lnSpc>
              <a:spcBef>
                <a:spcPts val="1200"/>
              </a:spcBef>
              <a:spcAft>
                <a:spcPts val="0"/>
              </a:spcAft>
              <a:buClr>
                <a:schemeClr val="lt1"/>
              </a:buClr>
              <a:buSzPct val="95000"/>
              <a:buFont typeface="Arial" panose="020B0604020202020204" pitchFamily="34" charset="0"/>
              <a:buChar char="•"/>
            </a:pPr>
            <a:r>
              <a:rPr lang="en-US" sz="2000" i="0" u="none" strike="noStrike" cap="none" dirty="0">
                <a:solidFill>
                  <a:schemeClr val="bg1"/>
                </a:solidFill>
                <a:latin typeface="Palatino Linotype" panose="02040502050505030304" pitchFamily="18" charset="0"/>
                <a:ea typeface="Poppins"/>
                <a:cs typeface="Poppins"/>
                <a:sym typeface="Poppins"/>
              </a:rPr>
              <a:t>Data Overview</a:t>
            </a:r>
            <a:endParaRPr sz="2000" i="0" u="none" strike="noStrike" cap="none" dirty="0">
              <a:solidFill>
                <a:schemeClr val="bg1"/>
              </a:solidFill>
              <a:latin typeface="Palatino Linotype" panose="02040502050505030304" pitchFamily="18" charset="0"/>
              <a:ea typeface="Poppins"/>
              <a:cs typeface="Poppins"/>
              <a:sym typeface="Poppins"/>
            </a:endParaRPr>
          </a:p>
          <a:p>
            <a:pPr marL="342900" marR="0" lvl="0" indent="-342900" algn="l" rtl="0">
              <a:lnSpc>
                <a:spcPct val="100000"/>
              </a:lnSpc>
              <a:spcBef>
                <a:spcPts val="1200"/>
              </a:spcBef>
              <a:spcAft>
                <a:spcPts val="0"/>
              </a:spcAft>
              <a:buClr>
                <a:srgbClr val="FFFFFF"/>
              </a:buClr>
              <a:buSzPts val="1800"/>
              <a:buFont typeface="Arial" panose="020B0604020202020204" pitchFamily="34" charset="0"/>
              <a:buChar char="•"/>
            </a:pPr>
            <a:r>
              <a:rPr lang="en-US" sz="2000" dirty="0">
                <a:solidFill>
                  <a:schemeClr val="bg1"/>
                </a:solidFill>
                <a:latin typeface="Palatino Linotype" panose="02040502050505030304" pitchFamily="18" charset="0"/>
                <a:ea typeface="Poppins"/>
                <a:cs typeface="Poppins"/>
                <a:sym typeface="Poppins"/>
              </a:rPr>
              <a:t>Project Workflow</a:t>
            </a:r>
            <a:endParaRPr sz="2000" dirty="0">
              <a:solidFill>
                <a:schemeClr val="bg1"/>
              </a:solidFill>
              <a:latin typeface="Palatino Linotype" panose="02040502050505030304" pitchFamily="18" charset="0"/>
              <a:ea typeface="Poppins"/>
              <a:cs typeface="Poppins"/>
              <a:sym typeface="Poppins"/>
            </a:endParaRPr>
          </a:p>
          <a:p>
            <a:pPr marL="342900" marR="0" lvl="0" indent="-342900" algn="l" rtl="0">
              <a:lnSpc>
                <a:spcPct val="100000"/>
              </a:lnSpc>
              <a:spcBef>
                <a:spcPts val="1200"/>
              </a:spcBef>
              <a:spcAft>
                <a:spcPts val="0"/>
              </a:spcAft>
              <a:buClr>
                <a:schemeClr val="lt1"/>
              </a:buClr>
              <a:buSzPts val="1800"/>
              <a:buFont typeface="Arial" panose="020B0604020202020204" pitchFamily="34" charset="0"/>
              <a:buChar char="•"/>
            </a:pPr>
            <a:r>
              <a:rPr lang="en-US" sz="2000" i="0" u="none" strike="noStrike" cap="none" dirty="0">
                <a:solidFill>
                  <a:schemeClr val="bg1"/>
                </a:solidFill>
                <a:latin typeface="Palatino Linotype" panose="02040502050505030304" pitchFamily="18" charset="0"/>
                <a:ea typeface="Poppins"/>
                <a:cs typeface="Poppins"/>
                <a:sym typeface="Poppins"/>
              </a:rPr>
              <a:t>Exploratory Data Analysis</a:t>
            </a:r>
            <a:endParaRPr sz="2000" i="0" u="none" strike="noStrike" cap="none" dirty="0">
              <a:solidFill>
                <a:schemeClr val="bg1"/>
              </a:solidFill>
              <a:latin typeface="Palatino Linotype" panose="02040502050505030304" pitchFamily="18" charset="0"/>
              <a:ea typeface="Poppins"/>
              <a:cs typeface="Poppins"/>
              <a:sym typeface="Poppins"/>
            </a:endParaRPr>
          </a:p>
          <a:p>
            <a:pPr marL="342900" marR="0" lvl="0" indent="-342900" algn="l" rtl="0">
              <a:lnSpc>
                <a:spcPct val="100000"/>
              </a:lnSpc>
              <a:spcBef>
                <a:spcPts val="1200"/>
              </a:spcBef>
              <a:spcAft>
                <a:spcPts val="0"/>
              </a:spcAft>
              <a:buClr>
                <a:schemeClr val="lt1"/>
              </a:buClr>
              <a:buSzPts val="1800"/>
              <a:buFont typeface="Arial" panose="020B0604020202020204" pitchFamily="34" charset="0"/>
              <a:buChar char="•"/>
            </a:pPr>
            <a:r>
              <a:rPr lang="en-US" sz="2000" dirty="0">
                <a:solidFill>
                  <a:schemeClr val="bg1"/>
                </a:solidFill>
                <a:latin typeface="Palatino Linotype" panose="02040502050505030304" pitchFamily="18" charset="0"/>
                <a:ea typeface="Poppins"/>
                <a:cs typeface="Poppins"/>
                <a:sym typeface="Poppins"/>
              </a:rPr>
              <a:t>Key Insights </a:t>
            </a:r>
            <a:endParaRPr sz="2000" dirty="0">
              <a:solidFill>
                <a:schemeClr val="bg1"/>
              </a:solidFill>
              <a:latin typeface="Palatino Linotype" panose="02040502050505030304" pitchFamily="18" charset="0"/>
              <a:ea typeface="Poppins"/>
              <a:cs typeface="Poppins"/>
              <a:sym typeface="Poppins"/>
            </a:endParaRPr>
          </a:p>
          <a:p>
            <a:pPr marL="342900" marR="0" lvl="0" indent="-342900" algn="l" rtl="0">
              <a:lnSpc>
                <a:spcPct val="100000"/>
              </a:lnSpc>
              <a:spcBef>
                <a:spcPts val="1200"/>
              </a:spcBef>
              <a:spcAft>
                <a:spcPts val="0"/>
              </a:spcAft>
              <a:buClr>
                <a:schemeClr val="lt1"/>
              </a:buClr>
              <a:buSzPts val="1800"/>
              <a:buFont typeface="Arial" panose="020B0604020202020204" pitchFamily="34" charset="0"/>
              <a:buChar char="•"/>
            </a:pPr>
            <a:r>
              <a:rPr lang="en-US" sz="2000" i="0" u="none" strike="noStrike" cap="none" dirty="0">
                <a:solidFill>
                  <a:schemeClr val="bg1"/>
                </a:solidFill>
                <a:latin typeface="Palatino Linotype" panose="02040502050505030304" pitchFamily="18" charset="0"/>
                <a:ea typeface="Poppins"/>
                <a:cs typeface="Poppins"/>
                <a:sym typeface="Poppins"/>
              </a:rPr>
              <a:t>Dashboard Preview</a:t>
            </a:r>
          </a:p>
          <a:p>
            <a:pPr marL="342900" indent="-342900">
              <a:spcBef>
                <a:spcPts val="1200"/>
              </a:spcBef>
              <a:buClr>
                <a:schemeClr val="lt1"/>
              </a:buClr>
              <a:buSzPts val="1800"/>
              <a:buFont typeface="Arial" panose="020B0604020202020204" pitchFamily="34" charset="0"/>
              <a:buChar char="•"/>
            </a:pPr>
            <a:r>
              <a:rPr lang="en-US" sz="2000" dirty="0">
                <a:solidFill>
                  <a:schemeClr val="bg1"/>
                </a:solidFill>
                <a:latin typeface="Palatino Linotype" panose="02040502050505030304" pitchFamily="18" charset="0"/>
                <a:ea typeface="Poppins"/>
                <a:cs typeface="Poppins"/>
                <a:sym typeface="Poppins"/>
              </a:rPr>
              <a:t>Recommendation</a:t>
            </a:r>
          </a:p>
          <a:p>
            <a:pPr marR="0" lvl="0" algn="l" rtl="0">
              <a:lnSpc>
                <a:spcPct val="100000"/>
              </a:lnSpc>
              <a:spcBef>
                <a:spcPts val="1200"/>
              </a:spcBef>
              <a:spcAft>
                <a:spcPts val="0"/>
              </a:spcAft>
              <a:buClr>
                <a:schemeClr val="lt1"/>
              </a:buClr>
              <a:buSzPts val="1800"/>
            </a:pPr>
            <a:endParaRPr sz="2000" i="0" u="none" strike="noStrike" cap="none" dirty="0">
              <a:solidFill>
                <a:srgbClr val="FFFFFF"/>
              </a:solidFill>
              <a:latin typeface="Palatino Linotype" panose="02040502050505030304" pitchFamily="18" charset="0"/>
              <a:ea typeface="Poppins"/>
              <a:cs typeface="Poppins"/>
              <a:sym typeface="Poppins"/>
            </a:endParaRPr>
          </a:p>
        </p:txBody>
      </p:sp>
      <p:pic>
        <p:nvPicPr>
          <p:cNvPr id="7" name="Google Shape;149;p2">
            <a:extLst>
              <a:ext uri="{FF2B5EF4-FFF2-40B4-BE49-F238E27FC236}">
                <a16:creationId xmlns:a16="http://schemas.microsoft.com/office/drawing/2014/main" id="{0C572184-E3C9-F124-2964-F839401E83E9}"/>
              </a:ext>
            </a:extLst>
          </p:cNvPr>
          <p:cNvPicPr preferRelativeResize="0"/>
          <p:nvPr/>
        </p:nvPicPr>
        <p:blipFill rotWithShape="1">
          <a:blip r:embed="rId2">
            <a:alphaModFix/>
          </a:blip>
          <a:srcRect/>
          <a:stretch/>
        </p:blipFill>
        <p:spPr>
          <a:xfrm>
            <a:off x="8036543" y="1462165"/>
            <a:ext cx="3672184" cy="3672184"/>
          </a:xfrm>
          <a:prstGeom prst="rect">
            <a:avLst/>
          </a:prstGeom>
          <a:noFill/>
          <a:ln>
            <a:noFill/>
          </a:ln>
        </p:spPr>
      </p:pic>
    </p:spTree>
    <p:extLst>
      <p:ext uri="{BB962C8B-B14F-4D97-AF65-F5344CB8AC3E}">
        <p14:creationId xmlns:p14="http://schemas.microsoft.com/office/powerpoint/2010/main" val="19775391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C20BC-E387-E24C-BE04-77029FECF057}"/>
            </a:ext>
          </a:extLst>
        </p:cNvPr>
        <p:cNvGrpSpPr/>
        <p:nvPr/>
      </p:nvGrpSpPr>
      <p:grpSpPr>
        <a:xfrm>
          <a:off x="0" y="0"/>
          <a:ext cx="0" cy="0"/>
          <a:chOff x="0" y="0"/>
          <a:chExt cx="0" cy="0"/>
        </a:xfrm>
      </p:grpSpPr>
      <p:sp>
        <p:nvSpPr>
          <p:cNvPr id="2" name="Google Shape;146;p2">
            <a:extLst>
              <a:ext uri="{FF2B5EF4-FFF2-40B4-BE49-F238E27FC236}">
                <a16:creationId xmlns:a16="http://schemas.microsoft.com/office/drawing/2014/main" id="{C405EB47-E13F-61FA-4ADB-EB52CB4A5A25}"/>
              </a:ext>
            </a:extLst>
          </p:cNvPr>
          <p:cNvSpPr/>
          <p:nvPr/>
        </p:nvSpPr>
        <p:spPr>
          <a:xfrm>
            <a:off x="0" y="-15672"/>
            <a:ext cx="12192000" cy="6873671"/>
          </a:xfrm>
          <a:prstGeom prst="rect">
            <a:avLst/>
          </a:prstGeom>
          <a:solidFill>
            <a:schemeClr val="tx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pic>
        <p:nvPicPr>
          <p:cNvPr id="7" name="Google Shape;149;p2">
            <a:extLst>
              <a:ext uri="{FF2B5EF4-FFF2-40B4-BE49-F238E27FC236}">
                <a16:creationId xmlns:a16="http://schemas.microsoft.com/office/drawing/2014/main" id="{0A132135-E174-30DC-86EA-A4EE87079F4D}"/>
              </a:ext>
            </a:extLst>
          </p:cNvPr>
          <p:cNvPicPr preferRelativeResize="0"/>
          <p:nvPr/>
        </p:nvPicPr>
        <p:blipFill rotWithShape="1">
          <a:blip r:embed="rId2">
            <a:alphaModFix/>
          </a:blip>
          <a:srcRect/>
          <a:stretch/>
        </p:blipFill>
        <p:spPr>
          <a:xfrm>
            <a:off x="8036543" y="1462165"/>
            <a:ext cx="3672184" cy="3672184"/>
          </a:xfrm>
          <a:prstGeom prst="rect">
            <a:avLst/>
          </a:prstGeom>
          <a:noFill/>
          <a:ln>
            <a:noFill/>
          </a:ln>
        </p:spPr>
      </p:pic>
      <p:sp>
        <p:nvSpPr>
          <p:cNvPr id="3" name="Google Shape;160;p7">
            <a:extLst>
              <a:ext uri="{FF2B5EF4-FFF2-40B4-BE49-F238E27FC236}">
                <a16:creationId xmlns:a16="http://schemas.microsoft.com/office/drawing/2014/main" id="{57DFE9C4-AB9C-5C8E-72EA-39A9065E8125}"/>
              </a:ext>
            </a:extLst>
          </p:cNvPr>
          <p:cNvSpPr/>
          <p:nvPr/>
        </p:nvSpPr>
        <p:spPr>
          <a:xfrm>
            <a:off x="0" y="2547468"/>
            <a:ext cx="7222603" cy="2325473"/>
          </a:xfrm>
          <a:prstGeom prst="rect">
            <a:avLst/>
          </a:prstGeom>
          <a:solidFill>
            <a:schemeClr val="tx2">
              <a:lumMod val="75000"/>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pic>
        <p:nvPicPr>
          <p:cNvPr id="5" name="Google Shape;162;p7">
            <a:extLst>
              <a:ext uri="{FF2B5EF4-FFF2-40B4-BE49-F238E27FC236}">
                <a16:creationId xmlns:a16="http://schemas.microsoft.com/office/drawing/2014/main" id="{4E072CDD-4D25-75B6-CB15-132AECF51083}"/>
              </a:ext>
            </a:extLst>
          </p:cNvPr>
          <p:cNvPicPr preferRelativeResize="0"/>
          <p:nvPr/>
        </p:nvPicPr>
        <p:blipFill rotWithShape="1">
          <a:blip r:embed="rId3">
            <a:alphaModFix/>
          </a:blip>
          <a:srcRect/>
          <a:stretch/>
        </p:blipFill>
        <p:spPr>
          <a:xfrm>
            <a:off x="533400" y="2835734"/>
            <a:ext cx="518323" cy="518323"/>
          </a:xfrm>
          <a:prstGeom prst="rect">
            <a:avLst/>
          </a:prstGeom>
          <a:noFill/>
          <a:ln>
            <a:noFill/>
          </a:ln>
        </p:spPr>
      </p:pic>
      <p:sp>
        <p:nvSpPr>
          <p:cNvPr id="9" name="Google Shape;161;p7">
            <a:extLst>
              <a:ext uri="{FF2B5EF4-FFF2-40B4-BE49-F238E27FC236}">
                <a16:creationId xmlns:a16="http://schemas.microsoft.com/office/drawing/2014/main" id="{3512E8AD-3F45-463D-0872-153DB3D7048D}"/>
              </a:ext>
            </a:extLst>
          </p:cNvPr>
          <p:cNvSpPr txBox="1"/>
          <p:nvPr/>
        </p:nvSpPr>
        <p:spPr>
          <a:xfrm>
            <a:off x="533400" y="3704000"/>
            <a:ext cx="5057400" cy="59400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2800" b="1" dirty="0">
                <a:solidFill>
                  <a:srgbClr val="FFFFFF"/>
                </a:solidFill>
                <a:latin typeface="Palatino Linotype" panose="02040502050505030304" pitchFamily="18" charset="0"/>
                <a:ea typeface="Poppins"/>
                <a:cs typeface="Poppins"/>
                <a:sym typeface="Poppins"/>
              </a:rPr>
              <a:t>Problem Statement</a:t>
            </a:r>
            <a:endParaRPr sz="2800" b="0" i="0" u="none" strike="noStrike" cap="none" dirty="0">
              <a:solidFill>
                <a:srgbClr val="FFFFFF"/>
              </a:solidFill>
              <a:latin typeface="Palatino Linotype" panose="02040502050505030304" pitchFamily="18" charset="0"/>
              <a:ea typeface="Poppins"/>
              <a:cs typeface="Poppins"/>
              <a:sym typeface="Poppins"/>
            </a:endParaRPr>
          </a:p>
        </p:txBody>
      </p:sp>
    </p:spTree>
    <p:extLst>
      <p:ext uri="{BB962C8B-B14F-4D97-AF65-F5344CB8AC3E}">
        <p14:creationId xmlns:p14="http://schemas.microsoft.com/office/powerpoint/2010/main" val="21576892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47;p2">
            <a:extLst>
              <a:ext uri="{FF2B5EF4-FFF2-40B4-BE49-F238E27FC236}">
                <a16:creationId xmlns:a16="http://schemas.microsoft.com/office/drawing/2014/main" id="{C588085D-54F7-D15F-D7E2-3EA055F55C7C}"/>
              </a:ext>
            </a:extLst>
          </p:cNvPr>
          <p:cNvSpPr txBox="1">
            <a:spLocks/>
          </p:cNvSpPr>
          <p:nvPr/>
        </p:nvSpPr>
        <p:spPr>
          <a:xfrm>
            <a:off x="463044" y="421813"/>
            <a:ext cx="4188278" cy="49244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3200" dirty="0">
                <a:solidFill>
                  <a:schemeClr val="tx1">
                    <a:lumMod val="75000"/>
                    <a:lumOff val="25000"/>
                  </a:schemeClr>
                </a:solidFill>
                <a:effectLst/>
                <a:latin typeface="Palatino Linotype" panose="02040502050505030304" pitchFamily="18" charset="0"/>
              </a:rPr>
              <a:t>Problem Statement</a:t>
            </a:r>
            <a:endParaRPr lang="en-US" sz="3200" dirty="0">
              <a:solidFill>
                <a:schemeClr val="lt1"/>
              </a:solidFill>
              <a:latin typeface="Palatino Linotype" panose="02040502050505030304" pitchFamily="18" charset="0"/>
            </a:endParaRPr>
          </a:p>
        </p:txBody>
      </p:sp>
      <p:sp>
        <p:nvSpPr>
          <p:cNvPr id="4" name="TextBox 3">
            <a:extLst>
              <a:ext uri="{FF2B5EF4-FFF2-40B4-BE49-F238E27FC236}">
                <a16:creationId xmlns:a16="http://schemas.microsoft.com/office/drawing/2014/main" id="{8326B653-AEB9-32FC-982A-EB816531613E}"/>
              </a:ext>
            </a:extLst>
          </p:cNvPr>
          <p:cNvSpPr txBox="1"/>
          <p:nvPr/>
        </p:nvSpPr>
        <p:spPr>
          <a:xfrm>
            <a:off x="453370" y="1261640"/>
            <a:ext cx="11285260" cy="3139321"/>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Banks generate large volumes of transaction data through deposits, withdrawals, online transfers, and card payments across multiple customer segments. However, this data often remains underutilized due to the lack of integrated analysis and visualization.</a:t>
            </a:r>
          </a:p>
          <a:p>
            <a:pPr algn="just"/>
            <a:br>
              <a:rPr lang="en-US"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The absence of a centralized analytical system makes it difficult for banks to monitor transaction trends, understand customer behavior, identify high-value customers, and detect operational inefficiencies such as failed transactions.</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This project aims to perform exploratory data analysis using Excel, extract meaningful insights using SQL, and build an interactive Power BI dashboard to support data-driven decision-making in the banking domain.</a:t>
            </a:r>
          </a:p>
        </p:txBody>
      </p:sp>
    </p:spTree>
    <p:extLst>
      <p:ext uri="{BB962C8B-B14F-4D97-AF65-F5344CB8AC3E}">
        <p14:creationId xmlns:p14="http://schemas.microsoft.com/office/powerpoint/2010/main" val="25593572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30812C-0FC3-D1CE-1165-16F9FFD9D4B6}"/>
            </a:ext>
          </a:extLst>
        </p:cNvPr>
        <p:cNvGrpSpPr/>
        <p:nvPr/>
      </p:nvGrpSpPr>
      <p:grpSpPr>
        <a:xfrm>
          <a:off x="0" y="0"/>
          <a:ext cx="0" cy="0"/>
          <a:chOff x="0" y="0"/>
          <a:chExt cx="0" cy="0"/>
        </a:xfrm>
      </p:grpSpPr>
      <p:sp>
        <p:nvSpPr>
          <p:cNvPr id="6" name="Google Shape;172;g21194ee596e_0_174">
            <a:extLst>
              <a:ext uri="{FF2B5EF4-FFF2-40B4-BE49-F238E27FC236}">
                <a16:creationId xmlns:a16="http://schemas.microsoft.com/office/drawing/2014/main" id="{DD223FAD-2397-187D-8AF9-4448780496F5}"/>
              </a:ext>
            </a:extLst>
          </p:cNvPr>
          <p:cNvSpPr txBox="1">
            <a:spLocks/>
          </p:cNvSpPr>
          <p:nvPr/>
        </p:nvSpPr>
        <p:spPr>
          <a:xfrm>
            <a:off x="635955" y="436425"/>
            <a:ext cx="5152540" cy="49244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3200" dirty="0">
                <a:solidFill>
                  <a:schemeClr val="tx1">
                    <a:lumMod val="75000"/>
                    <a:lumOff val="25000"/>
                  </a:schemeClr>
                </a:solidFill>
                <a:latin typeface="Palatino Linotype" panose="02040502050505030304" pitchFamily="18" charset="0"/>
              </a:rPr>
              <a:t>Objectives</a:t>
            </a:r>
          </a:p>
        </p:txBody>
      </p:sp>
      <p:sp>
        <p:nvSpPr>
          <p:cNvPr id="7" name="TextBox 6">
            <a:extLst>
              <a:ext uri="{FF2B5EF4-FFF2-40B4-BE49-F238E27FC236}">
                <a16:creationId xmlns:a16="http://schemas.microsoft.com/office/drawing/2014/main" id="{D0BADE89-B408-F38B-90AE-5B28385CF062}"/>
              </a:ext>
            </a:extLst>
          </p:cNvPr>
          <p:cNvSpPr txBox="1"/>
          <p:nvPr/>
        </p:nvSpPr>
        <p:spPr>
          <a:xfrm>
            <a:off x="635955" y="1220964"/>
            <a:ext cx="10119360" cy="2523768"/>
          </a:xfrm>
          <a:prstGeom prst="rect">
            <a:avLst/>
          </a:prstGeom>
          <a:noFill/>
        </p:spPr>
        <p:txBody>
          <a:bodyPr wrap="square" rtlCol="0">
            <a:spAutoFit/>
          </a:bodyPr>
          <a:lstStyle/>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analyze </a:t>
            </a:r>
            <a:r>
              <a:rPr lang="en-US" sz="2000" b="1" dirty="0">
                <a:latin typeface="Times New Roman" panose="02020603050405020304" pitchFamily="18" charset="0"/>
                <a:cs typeface="Times New Roman" panose="02020603050405020304" pitchFamily="18" charset="0"/>
              </a:rPr>
              <a:t>customer behavior</a:t>
            </a:r>
            <a:r>
              <a:rPr lang="en-US" sz="2000" dirty="0">
                <a:latin typeface="Times New Roman" panose="02020603050405020304" pitchFamily="18" charset="0"/>
                <a:cs typeface="Times New Roman" panose="02020603050405020304" pitchFamily="18" charset="0"/>
              </a:rPr>
              <a:t> based on transaction volume, frequency, and value.</a:t>
            </a:r>
          </a:p>
          <a:p>
            <a:pPr algn="just"/>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identify </a:t>
            </a:r>
            <a:r>
              <a:rPr lang="en-US" sz="2000" b="1" dirty="0">
                <a:latin typeface="Times New Roman" panose="02020603050405020304" pitchFamily="18" charset="0"/>
                <a:cs typeface="Times New Roman" panose="02020603050405020304" pitchFamily="18" charset="0"/>
              </a:rPr>
              <a:t>high-value and low-engagement customers</a:t>
            </a:r>
            <a:r>
              <a:rPr lang="en-US" sz="2000" dirty="0">
                <a:latin typeface="Times New Roman" panose="02020603050405020304" pitchFamily="18" charset="0"/>
                <a:cs typeface="Times New Roman" panose="02020603050405020304" pitchFamily="18" charset="0"/>
              </a:rPr>
              <a:t> for strategic decision-making.</a:t>
            </a:r>
          </a:p>
          <a:p>
            <a:pPr algn="just"/>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analyze </a:t>
            </a:r>
            <a:r>
              <a:rPr lang="en-US" sz="2000" b="1" dirty="0">
                <a:latin typeface="Times New Roman" panose="02020603050405020304" pitchFamily="18" charset="0"/>
                <a:cs typeface="Times New Roman" panose="02020603050405020304" pitchFamily="18" charset="0"/>
              </a:rPr>
              <a:t>failed transactions</a:t>
            </a:r>
            <a:r>
              <a:rPr lang="en-US" sz="2000" dirty="0">
                <a:latin typeface="Times New Roman" panose="02020603050405020304" pitchFamily="18" charset="0"/>
                <a:cs typeface="Times New Roman" panose="02020603050405020304" pitchFamily="18" charset="0"/>
              </a:rPr>
              <a:t> and identify operational bottlenecks.</a:t>
            </a:r>
          </a:p>
          <a:p>
            <a:pPr algn="just"/>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analyze </a:t>
            </a:r>
            <a:r>
              <a:rPr lang="en-US" sz="2000" b="1" dirty="0">
                <a:latin typeface="Times New Roman" panose="02020603050405020304" pitchFamily="18" charset="0"/>
                <a:cs typeface="Times New Roman" panose="02020603050405020304" pitchFamily="18" charset="0"/>
              </a:rPr>
              <a:t>failed transactions</a:t>
            </a:r>
            <a:r>
              <a:rPr lang="en-US" sz="2000" dirty="0">
                <a:latin typeface="Times New Roman" panose="02020603050405020304" pitchFamily="18" charset="0"/>
                <a:cs typeface="Times New Roman" panose="02020603050405020304" pitchFamily="18" charset="0"/>
              </a:rPr>
              <a:t> and identify operational bottlenecks.</a:t>
            </a:r>
          </a:p>
          <a:p>
            <a:pPr marL="342900" indent="-342900" algn="just">
              <a:buFont typeface="Arial" panose="020B0604020202020204" pitchFamily="34" charset="0"/>
              <a:buChar char="•"/>
            </a:pPr>
            <a:endParaRPr lang="en-US" sz="1800" dirty="0">
              <a:latin typeface="Palatino Linotype" panose="02040502050505030304" pitchFamily="18" charset="0"/>
              <a:cs typeface="Times New Roman" panose="02020603050405020304" pitchFamily="18" charset="0"/>
            </a:endParaRPr>
          </a:p>
        </p:txBody>
      </p:sp>
    </p:spTree>
    <p:extLst>
      <p:ext uri="{BB962C8B-B14F-4D97-AF65-F5344CB8AC3E}">
        <p14:creationId xmlns:p14="http://schemas.microsoft.com/office/powerpoint/2010/main" val="27484517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77ADF-EBE4-F61D-2D2C-FD2A245E12A0}"/>
            </a:ext>
          </a:extLst>
        </p:cNvPr>
        <p:cNvGrpSpPr/>
        <p:nvPr/>
      </p:nvGrpSpPr>
      <p:grpSpPr>
        <a:xfrm>
          <a:off x="0" y="0"/>
          <a:ext cx="0" cy="0"/>
          <a:chOff x="0" y="0"/>
          <a:chExt cx="0" cy="0"/>
        </a:xfrm>
      </p:grpSpPr>
      <p:sp>
        <p:nvSpPr>
          <p:cNvPr id="2" name="Google Shape;146;p2">
            <a:extLst>
              <a:ext uri="{FF2B5EF4-FFF2-40B4-BE49-F238E27FC236}">
                <a16:creationId xmlns:a16="http://schemas.microsoft.com/office/drawing/2014/main" id="{6A8C3DE3-87FC-D121-692F-78DF04DBF94B}"/>
              </a:ext>
            </a:extLst>
          </p:cNvPr>
          <p:cNvSpPr/>
          <p:nvPr/>
        </p:nvSpPr>
        <p:spPr>
          <a:xfrm>
            <a:off x="0" y="-15672"/>
            <a:ext cx="12192000" cy="6873671"/>
          </a:xfrm>
          <a:prstGeom prst="rect">
            <a:avLst/>
          </a:prstGeom>
          <a:solidFill>
            <a:schemeClr val="tx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pic>
        <p:nvPicPr>
          <p:cNvPr id="7" name="Google Shape;149;p2">
            <a:extLst>
              <a:ext uri="{FF2B5EF4-FFF2-40B4-BE49-F238E27FC236}">
                <a16:creationId xmlns:a16="http://schemas.microsoft.com/office/drawing/2014/main" id="{C379D622-2252-1971-F56A-54F7075F6502}"/>
              </a:ext>
            </a:extLst>
          </p:cNvPr>
          <p:cNvPicPr preferRelativeResize="0"/>
          <p:nvPr/>
        </p:nvPicPr>
        <p:blipFill rotWithShape="1">
          <a:blip r:embed="rId2">
            <a:alphaModFix/>
          </a:blip>
          <a:srcRect/>
          <a:stretch/>
        </p:blipFill>
        <p:spPr>
          <a:xfrm>
            <a:off x="8036543" y="1462165"/>
            <a:ext cx="3672184" cy="3672184"/>
          </a:xfrm>
          <a:prstGeom prst="rect">
            <a:avLst/>
          </a:prstGeom>
          <a:noFill/>
          <a:ln>
            <a:noFill/>
          </a:ln>
        </p:spPr>
      </p:pic>
      <p:sp>
        <p:nvSpPr>
          <p:cNvPr id="3" name="Google Shape;160;p7">
            <a:extLst>
              <a:ext uri="{FF2B5EF4-FFF2-40B4-BE49-F238E27FC236}">
                <a16:creationId xmlns:a16="http://schemas.microsoft.com/office/drawing/2014/main" id="{079721AF-43F0-7C9E-A721-AD5F542C0BA1}"/>
              </a:ext>
            </a:extLst>
          </p:cNvPr>
          <p:cNvSpPr/>
          <p:nvPr/>
        </p:nvSpPr>
        <p:spPr>
          <a:xfrm>
            <a:off x="0" y="2547468"/>
            <a:ext cx="7222603" cy="2325473"/>
          </a:xfrm>
          <a:prstGeom prst="rect">
            <a:avLst/>
          </a:prstGeom>
          <a:solidFill>
            <a:schemeClr val="tx2">
              <a:lumMod val="75000"/>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pic>
        <p:nvPicPr>
          <p:cNvPr id="5" name="Google Shape;162;p7">
            <a:extLst>
              <a:ext uri="{FF2B5EF4-FFF2-40B4-BE49-F238E27FC236}">
                <a16:creationId xmlns:a16="http://schemas.microsoft.com/office/drawing/2014/main" id="{73E8B8EF-71F9-3A3E-B776-F0E76FDD5DBD}"/>
              </a:ext>
            </a:extLst>
          </p:cNvPr>
          <p:cNvPicPr preferRelativeResize="0"/>
          <p:nvPr/>
        </p:nvPicPr>
        <p:blipFill rotWithShape="1">
          <a:blip r:embed="rId3">
            <a:alphaModFix/>
          </a:blip>
          <a:srcRect/>
          <a:stretch/>
        </p:blipFill>
        <p:spPr>
          <a:xfrm>
            <a:off x="533400" y="2835734"/>
            <a:ext cx="518323" cy="518323"/>
          </a:xfrm>
          <a:prstGeom prst="rect">
            <a:avLst/>
          </a:prstGeom>
          <a:noFill/>
          <a:ln>
            <a:noFill/>
          </a:ln>
        </p:spPr>
      </p:pic>
      <p:sp>
        <p:nvSpPr>
          <p:cNvPr id="4" name="Google Shape;161;p7">
            <a:extLst>
              <a:ext uri="{FF2B5EF4-FFF2-40B4-BE49-F238E27FC236}">
                <a16:creationId xmlns:a16="http://schemas.microsoft.com/office/drawing/2014/main" id="{F4BEBC37-9363-21A7-3B04-89B209D24E95}"/>
              </a:ext>
            </a:extLst>
          </p:cNvPr>
          <p:cNvSpPr txBox="1"/>
          <p:nvPr/>
        </p:nvSpPr>
        <p:spPr>
          <a:xfrm>
            <a:off x="483273" y="3642323"/>
            <a:ext cx="5057400" cy="66787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3200" b="1" i="0" u="none" strike="noStrike" cap="none" dirty="0">
                <a:solidFill>
                  <a:srgbClr val="FFFFFF"/>
                </a:solidFill>
                <a:latin typeface="Palatino Linotype" panose="02040502050505030304" pitchFamily="18" charset="0"/>
                <a:ea typeface="Poppins"/>
                <a:cs typeface="Poppins"/>
                <a:sym typeface="Poppins"/>
              </a:rPr>
              <a:t>Approach</a:t>
            </a:r>
            <a:endParaRPr sz="3200" b="0" i="0" u="none" strike="noStrike" cap="none" dirty="0">
              <a:solidFill>
                <a:srgbClr val="FFFFFF"/>
              </a:solidFill>
              <a:latin typeface="Palatino Linotype" panose="02040502050505030304" pitchFamily="18" charset="0"/>
              <a:ea typeface="Poppins"/>
              <a:cs typeface="Poppins"/>
              <a:sym typeface="Poppins"/>
            </a:endParaRPr>
          </a:p>
        </p:txBody>
      </p:sp>
    </p:spTree>
    <p:extLst>
      <p:ext uri="{BB962C8B-B14F-4D97-AF65-F5344CB8AC3E}">
        <p14:creationId xmlns:p14="http://schemas.microsoft.com/office/powerpoint/2010/main" val="14632473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47;p2">
            <a:extLst>
              <a:ext uri="{FF2B5EF4-FFF2-40B4-BE49-F238E27FC236}">
                <a16:creationId xmlns:a16="http://schemas.microsoft.com/office/drawing/2014/main" id="{7BA06E29-6388-23F2-E96B-D976D25F3320}"/>
              </a:ext>
            </a:extLst>
          </p:cNvPr>
          <p:cNvSpPr txBox="1">
            <a:spLocks/>
          </p:cNvSpPr>
          <p:nvPr/>
        </p:nvSpPr>
        <p:spPr>
          <a:xfrm>
            <a:off x="463043" y="421813"/>
            <a:ext cx="7928481" cy="49244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3200" dirty="0">
                <a:solidFill>
                  <a:schemeClr val="tx1">
                    <a:lumMod val="75000"/>
                    <a:lumOff val="25000"/>
                  </a:schemeClr>
                </a:solidFill>
                <a:effectLst/>
                <a:latin typeface="Palatino Linotype" panose="02040502050505030304" pitchFamily="18" charset="0"/>
              </a:rPr>
              <a:t>Approach – Three phase solution</a:t>
            </a:r>
            <a:endParaRPr lang="en-US" sz="3200" dirty="0">
              <a:solidFill>
                <a:schemeClr val="tx1">
                  <a:lumMod val="75000"/>
                  <a:lumOff val="25000"/>
                </a:schemeClr>
              </a:solidFill>
              <a:latin typeface="Palatino Linotype" panose="02040502050505030304" pitchFamily="18" charset="0"/>
            </a:endParaRPr>
          </a:p>
        </p:txBody>
      </p:sp>
      <p:sp>
        <p:nvSpPr>
          <p:cNvPr id="3" name="Rectangle: Rounded Corners 2">
            <a:extLst>
              <a:ext uri="{FF2B5EF4-FFF2-40B4-BE49-F238E27FC236}">
                <a16:creationId xmlns:a16="http://schemas.microsoft.com/office/drawing/2014/main" id="{66740799-8FB8-72FE-911F-17D56AE6C177}"/>
              </a:ext>
            </a:extLst>
          </p:cNvPr>
          <p:cNvSpPr/>
          <p:nvPr/>
        </p:nvSpPr>
        <p:spPr>
          <a:xfrm>
            <a:off x="683214" y="1186502"/>
            <a:ext cx="3869121" cy="1537033"/>
          </a:xfrm>
          <a:prstGeom prst="roundRect">
            <a:avLst/>
          </a:prstGeom>
          <a:gradFill>
            <a:gsLst>
              <a:gs pos="0">
                <a:schemeClr val="accent1">
                  <a:lumMod val="5000"/>
                  <a:lumOff val="95000"/>
                </a:schemeClr>
              </a:gs>
              <a:gs pos="100000">
                <a:schemeClr val="accent1">
                  <a:lumMod val="30000"/>
                  <a:lumOff val="70000"/>
                  <a:alpha val="28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tx1">
                    <a:lumMod val="65000"/>
                    <a:lumOff val="35000"/>
                  </a:schemeClr>
                </a:solidFill>
                <a:latin typeface="Palatino Linotype" panose="02040502050505030304" pitchFamily="18" charset="0"/>
                <a:cs typeface="Poppins" panose="020B0604020202020204" charset="0"/>
              </a:rPr>
              <a:t>Exploratory Data Analysis</a:t>
            </a:r>
          </a:p>
        </p:txBody>
      </p:sp>
      <p:sp>
        <p:nvSpPr>
          <p:cNvPr id="6" name="Arrow: Down 5">
            <a:extLst>
              <a:ext uri="{FF2B5EF4-FFF2-40B4-BE49-F238E27FC236}">
                <a16:creationId xmlns:a16="http://schemas.microsoft.com/office/drawing/2014/main" id="{3A35AA12-9AD4-EA7D-78D4-7CC4C84B6DB6}"/>
              </a:ext>
            </a:extLst>
          </p:cNvPr>
          <p:cNvSpPr/>
          <p:nvPr/>
        </p:nvSpPr>
        <p:spPr>
          <a:xfrm rot="16200000">
            <a:off x="5240226" y="1505671"/>
            <a:ext cx="496111" cy="879977"/>
          </a:xfrm>
          <a:prstGeom prst="downArrow">
            <a:avLst/>
          </a:prstGeom>
          <a:solidFill>
            <a:schemeClr val="accent1">
              <a:lumMod val="20000"/>
              <a:lumOff val="8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F27E78EC-02AF-3A1B-5F77-F39EC2AB5D28}"/>
              </a:ext>
            </a:extLst>
          </p:cNvPr>
          <p:cNvSpPr txBox="1"/>
          <p:nvPr/>
        </p:nvSpPr>
        <p:spPr>
          <a:xfrm>
            <a:off x="6991781" y="1469460"/>
            <a:ext cx="3745148" cy="646331"/>
          </a:xfrm>
          <a:prstGeom prst="rect">
            <a:avLst/>
          </a:prstGeom>
          <a:noFill/>
        </p:spPr>
        <p:txBody>
          <a:bodyPr wrap="square" rtlCol="0">
            <a:spAutoFit/>
          </a:bodyPr>
          <a:lstStyle/>
          <a:p>
            <a:r>
              <a:rPr lang="en-GB" sz="1800" dirty="0">
                <a:solidFill>
                  <a:schemeClr val="tx1">
                    <a:lumMod val="65000"/>
                    <a:lumOff val="35000"/>
                  </a:schemeClr>
                </a:solidFill>
                <a:latin typeface="Palatino Linotype" panose="02040502050505030304" pitchFamily="18" charset="0"/>
                <a:cs typeface="Times New Roman" panose="02020603050405020304" pitchFamily="18" charset="0"/>
              </a:rPr>
              <a:t>1. Deep dive into </a:t>
            </a:r>
            <a:r>
              <a:rPr lang="en-GB" dirty="0">
                <a:solidFill>
                  <a:schemeClr val="tx1">
                    <a:lumMod val="65000"/>
                    <a:lumOff val="35000"/>
                  </a:schemeClr>
                </a:solidFill>
                <a:latin typeface="Palatino Linotype" panose="02040502050505030304" pitchFamily="18" charset="0"/>
                <a:cs typeface="Times New Roman" panose="02020603050405020304" pitchFamily="18" charset="0"/>
              </a:rPr>
              <a:t>Customer, Loan &amp; Transactions</a:t>
            </a:r>
            <a:r>
              <a:rPr lang="en-GB" sz="1800" dirty="0">
                <a:solidFill>
                  <a:schemeClr val="tx1">
                    <a:lumMod val="65000"/>
                    <a:lumOff val="35000"/>
                  </a:schemeClr>
                </a:solidFill>
                <a:latin typeface="Palatino Linotype" panose="02040502050505030304" pitchFamily="18" charset="0"/>
                <a:cs typeface="Times New Roman" panose="02020603050405020304" pitchFamily="18" charset="0"/>
              </a:rPr>
              <a:t> data.</a:t>
            </a:r>
            <a:endParaRPr lang="en-IN" sz="1800" dirty="0">
              <a:solidFill>
                <a:schemeClr val="tx1">
                  <a:lumMod val="65000"/>
                  <a:lumOff val="35000"/>
                </a:schemeClr>
              </a:solidFill>
              <a:latin typeface="Palatino Linotype" panose="0204050205050503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55182926-4800-9022-491A-CAA8481D25EB}"/>
              </a:ext>
            </a:extLst>
          </p:cNvPr>
          <p:cNvSpPr txBox="1"/>
          <p:nvPr/>
        </p:nvSpPr>
        <p:spPr>
          <a:xfrm>
            <a:off x="6991781" y="5081843"/>
            <a:ext cx="3745148" cy="646331"/>
          </a:xfrm>
          <a:prstGeom prst="rect">
            <a:avLst/>
          </a:prstGeom>
          <a:noFill/>
        </p:spPr>
        <p:txBody>
          <a:bodyPr wrap="square" rtlCol="0">
            <a:spAutoFit/>
          </a:bodyPr>
          <a:lstStyle/>
          <a:p>
            <a:r>
              <a:rPr lang="en-IN" sz="1800" dirty="0">
                <a:solidFill>
                  <a:schemeClr val="tx1">
                    <a:lumMod val="65000"/>
                    <a:lumOff val="35000"/>
                  </a:schemeClr>
                </a:solidFill>
                <a:latin typeface="Palatino Linotype" panose="02040502050505030304" pitchFamily="18" charset="0"/>
                <a:cs typeface="Poppins" panose="020B0604020202020204" charset="0"/>
              </a:rPr>
              <a:t>1. Build a live view for business Users to self serve insights. </a:t>
            </a:r>
          </a:p>
        </p:txBody>
      </p:sp>
      <p:sp>
        <p:nvSpPr>
          <p:cNvPr id="10" name="TextBox 9">
            <a:extLst>
              <a:ext uri="{FF2B5EF4-FFF2-40B4-BE49-F238E27FC236}">
                <a16:creationId xmlns:a16="http://schemas.microsoft.com/office/drawing/2014/main" id="{A6D2CB7E-02DC-F334-9FAE-75A6EF181EB6}"/>
              </a:ext>
            </a:extLst>
          </p:cNvPr>
          <p:cNvSpPr txBox="1"/>
          <p:nvPr/>
        </p:nvSpPr>
        <p:spPr>
          <a:xfrm>
            <a:off x="6991781" y="5789856"/>
            <a:ext cx="3745148" cy="646331"/>
          </a:xfrm>
          <a:prstGeom prst="rect">
            <a:avLst/>
          </a:prstGeom>
          <a:noFill/>
        </p:spPr>
        <p:txBody>
          <a:bodyPr wrap="square" rtlCol="0">
            <a:spAutoFit/>
          </a:bodyPr>
          <a:lstStyle/>
          <a:p>
            <a:r>
              <a:rPr lang="en-IN" sz="1600" dirty="0">
                <a:solidFill>
                  <a:schemeClr val="tx1">
                    <a:lumMod val="65000"/>
                    <a:lumOff val="35000"/>
                  </a:schemeClr>
                </a:solidFill>
                <a:latin typeface="Poppins" panose="020B0604020202020204" charset="0"/>
                <a:cs typeface="Poppins" panose="020B0604020202020204" charset="0"/>
              </a:rPr>
              <a:t>2. </a:t>
            </a:r>
            <a:r>
              <a:rPr lang="en-IN" sz="1800" dirty="0">
                <a:solidFill>
                  <a:schemeClr val="tx1">
                    <a:lumMod val="65000"/>
                    <a:lumOff val="35000"/>
                  </a:schemeClr>
                </a:solidFill>
                <a:latin typeface="Palatino Linotype" panose="02040502050505030304" pitchFamily="18" charset="0"/>
                <a:cs typeface="Poppins" panose="020B0604020202020204" charset="0"/>
              </a:rPr>
              <a:t>Enable slicing by session for dynamic view of the dashboard.</a:t>
            </a:r>
          </a:p>
        </p:txBody>
      </p:sp>
      <p:sp>
        <p:nvSpPr>
          <p:cNvPr id="11" name="TextBox 10">
            <a:extLst>
              <a:ext uri="{FF2B5EF4-FFF2-40B4-BE49-F238E27FC236}">
                <a16:creationId xmlns:a16="http://schemas.microsoft.com/office/drawing/2014/main" id="{858DD130-F08A-AAEB-DDD6-2BC2F6997F75}"/>
              </a:ext>
            </a:extLst>
          </p:cNvPr>
          <p:cNvSpPr txBox="1"/>
          <p:nvPr/>
        </p:nvSpPr>
        <p:spPr>
          <a:xfrm>
            <a:off x="6991781" y="2177473"/>
            <a:ext cx="3745148" cy="646331"/>
          </a:xfrm>
          <a:prstGeom prst="rect">
            <a:avLst/>
          </a:prstGeom>
          <a:noFill/>
        </p:spPr>
        <p:txBody>
          <a:bodyPr wrap="square" rtlCol="0">
            <a:spAutoFit/>
          </a:bodyPr>
          <a:lstStyle/>
          <a:p>
            <a:r>
              <a:rPr lang="en-GB" sz="1800" dirty="0">
                <a:solidFill>
                  <a:schemeClr val="tx1">
                    <a:lumMod val="65000"/>
                    <a:lumOff val="35000"/>
                  </a:schemeClr>
                </a:solidFill>
                <a:latin typeface="Palatino Linotype" panose="02040502050505030304" pitchFamily="18" charset="0"/>
                <a:cs typeface="Times New Roman" panose="02020603050405020304" pitchFamily="18" charset="0"/>
              </a:rPr>
              <a:t>2. Understanding of data, trends          and patterns.</a:t>
            </a:r>
            <a:endParaRPr lang="en-IN" sz="1800" dirty="0">
              <a:solidFill>
                <a:schemeClr val="tx1">
                  <a:lumMod val="65000"/>
                  <a:lumOff val="35000"/>
                </a:schemeClr>
              </a:solidFill>
              <a:latin typeface="Palatino Linotype" panose="02040502050505030304" pitchFamily="18" charset="0"/>
              <a:cs typeface="Times New Roman" panose="02020603050405020304" pitchFamily="18" charset="0"/>
            </a:endParaRPr>
          </a:p>
        </p:txBody>
      </p:sp>
      <p:sp>
        <p:nvSpPr>
          <p:cNvPr id="12" name="Rectangle: Rounded Corners 11">
            <a:extLst>
              <a:ext uri="{FF2B5EF4-FFF2-40B4-BE49-F238E27FC236}">
                <a16:creationId xmlns:a16="http://schemas.microsoft.com/office/drawing/2014/main" id="{A37CBBAC-80CA-8638-7411-4893A566806D}"/>
              </a:ext>
            </a:extLst>
          </p:cNvPr>
          <p:cNvSpPr/>
          <p:nvPr/>
        </p:nvSpPr>
        <p:spPr>
          <a:xfrm>
            <a:off x="683212" y="2995781"/>
            <a:ext cx="3869121" cy="1537033"/>
          </a:xfrm>
          <a:prstGeom prst="roundRect">
            <a:avLst/>
          </a:prstGeom>
          <a:gradFill>
            <a:gsLst>
              <a:gs pos="0">
                <a:schemeClr val="accent1">
                  <a:lumMod val="5000"/>
                  <a:lumOff val="95000"/>
                </a:schemeClr>
              </a:gs>
              <a:gs pos="100000">
                <a:schemeClr val="accent1">
                  <a:lumMod val="30000"/>
                  <a:lumOff val="70000"/>
                  <a:alpha val="28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tx1">
                    <a:lumMod val="65000"/>
                    <a:lumOff val="35000"/>
                  </a:schemeClr>
                </a:solidFill>
                <a:latin typeface="Palatino Linotype" panose="02040502050505030304" pitchFamily="18" charset="0"/>
                <a:cs typeface="Poppins" panose="020B0604020202020204" charset="0"/>
              </a:rPr>
              <a:t>SQL Query</a:t>
            </a:r>
          </a:p>
        </p:txBody>
      </p:sp>
      <p:sp>
        <p:nvSpPr>
          <p:cNvPr id="13" name="Rectangle: Rounded Corners 12">
            <a:extLst>
              <a:ext uri="{FF2B5EF4-FFF2-40B4-BE49-F238E27FC236}">
                <a16:creationId xmlns:a16="http://schemas.microsoft.com/office/drawing/2014/main" id="{83DA41CD-B548-5817-F190-64406AE9A8AC}"/>
              </a:ext>
            </a:extLst>
          </p:cNvPr>
          <p:cNvSpPr/>
          <p:nvPr/>
        </p:nvSpPr>
        <p:spPr>
          <a:xfrm>
            <a:off x="683212" y="4805060"/>
            <a:ext cx="3869121" cy="1537033"/>
          </a:xfrm>
          <a:prstGeom prst="roundRect">
            <a:avLst/>
          </a:prstGeom>
          <a:gradFill>
            <a:gsLst>
              <a:gs pos="0">
                <a:schemeClr val="accent1">
                  <a:lumMod val="5000"/>
                  <a:lumOff val="95000"/>
                </a:schemeClr>
              </a:gs>
              <a:gs pos="100000">
                <a:schemeClr val="accent1">
                  <a:lumMod val="30000"/>
                  <a:lumOff val="70000"/>
                  <a:alpha val="28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tx1">
                    <a:lumMod val="65000"/>
                    <a:lumOff val="35000"/>
                  </a:schemeClr>
                </a:solidFill>
                <a:latin typeface="Palatino Linotype" panose="02040502050505030304" pitchFamily="18" charset="0"/>
                <a:cs typeface="Poppins" panose="020B0604020202020204" charset="0"/>
              </a:rPr>
              <a:t>Interactive Dashboard in </a:t>
            </a:r>
          </a:p>
          <a:p>
            <a:pPr algn="ctr"/>
            <a:r>
              <a:rPr lang="en-IN" sz="2000" b="1" dirty="0">
                <a:solidFill>
                  <a:schemeClr val="tx1">
                    <a:lumMod val="65000"/>
                    <a:lumOff val="35000"/>
                  </a:schemeClr>
                </a:solidFill>
                <a:latin typeface="Palatino Linotype" panose="02040502050505030304" pitchFamily="18" charset="0"/>
                <a:cs typeface="Poppins" panose="020B0604020202020204" charset="0"/>
              </a:rPr>
              <a:t>Power BI</a:t>
            </a:r>
          </a:p>
        </p:txBody>
      </p:sp>
      <p:sp>
        <p:nvSpPr>
          <p:cNvPr id="14" name="Arrow: Down 13">
            <a:extLst>
              <a:ext uri="{FF2B5EF4-FFF2-40B4-BE49-F238E27FC236}">
                <a16:creationId xmlns:a16="http://schemas.microsoft.com/office/drawing/2014/main" id="{35894148-A656-F85E-18DE-CAF80CFA77CC}"/>
              </a:ext>
            </a:extLst>
          </p:cNvPr>
          <p:cNvSpPr/>
          <p:nvPr/>
        </p:nvSpPr>
        <p:spPr>
          <a:xfrm rot="16200000">
            <a:off x="5333633" y="3304943"/>
            <a:ext cx="496111" cy="879977"/>
          </a:xfrm>
          <a:prstGeom prst="downArrow">
            <a:avLst/>
          </a:prstGeom>
          <a:solidFill>
            <a:schemeClr val="accent1">
              <a:lumMod val="20000"/>
              <a:lumOff val="8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Arrow: Down 14">
            <a:extLst>
              <a:ext uri="{FF2B5EF4-FFF2-40B4-BE49-F238E27FC236}">
                <a16:creationId xmlns:a16="http://schemas.microsoft.com/office/drawing/2014/main" id="{1314C968-5620-4D2C-C9EB-19518E0CD958}"/>
              </a:ext>
            </a:extLst>
          </p:cNvPr>
          <p:cNvSpPr/>
          <p:nvPr/>
        </p:nvSpPr>
        <p:spPr>
          <a:xfrm rot="16200000">
            <a:off x="5407956" y="5213077"/>
            <a:ext cx="496111" cy="879977"/>
          </a:xfrm>
          <a:prstGeom prst="downArrow">
            <a:avLst/>
          </a:prstGeom>
          <a:solidFill>
            <a:schemeClr val="accent1">
              <a:lumMod val="20000"/>
              <a:lumOff val="8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0DB6CB15-A0C4-5B9F-EBE0-03D3684FF34E}"/>
              </a:ext>
            </a:extLst>
          </p:cNvPr>
          <p:cNvSpPr txBox="1"/>
          <p:nvPr/>
        </p:nvSpPr>
        <p:spPr>
          <a:xfrm>
            <a:off x="6991781" y="3421765"/>
            <a:ext cx="3745148" cy="646331"/>
          </a:xfrm>
          <a:prstGeom prst="rect">
            <a:avLst/>
          </a:prstGeom>
          <a:noFill/>
        </p:spPr>
        <p:txBody>
          <a:bodyPr wrap="square" rtlCol="0">
            <a:spAutoFit/>
          </a:bodyPr>
          <a:lstStyle/>
          <a:p>
            <a:r>
              <a:rPr lang="en-GB" dirty="0">
                <a:solidFill>
                  <a:schemeClr val="tx1">
                    <a:lumMod val="65000"/>
                    <a:lumOff val="35000"/>
                  </a:schemeClr>
                </a:solidFill>
                <a:latin typeface="Palatino Linotype" panose="02040502050505030304" pitchFamily="18" charset="0"/>
                <a:cs typeface="Times New Roman" panose="02020603050405020304" pitchFamily="18" charset="0"/>
              </a:rPr>
              <a:t>1. Write and Perform SQL queries for efficient data extraction.</a:t>
            </a:r>
            <a:endParaRPr lang="en-IN" sz="1800" dirty="0">
              <a:solidFill>
                <a:schemeClr val="tx1">
                  <a:lumMod val="65000"/>
                  <a:lumOff val="35000"/>
                </a:schemeClr>
              </a:solidFill>
              <a:latin typeface="Palatino Linotype" panose="02040502050505030304" pitchFamily="18" charset="0"/>
              <a:cs typeface="Times New Roman" panose="02020603050405020304" pitchFamily="18" charset="0"/>
            </a:endParaRPr>
          </a:p>
        </p:txBody>
      </p:sp>
    </p:spTree>
    <p:extLst>
      <p:ext uri="{BB962C8B-B14F-4D97-AF65-F5344CB8AC3E}">
        <p14:creationId xmlns:p14="http://schemas.microsoft.com/office/powerpoint/2010/main" val="7718594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1B5B4-8078-B8FC-65AD-5B3CC963279E}"/>
            </a:ext>
          </a:extLst>
        </p:cNvPr>
        <p:cNvGrpSpPr/>
        <p:nvPr/>
      </p:nvGrpSpPr>
      <p:grpSpPr>
        <a:xfrm>
          <a:off x="0" y="0"/>
          <a:ext cx="0" cy="0"/>
          <a:chOff x="0" y="0"/>
          <a:chExt cx="0" cy="0"/>
        </a:xfrm>
      </p:grpSpPr>
      <p:sp>
        <p:nvSpPr>
          <p:cNvPr id="2" name="Google Shape;146;p2">
            <a:extLst>
              <a:ext uri="{FF2B5EF4-FFF2-40B4-BE49-F238E27FC236}">
                <a16:creationId xmlns:a16="http://schemas.microsoft.com/office/drawing/2014/main" id="{33001E72-781D-17A0-A1C5-276B4C540FE9}"/>
              </a:ext>
            </a:extLst>
          </p:cNvPr>
          <p:cNvSpPr/>
          <p:nvPr/>
        </p:nvSpPr>
        <p:spPr>
          <a:xfrm>
            <a:off x="0" y="-15672"/>
            <a:ext cx="12192000" cy="6873671"/>
          </a:xfrm>
          <a:prstGeom prst="rect">
            <a:avLst/>
          </a:prstGeom>
          <a:solidFill>
            <a:schemeClr val="tx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pic>
        <p:nvPicPr>
          <p:cNvPr id="7" name="Google Shape;149;p2">
            <a:extLst>
              <a:ext uri="{FF2B5EF4-FFF2-40B4-BE49-F238E27FC236}">
                <a16:creationId xmlns:a16="http://schemas.microsoft.com/office/drawing/2014/main" id="{E4EF3FAC-8E77-63D8-4B61-C5F723C08BB0}"/>
              </a:ext>
            </a:extLst>
          </p:cNvPr>
          <p:cNvPicPr preferRelativeResize="0"/>
          <p:nvPr/>
        </p:nvPicPr>
        <p:blipFill rotWithShape="1">
          <a:blip r:embed="rId2">
            <a:alphaModFix/>
          </a:blip>
          <a:srcRect/>
          <a:stretch/>
        </p:blipFill>
        <p:spPr>
          <a:xfrm>
            <a:off x="8036543" y="1462165"/>
            <a:ext cx="3672184" cy="3672184"/>
          </a:xfrm>
          <a:prstGeom prst="rect">
            <a:avLst/>
          </a:prstGeom>
          <a:noFill/>
          <a:ln>
            <a:noFill/>
          </a:ln>
        </p:spPr>
      </p:pic>
      <p:sp>
        <p:nvSpPr>
          <p:cNvPr id="3" name="Google Shape;160;p7">
            <a:extLst>
              <a:ext uri="{FF2B5EF4-FFF2-40B4-BE49-F238E27FC236}">
                <a16:creationId xmlns:a16="http://schemas.microsoft.com/office/drawing/2014/main" id="{38E16AE3-C47A-3B08-E4EB-CD0C74CE5FC5}"/>
              </a:ext>
            </a:extLst>
          </p:cNvPr>
          <p:cNvSpPr/>
          <p:nvPr/>
        </p:nvSpPr>
        <p:spPr>
          <a:xfrm>
            <a:off x="0" y="2547468"/>
            <a:ext cx="7222603" cy="2325473"/>
          </a:xfrm>
          <a:prstGeom prst="rect">
            <a:avLst/>
          </a:prstGeom>
          <a:solidFill>
            <a:schemeClr val="tx2">
              <a:lumMod val="75000"/>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pic>
        <p:nvPicPr>
          <p:cNvPr id="5" name="Google Shape;162;p7">
            <a:extLst>
              <a:ext uri="{FF2B5EF4-FFF2-40B4-BE49-F238E27FC236}">
                <a16:creationId xmlns:a16="http://schemas.microsoft.com/office/drawing/2014/main" id="{C0BED3DD-F88A-6A0E-28A1-45066A09F935}"/>
              </a:ext>
            </a:extLst>
          </p:cNvPr>
          <p:cNvPicPr preferRelativeResize="0"/>
          <p:nvPr/>
        </p:nvPicPr>
        <p:blipFill rotWithShape="1">
          <a:blip r:embed="rId3">
            <a:alphaModFix/>
          </a:blip>
          <a:srcRect/>
          <a:stretch/>
        </p:blipFill>
        <p:spPr>
          <a:xfrm>
            <a:off x="533400" y="2835734"/>
            <a:ext cx="518323" cy="518323"/>
          </a:xfrm>
          <a:prstGeom prst="rect">
            <a:avLst/>
          </a:prstGeom>
          <a:noFill/>
          <a:ln>
            <a:noFill/>
          </a:ln>
        </p:spPr>
      </p:pic>
      <p:sp>
        <p:nvSpPr>
          <p:cNvPr id="6" name="Google Shape;161;p7">
            <a:extLst>
              <a:ext uri="{FF2B5EF4-FFF2-40B4-BE49-F238E27FC236}">
                <a16:creationId xmlns:a16="http://schemas.microsoft.com/office/drawing/2014/main" id="{828D7F9A-E57F-B65B-7019-677101D04D85}"/>
              </a:ext>
            </a:extLst>
          </p:cNvPr>
          <p:cNvSpPr txBox="1"/>
          <p:nvPr/>
        </p:nvSpPr>
        <p:spPr>
          <a:xfrm>
            <a:off x="533400" y="3704000"/>
            <a:ext cx="5057400" cy="66787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3200" b="1" dirty="0">
                <a:solidFill>
                  <a:srgbClr val="FFFFFF"/>
                </a:solidFill>
                <a:latin typeface="Palatino Linotype" panose="02040502050505030304" pitchFamily="18" charset="0"/>
                <a:ea typeface="Poppins"/>
                <a:cs typeface="Poppins"/>
                <a:sym typeface="Poppins"/>
              </a:rPr>
              <a:t>Project Workflow</a:t>
            </a:r>
            <a:endParaRPr sz="3200" b="0" i="0" u="none" strike="noStrike" cap="none" dirty="0">
              <a:solidFill>
                <a:srgbClr val="FFFFFF"/>
              </a:solidFill>
              <a:latin typeface="Palatino Linotype" panose="02040502050505030304" pitchFamily="18" charset="0"/>
              <a:ea typeface="Poppins"/>
              <a:cs typeface="Poppins"/>
              <a:sym typeface="Poppins"/>
            </a:endParaRPr>
          </a:p>
        </p:txBody>
      </p:sp>
    </p:spTree>
    <p:extLst>
      <p:ext uri="{BB962C8B-B14F-4D97-AF65-F5344CB8AC3E}">
        <p14:creationId xmlns:p14="http://schemas.microsoft.com/office/powerpoint/2010/main" val="2728079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27CACFED-E4AD-FE02-0494-D19474A7AE84}"/>
              </a:ext>
            </a:extLst>
          </p:cNvPr>
          <p:cNvGrpSpPr/>
          <p:nvPr/>
        </p:nvGrpSpPr>
        <p:grpSpPr>
          <a:xfrm>
            <a:off x="692782" y="1588902"/>
            <a:ext cx="515566" cy="496110"/>
            <a:chOff x="1342417" y="1955260"/>
            <a:chExt cx="603115" cy="584775"/>
          </a:xfrm>
        </p:grpSpPr>
        <p:sp>
          <p:nvSpPr>
            <p:cNvPr id="3" name="Oval 2">
              <a:extLst>
                <a:ext uri="{FF2B5EF4-FFF2-40B4-BE49-F238E27FC236}">
                  <a16:creationId xmlns:a16="http://schemas.microsoft.com/office/drawing/2014/main" id="{04CAB072-9635-D985-B477-838296F74551}"/>
                </a:ext>
              </a:extLst>
            </p:cNvPr>
            <p:cNvSpPr/>
            <p:nvPr/>
          </p:nvSpPr>
          <p:spPr>
            <a:xfrm>
              <a:off x="1342417" y="1955260"/>
              <a:ext cx="603115" cy="584775"/>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4" name="Oval 3">
              <a:extLst>
                <a:ext uri="{FF2B5EF4-FFF2-40B4-BE49-F238E27FC236}">
                  <a16:creationId xmlns:a16="http://schemas.microsoft.com/office/drawing/2014/main" id="{C323E826-A6C1-3BA7-E70F-FC698F2D63FB}"/>
                </a:ext>
              </a:extLst>
            </p:cNvPr>
            <p:cNvSpPr/>
            <p:nvPr/>
          </p:nvSpPr>
          <p:spPr>
            <a:xfrm>
              <a:off x="1418616" y="2048483"/>
              <a:ext cx="447258" cy="399822"/>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lumMod val="85000"/>
                      <a:lumOff val="15000"/>
                    </a:schemeClr>
                  </a:solidFill>
                  <a:latin typeface="Poppins" panose="020B0604020202020204" charset="0"/>
                  <a:cs typeface="Poppins" panose="020B0604020202020204" charset="0"/>
                </a:rPr>
                <a:t>1</a:t>
              </a:r>
            </a:p>
          </p:txBody>
        </p:sp>
      </p:grpSp>
      <p:grpSp>
        <p:nvGrpSpPr>
          <p:cNvPr id="5" name="Group 4">
            <a:extLst>
              <a:ext uri="{FF2B5EF4-FFF2-40B4-BE49-F238E27FC236}">
                <a16:creationId xmlns:a16="http://schemas.microsoft.com/office/drawing/2014/main" id="{1EA006BA-6629-4E50-DA78-B1E4C3CBA3A0}"/>
              </a:ext>
            </a:extLst>
          </p:cNvPr>
          <p:cNvGrpSpPr/>
          <p:nvPr/>
        </p:nvGrpSpPr>
        <p:grpSpPr>
          <a:xfrm>
            <a:off x="1351831" y="1286733"/>
            <a:ext cx="3988340" cy="1172796"/>
            <a:chOff x="1381328" y="1434217"/>
            <a:chExt cx="3988340" cy="1172796"/>
          </a:xfrm>
        </p:grpSpPr>
        <p:grpSp>
          <p:nvGrpSpPr>
            <p:cNvPr id="6" name="Group 5">
              <a:extLst>
                <a:ext uri="{FF2B5EF4-FFF2-40B4-BE49-F238E27FC236}">
                  <a16:creationId xmlns:a16="http://schemas.microsoft.com/office/drawing/2014/main" id="{59714FAE-52C4-8E85-795E-5200EF61DBAD}"/>
                </a:ext>
              </a:extLst>
            </p:cNvPr>
            <p:cNvGrpSpPr/>
            <p:nvPr/>
          </p:nvGrpSpPr>
          <p:grpSpPr>
            <a:xfrm>
              <a:off x="1381328" y="1434217"/>
              <a:ext cx="3988340" cy="1172796"/>
              <a:chOff x="1381328" y="1434217"/>
              <a:chExt cx="3988340" cy="1172796"/>
            </a:xfrm>
          </p:grpSpPr>
          <p:grpSp>
            <p:nvGrpSpPr>
              <p:cNvPr id="8" name="Group 7">
                <a:extLst>
                  <a:ext uri="{FF2B5EF4-FFF2-40B4-BE49-F238E27FC236}">
                    <a16:creationId xmlns:a16="http://schemas.microsoft.com/office/drawing/2014/main" id="{B576F66C-8407-2315-9255-135152D1178C}"/>
                  </a:ext>
                </a:extLst>
              </p:cNvPr>
              <p:cNvGrpSpPr/>
              <p:nvPr/>
            </p:nvGrpSpPr>
            <p:grpSpPr>
              <a:xfrm>
                <a:off x="1381328" y="1434829"/>
                <a:ext cx="3988340" cy="1172184"/>
                <a:chOff x="1381328" y="1434829"/>
                <a:chExt cx="3988340" cy="1172184"/>
              </a:xfrm>
            </p:grpSpPr>
            <p:sp>
              <p:nvSpPr>
                <p:cNvPr id="10" name="Rectangle: Rounded Corners 9">
                  <a:extLst>
                    <a:ext uri="{FF2B5EF4-FFF2-40B4-BE49-F238E27FC236}">
                      <a16:creationId xmlns:a16="http://schemas.microsoft.com/office/drawing/2014/main" id="{D1004CB7-9CF2-D429-DBEB-148121159DF5}"/>
                    </a:ext>
                  </a:extLst>
                </p:cNvPr>
                <p:cNvSpPr/>
                <p:nvPr/>
              </p:nvSpPr>
              <p:spPr>
                <a:xfrm>
                  <a:off x="1381328" y="1434829"/>
                  <a:ext cx="3988340" cy="1172184"/>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De</a:t>
                  </a:r>
                </a:p>
              </p:txBody>
            </p:sp>
            <p:sp>
              <p:nvSpPr>
                <p:cNvPr id="11" name="Rectangle: Rounded Corners 10">
                  <a:extLst>
                    <a:ext uri="{FF2B5EF4-FFF2-40B4-BE49-F238E27FC236}">
                      <a16:creationId xmlns:a16="http://schemas.microsoft.com/office/drawing/2014/main" id="{44F9E510-AD08-8427-8735-4FD9032704C2}"/>
                    </a:ext>
                  </a:extLst>
                </p:cNvPr>
                <p:cNvSpPr/>
                <p:nvPr/>
              </p:nvSpPr>
              <p:spPr>
                <a:xfrm>
                  <a:off x="1381328" y="1772159"/>
                  <a:ext cx="3988340" cy="83485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9" name="TextBox 8">
                <a:extLst>
                  <a:ext uri="{FF2B5EF4-FFF2-40B4-BE49-F238E27FC236}">
                    <a16:creationId xmlns:a16="http://schemas.microsoft.com/office/drawing/2014/main" id="{69601F8F-ED38-AD97-4E9C-FE197E045E91}"/>
                  </a:ext>
                </a:extLst>
              </p:cNvPr>
              <p:cNvSpPr txBox="1"/>
              <p:nvPr/>
            </p:nvSpPr>
            <p:spPr>
              <a:xfrm>
                <a:off x="1976717" y="1434217"/>
                <a:ext cx="2682145" cy="338554"/>
              </a:xfrm>
              <a:prstGeom prst="rect">
                <a:avLst/>
              </a:prstGeom>
              <a:noFill/>
            </p:spPr>
            <p:txBody>
              <a:bodyPr wrap="none" rtlCol="0">
                <a:spAutoFit/>
              </a:bodyPr>
              <a:lstStyle/>
              <a:p>
                <a:r>
                  <a:rPr lang="en-IN" sz="1600" b="1" dirty="0">
                    <a:solidFill>
                      <a:schemeClr val="bg1">
                        <a:lumMod val="95000"/>
                      </a:schemeClr>
                    </a:solidFill>
                    <a:latin typeface="Palatino Linotype" panose="02040502050505030304" pitchFamily="18" charset="0"/>
                    <a:cs typeface="Poppins" panose="020B0604020202020204" charset="0"/>
                  </a:rPr>
                  <a:t>Define Business Objective</a:t>
                </a:r>
              </a:p>
            </p:txBody>
          </p:sp>
        </p:grpSp>
        <p:sp>
          <p:nvSpPr>
            <p:cNvPr id="7" name="TextBox 6">
              <a:extLst>
                <a:ext uri="{FF2B5EF4-FFF2-40B4-BE49-F238E27FC236}">
                  <a16:creationId xmlns:a16="http://schemas.microsoft.com/office/drawing/2014/main" id="{09A57C7F-454E-4771-BCB6-35D5322A883A}"/>
                </a:ext>
              </a:extLst>
            </p:cNvPr>
            <p:cNvSpPr txBox="1"/>
            <p:nvPr/>
          </p:nvSpPr>
          <p:spPr>
            <a:xfrm>
              <a:off x="1710446" y="1920858"/>
              <a:ext cx="3561945" cy="584775"/>
            </a:xfrm>
            <a:prstGeom prst="rect">
              <a:avLst/>
            </a:prstGeom>
            <a:noFill/>
          </p:spPr>
          <p:txBody>
            <a:bodyPr wrap="square" rtlCol="0">
              <a:spAutoFit/>
            </a:bodyPr>
            <a:lstStyle/>
            <a:p>
              <a:r>
                <a:rPr lang="en-GB" sz="1600" dirty="0">
                  <a:solidFill>
                    <a:schemeClr val="tx1">
                      <a:lumMod val="75000"/>
                      <a:lumOff val="25000"/>
                    </a:schemeClr>
                  </a:solidFill>
                  <a:latin typeface="Palatino Linotype" panose="02040502050505030304" pitchFamily="18" charset="0"/>
                  <a:cs typeface="Poppins" panose="020B0604020202020204" charset="0"/>
                </a:rPr>
                <a:t>Understand the core problem and expected business outcomes.</a:t>
              </a:r>
              <a:endParaRPr lang="en-IN" sz="1600" dirty="0">
                <a:solidFill>
                  <a:schemeClr val="tx1">
                    <a:lumMod val="75000"/>
                    <a:lumOff val="25000"/>
                  </a:schemeClr>
                </a:solidFill>
                <a:latin typeface="Palatino Linotype" panose="02040502050505030304" pitchFamily="18" charset="0"/>
                <a:cs typeface="Poppins" panose="020B0604020202020204" charset="0"/>
              </a:endParaRPr>
            </a:p>
          </p:txBody>
        </p:sp>
      </p:grpSp>
      <p:grpSp>
        <p:nvGrpSpPr>
          <p:cNvPr id="12" name="Group 11">
            <a:extLst>
              <a:ext uri="{FF2B5EF4-FFF2-40B4-BE49-F238E27FC236}">
                <a16:creationId xmlns:a16="http://schemas.microsoft.com/office/drawing/2014/main" id="{B04DBB99-097D-ABC8-5804-8C2356B563B9}"/>
              </a:ext>
            </a:extLst>
          </p:cNvPr>
          <p:cNvGrpSpPr/>
          <p:nvPr/>
        </p:nvGrpSpPr>
        <p:grpSpPr>
          <a:xfrm>
            <a:off x="7038072" y="3235720"/>
            <a:ext cx="4653866" cy="1173102"/>
            <a:chOff x="6919610" y="1434217"/>
            <a:chExt cx="4653866" cy="1173102"/>
          </a:xfrm>
        </p:grpSpPr>
        <p:grpSp>
          <p:nvGrpSpPr>
            <p:cNvPr id="13" name="Group 12">
              <a:extLst>
                <a:ext uri="{FF2B5EF4-FFF2-40B4-BE49-F238E27FC236}">
                  <a16:creationId xmlns:a16="http://schemas.microsoft.com/office/drawing/2014/main" id="{70571C20-6737-9449-2DE1-BECB8F535C8B}"/>
                </a:ext>
              </a:extLst>
            </p:cNvPr>
            <p:cNvGrpSpPr/>
            <p:nvPr/>
          </p:nvGrpSpPr>
          <p:grpSpPr>
            <a:xfrm>
              <a:off x="6919610" y="1736386"/>
              <a:ext cx="515566" cy="496110"/>
              <a:chOff x="1342417" y="1955260"/>
              <a:chExt cx="603115" cy="584775"/>
            </a:xfrm>
          </p:grpSpPr>
          <p:sp>
            <p:nvSpPr>
              <p:cNvPr id="21" name="Oval 20">
                <a:extLst>
                  <a:ext uri="{FF2B5EF4-FFF2-40B4-BE49-F238E27FC236}">
                    <a16:creationId xmlns:a16="http://schemas.microsoft.com/office/drawing/2014/main" id="{E6B8CD9D-8BE7-9B8C-F06A-45DAD3ACB20A}"/>
                  </a:ext>
                </a:extLst>
              </p:cNvPr>
              <p:cNvSpPr/>
              <p:nvPr/>
            </p:nvSpPr>
            <p:spPr>
              <a:xfrm>
                <a:off x="1342417" y="1955260"/>
                <a:ext cx="603115" cy="584775"/>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22" name="Oval 21">
                <a:extLst>
                  <a:ext uri="{FF2B5EF4-FFF2-40B4-BE49-F238E27FC236}">
                    <a16:creationId xmlns:a16="http://schemas.microsoft.com/office/drawing/2014/main" id="{9C9D7432-67EB-3D59-1DF0-D6C236502502}"/>
                  </a:ext>
                </a:extLst>
              </p:cNvPr>
              <p:cNvSpPr/>
              <p:nvPr/>
            </p:nvSpPr>
            <p:spPr>
              <a:xfrm>
                <a:off x="1418616" y="2048483"/>
                <a:ext cx="447258" cy="399822"/>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lumMod val="85000"/>
                        <a:lumOff val="15000"/>
                      </a:schemeClr>
                    </a:solidFill>
                    <a:latin typeface="Poppins" panose="020B0604020202020204" charset="0"/>
                    <a:cs typeface="Poppins" panose="020B0604020202020204" charset="0"/>
                  </a:rPr>
                  <a:t>3</a:t>
                </a:r>
              </a:p>
            </p:txBody>
          </p:sp>
        </p:grpSp>
        <p:grpSp>
          <p:nvGrpSpPr>
            <p:cNvPr id="15" name="Group 14">
              <a:extLst>
                <a:ext uri="{FF2B5EF4-FFF2-40B4-BE49-F238E27FC236}">
                  <a16:creationId xmlns:a16="http://schemas.microsoft.com/office/drawing/2014/main" id="{BF727CC1-7C8A-7C48-698B-546081A0309E}"/>
                </a:ext>
              </a:extLst>
            </p:cNvPr>
            <p:cNvGrpSpPr/>
            <p:nvPr/>
          </p:nvGrpSpPr>
          <p:grpSpPr>
            <a:xfrm>
              <a:off x="7585136" y="1434217"/>
              <a:ext cx="3988340" cy="1173102"/>
              <a:chOff x="1381328" y="1433911"/>
              <a:chExt cx="3988340" cy="1173102"/>
            </a:xfrm>
          </p:grpSpPr>
          <p:grpSp>
            <p:nvGrpSpPr>
              <p:cNvPr id="17" name="Group 16">
                <a:extLst>
                  <a:ext uri="{FF2B5EF4-FFF2-40B4-BE49-F238E27FC236}">
                    <a16:creationId xmlns:a16="http://schemas.microsoft.com/office/drawing/2014/main" id="{BF6AE19F-F1EB-B07D-7817-9A1CF3FCE071}"/>
                  </a:ext>
                </a:extLst>
              </p:cNvPr>
              <p:cNvGrpSpPr/>
              <p:nvPr/>
            </p:nvGrpSpPr>
            <p:grpSpPr>
              <a:xfrm>
                <a:off x="1381328" y="1434829"/>
                <a:ext cx="3988340" cy="1172184"/>
                <a:chOff x="1381328" y="1434829"/>
                <a:chExt cx="3988340" cy="1172184"/>
              </a:xfrm>
            </p:grpSpPr>
            <p:sp>
              <p:nvSpPr>
                <p:cNvPr id="19" name="Rectangle: Rounded Corners 18">
                  <a:extLst>
                    <a:ext uri="{FF2B5EF4-FFF2-40B4-BE49-F238E27FC236}">
                      <a16:creationId xmlns:a16="http://schemas.microsoft.com/office/drawing/2014/main" id="{1C8F8F03-68BE-E0DC-0BAB-95DB5105070C}"/>
                    </a:ext>
                  </a:extLst>
                </p:cNvPr>
                <p:cNvSpPr/>
                <p:nvPr/>
              </p:nvSpPr>
              <p:spPr>
                <a:xfrm>
                  <a:off x="1381328" y="1434829"/>
                  <a:ext cx="3988340" cy="1172184"/>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De</a:t>
                  </a:r>
                </a:p>
              </p:txBody>
            </p:sp>
            <p:sp>
              <p:nvSpPr>
                <p:cNvPr id="20" name="Rectangle: Rounded Corners 19">
                  <a:extLst>
                    <a:ext uri="{FF2B5EF4-FFF2-40B4-BE49-F238E27FC236}">
                      <a16:creationId xmlns:a16="http://schemas.microsoft.com/office/drawing/2014/main" id="{5635B118-DC98-FBF4-D095-ED3E428FCBDD}"/>
                    </a:ext>
                  </a:extLst>
                </p:cNvPr>
                <p:cNvSpPr/>
                <p:nvPr/>
              </p:nvSpPr>
              <p:spPr>
                <a:xfrm>
                  <a:off x="1381328" y="1772159"/>
                  <a:ext cx="3988340" cy="83485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8" name="TextBox 17">
                <a:extLst>
                  <a:ext uri="{FF2B5EF4-FFF2-40B4-BE49-F238E27FC236}">
                    <a16:creationId xmlns:a16="http://schemas.microsoft.com/office/drawing/2014/main" id="{A980AF4F-6C9C-CA9B-4823-4B1D9A690F92}"/>
                  </a:ext>
                </a:extLst>
              </p:cNvPr>
              <p:cNvSpPr txBox="1"/>
              <p:nvPr/>
            </p:nvSpPr>
            <p:spPr>
              <a:xfrm>
                <a:off x="2596282" y="1433911"/>
                <a:ext cx="1585690" cy="338554"/>
              </a:xfrm>
              <a:prstGeom prst="rect">
                <a:avLst/>
              </a:prstGeom>
              <a:noFill/>
            </p:spPr>
            <p:txBody>
              <a:bodyPr wrap="none" rtlCol="0">
                <a:spAutoFit/>
              </a:bodyPr>
              <a:lstStyle>
                <a:defPPr marR="0" lvl="0" algn="l" rtl="0">
                  <a:lnSpc>
                    <a:spcPct val="100000"/>
                  </a:lnSpc>
                  <a:spcBef>
                    <a:spcPts val="0"/>
                  </a:spcBef>
                  <a:spcAft>
                    <a:spcPts val="0"/>
                  </a:spcAft>
                </a:defPPr>
                <a:lvl1pPr>
                  <a:defRPr sz="1600" b="1">
                    <a:solidFill>
                      <a:schemeClr val="bg1">
                        <a:lumMod val="95000"/>
                      </a:schemeClr>
                    </a:solidFill>
                    <a:latin typeface="Poppins" panose="020B0604020202020204" charset="0"/>
                    <a:cs typeface="Poppins" panose="020B0604020202020204" charset="0"/>
                  </a:defRPr>
                </a:lvl1pPr>
              </a:lstStyle>
              <a:p>
                <a:r>
                  <a:rPr lang="en-IN" dirty="0">
                    <a:latin typeface="Palatino Linotype" panose="02040502050505030304" pitchFamily="18" charset="0"/>
                  </a:rPr>
                  <a:t> Data Cleaning</a:t>
                </a:r>
              </a:p>
            </p:txBody>
          </p:sp>
        </p:grpSp>
      </p:grpSp>
      <p:grpSp>
        <p:nvGrpSpPr>
          <p:cNvPr id="23" name="Group 22">
            <a:extLst>
              <a:ext uri="{FF2B5EF4-FFF2-40B4-BE49-F238E27FC236}">
                <a16:creationId xmlns:a16="http://schemas.microsoft.com/office/drawing/2014/main" id="{BFBD4C10-3304-195D-0664-9FF50A6D3821}"/>
              </a:ext>
            </a:extLst>
          </p:cNvPr>
          <p:cNvGrpSpPr/>
          <p:nvPr/>
        </p:nvGrpSpPr>
        <p:grpSpPr>
          <a:xfrm>
            <a:off x="709282" y="3307099"/>
            <a:ext cx="10723717" cy="1172184"/>
            <a:chOff x="6919610" y="1435135"/>
            <a:chExt cx="10723717" cy="1172184"/>
          </a:xfrm>
        </p:grpSpPr>
        <p:grpSp>
          <p:nvGrpSpPr>
            <p:cNvPr id="24" name="Group 23">
              <a:extLst>
                <a:ext uri="{FF2B5EF4-FFF2-40B4-BE49-F238E27FC236}">
                  <a16:creationId xmlns:a16="http://schemas.microsoft.com/office/drawing/2014/main" id="{EE540B95-D932-18C9-CBC3-E1C9BDCAF325}"/>
                </a:ext>
              </a:extLst>
            </p:cNvPr>
            <p:cNvGrpSpPr/>
            <p:nvPr/>
          </p:nvGrpSpPr>
          <p:grpSpPr>
            <a:xfrm>
              <a:off x="6919610" y="1736386"/>
              <a:ext cx="515566" cy="496110"/>
              <a:chOff x="1342417" y="1955260"/>
              <a:chExt cx="603115" cy="584775"/>
            </a:xfrm>
          </p:grpSpPr>
          <p:sp>
            <p:nvSpPr>
              <p:cNvPr id="32" name="Oval 31">
                <a:extLst>
                  <a:ext uri="{FF2B5EF4-FFF2-40B4-BE49-F238E27FC236}">
                    <a16:creationId xmlns:a16="http://schemas.microsoft.com/office/drawing/2014/main" id="{A0A46285-AD59-6291-4B81-BB96A213ACF7}"/>
                  </a:ext>
                </a:extLst>
              </p:cNvPr>
              <p:cNvSpPr/>
              <p:nvPr/>
            </p:nvSpPr>
            <p:spPr>
              <a:xfrm>
                <a:off x="1342417" y="1955260"/>
                <a:ext cx="603115" cy="584775"/>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33" name="Oval 32">
                <a:extLst>
                  <a:ext uri="{FF2B5EF4-FFF2-40B4-BE49-F238E27FC236}">
                    <a16:creationId xmlns:a16="http://schemas.microsoft.com/office/drawing/2014/main" id="{51A8170B-D34F-61E5-DEDD-9A6B70719997}"/>
                  </a:ext>
                </a:extLst>
              </p:cNvPr>
              <p:cNvSpPr/>
              <p:nvPr/>
            </p:nvSpPr>
            <p:spPr>
              <a:xfrm>
                <a:off x="1418616" y="2048483"/>
                <a:ext cx="447258" cy="399822"/>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lumMod val="85000"/>
                        <a:lumOff val="15000"/>
                      </a:schemeClr>
                    </a:solidFill>
                    <a:latin typeface="Poppins" panose="020B0604020202020204" charset="0"/>
                    <a:cs typeface="Poppins" panose="020B0604020202020204" charset="0"/>
                  </a:rPr>
                  <a:t>4</a:t>
                </a:r>
              </a:p>
            </p:txBody>
          </p:sp>
        </p:grpSp>
        <p:grpSp>
          <p:nvGrpSpPr>
            <p:cNvPr id="25" name="Group 24">
              <a:extLst>
                <a:ext uri="{FF2B5EF4-FFF2-40B4-BE49-F238E27FC236}">
                  <a16:creationId xmlns:a16="http://schemas.microsoft.com/office/drawing/2014/main" id="{4FBF64FF-A378-57F9-53C3-6881C6951D47}"/>
                </a:ext>
              </a:extLst>
            </p:cNvPr>
            <p:cNvGrpSpPr/>
            <p:nvPr/>
          </p:nvGrpSpPr>
          <p:grpSpPr>
            <a:xfrm>
              <a:off x="7585136" y="1435135"/>
              <a:ext cx="10058191" cy="1172184"/>
              <a:chOff x="1381328" y="1434829"/>
              <a:chExt cx="10058191" cy="1172184"/>
            </a:xfrm>
          </p:grpSpPr>
          <p:grpSp>
            <p:nvGrpSpPr>
              <p:cNvPr id="26" name="Group 25">
                <a:extLst>
                  <a:ext uri="{FF2B5EF4-FFF2-40B4-BE49-F238E27FC236}">
                    <a16:creationId xmlns:a16="http://schemas.microsoft.com/office/drawing/2014/main" id="{9BB87034-019C-88BA-063C-F3766606D2FD}"/>
                  </a:ext>
                </a:extLst>
              </p:cNvPr>
              <p:cNvGrpSpPr/>
              <p:nvPr/>
            </p:nvGrpSpPr>
            <p:grpSpPr>
              <a:xfrm>
                <a:off x="1381328" y="1434829"/>
                <a:ext cx="3988340" cy="1172184"/>
                <a:chOff x="1381328" y="1434829"/>
                <a:chExt cx="3988340" cy="1172184"/>
              </a:xfrm>
            </p:grpSpPr>
            <p:grpSp>
              <p:nvGrpSpPr>
                <p:cNvPr id="28" name="Group 27">
                  <a:extLst>
                    <a:ext uri="{FF2B5EF4-FFF2-40B4-BE49-F238E27FC236}">
                      <a16:creationId xmlns:a16="http://schemas.microsoft.com/office/drawing/2014/main" id="{D660D864-0CC5-9C4F-F344-FB1314C4E946}"/>
                    </a:ext>
                  </a:extLst>
                </p:cNvPr>
                <p:cNvGrpSpPr/>
                <p:nvPr/>
              </p:nvGrpSpPr>
              <p:grpSpPr>
                <a:xfrm>
                  <a:off x="1381328" y="1434829"/>
                  <a:ext cx="3988340" cy="1172184"/>
                  <a:chOff x="1381328" y="1434829"/>
                  <a:chExt cx="3988340" cy="1172184"/>
                </a:xfrm>
              </p:grpSpPr>
              <p:sp>
                <p:nvSpPr>
                  <p:cNvPr id="30" name="Rectangle: Rounded Corners 29">
                    <a:extLst>
                      <a:ext uri="{FF2B5EF4-FFF2-40B4-BE49-F238E27FC236}">
                        <a16:creationId xmlns:a16="http://schemas.microsoft.com/office/drawing/2014/main" id="{26EDCA98-5F2F-11FA-2C12-9BF1B935D135}"/>
                      </a:ext>
                    </a:extLst>
                  </p:cNvPr>
                  <p:cNvSpPr/>
                  <p:nvPr/>
                </p:nvSpPr>
                <p:spPr>
                  <a:xfrm>
                    <a:off x="1381328" y="1434829"/>
                    <a:ext cx="3988340" cy="1172184"/>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De</a:t>
                    </a:r>
                  </a:p>
                </p:txBody>
              </p:sp>
              <p:sp>
                <p:nvSpPr>
                  <p:cNvPr id="31" name="Rectangle: Rounded Corners 30">
                    <a:extLst>
                      <a:ext uri="{FF2B5EF4-FFF2-40B4-BE49-F238E27FC236}">
                        <a16:creationId xmlns:a16="http://schemas.microsoft.com/office/drawing/2014/main" id="{34EC6A20-9834-0B80-B6CA-7F8A1DC8C01B}"/>
                      </a:ext>
                    </a:extLst>
                  </p:cNvPr>
                  <p:cNvSpPr/>
                  <p:nvPr/>
                </p:nvSpPr>
                <p:spPr>
                  <a:xfrm>
                    <a:off x="1381328" y="1772159"/>
                    <a:ext cx="3988340" cy="83485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29" name="TextBox 28">
                  <a:extLst>
                    <a:ext uri="{FF2B5EF4-FFF2-40B4-BE49-F238E27FC236}">
                      <a16:creationId xmlns:a16="http://schemas.microsoft.com/office/drawing/2014/main" id="{AD2EC3B4-21D6-F3E6-775D-F39EEAF1D379}"/>
                    </a:ext>
                  </a:extLst>
                </p:cNvPr>
                <p:cNvSpPr txBox="1"/>
                <p:nvPr/>
              </p:nvSpPr>
              <p:spPr>
                <a:xfrm>
                  <a:off x="1885172" y="1463496"/>
                  <a:ext cx="2648482" cy="584775"/>
                </a:xfrm>
                <a:prstGeom prst="rect">
                  <a:avLst/>
                </a:prstGeom>
                <a:noFill/>
              </p:spPr>
              <p:txBody>
                <a:bodyPr wrap="none" rtlCol="0">
                  <a:spAutoFit/>
                </a:bodyPr>
                <a:lstStyle>
                  <a:defPPr marR="0" lvl="0" algn="l" rtl="0">
                    <a:lnSpc>
                      <a:spcPct val="100000"/>
                    </a:lnSpc>
                    <a:spcBef>
                      <a:spcPts val="0"/>
                    </a:spcBef>
                    <a:spcAft>
                      <a:spcPts val="0"/>
                    </a:spcAft>
                  </a:defPPr>
                  <a:lvl1pPr>
                    <a:defRPr sz="1600" b="1">
                      <a:solidFill>
                        <a:schemeClr val="bg1">
                          <a:lumMod val="95000"/>
                        </a:schemeClr>
                      </a:solidFill>
                      <a:latin typeface="Poppins" panose="020B0604020202020204" charset="0"/>
                      <a:cs typeface="Poppins" panose="020B0604020202020204" charset="0"/>
                    </a:defRPr>
                  </a:lvl1pPr>
                </a:lstStyle>
                <a:p>
                  <a:r>
                    <a:rPr lang="en-IN" dirty="0">
                      <a:latin typeface="Palatino Linotype" panose="02040502050505030304" pitchFamily="18" charset="0"/>
                    </a:rPr>
                    <a:t>Exploratory Data Analysis</a:t>
                  </a:r>
                </a:p>
                <a:p>
                  <a:endParaRPr lang="en-IN" dirty="0">
                    <a:latin typeface="Palatino Linotype" panose="02040502050505030304" pitchFamily="18" charset="0"/>
                  </a:endParaRPr>
                </a:p>
              </p:txBody>
            </p:sp>
          </p:grpSp>
          <p:sp>
            <p:nvSpPr>
              <p:cNvPr id="27" name="TextBox 26">
                <a:extLst>
                  <a:ext uri="{FF2B5EF4-FFF2-40B4-BE49-F238E27FC236}">
                    <a16:creationId xmlns:a16="http://schemas.microsoft.com/office/drawing/2014/main" id="{CA3218ED-A9AE-230F-094A-D296B5435E2A}"/>
                  </a:ext>
                </a:extLst>
              </p:cNvPr>
              <p:cNvSpPr txBox="1"/>
              <p:nvPr/>
            </p:nvSpPr>
            <p:spPr>
              <a:xfrm>
                <a:off x="7854597" y="1802529"/>
                <a:ext cx="3584922" cy="584775"/>
              </a:xfrm>
              <a:prstGeom prst="rect">
                <a:avLst/>
              </a:prstGeom>
              <a:noFill/>
            </p:spPr>
            <p:txBody>
              <a:bodyPr wrap="square" rtlCol="0">
                <a:spAutoFit/>
              </a:bodyPr>
              <a:lstStyle/>
              <a:p>
                <a:r>
                  <a:rPr lang="en-GB" sz="1600" dirty="0">
                    <a:solidFill>
                      <a:schemeClr val="tx1">
                        <a:lumMod val="75000"/>
                        <a:lumOff val="25000"/>
                      </a:schemeClr>
                    </a:solidFill>
                    <a:latin typeface="Palatino Linotype" panose="02040502050505030304" pitchFamily="18" charset="0"/>
                    <a:cs typeface="Poppins" panose="020B0604020202020204" charset="0"/>
                  </a:rPr>
                  <a:t>Handle nulls , type conversion, format columns.</a:t>
                </a:r>
                <a:endParaRPr lang="en-IN" sz="1600" dirty="0">
                  <a:solidFill>
                    <a:schemeClr val="tx1">
                      <a:lumMod val="75000"/>
                      <a:lumOff val="25000"/>
                    </a:schemeClr>
                  </a:solidFill>
                  <a:latin typeface="Palatino Linotype" panose="02040502050505030304" pitchFamily="18" charset="0"/>
                  <a:cs typeface="Poppins" panose="020B0604020202020204" charset="0"/>
                </a:endParaRPr>
              </a:p>
            </p:txBody>
          </p:sp>
        </p:grpSp>
      </p:grpSp>
      <p:grpSp>
        <p:nvGrpSpPr>
          <p:cNvPr id="34" name="Group 33">
            <a:extLst>
              <a:ext uri="{FF2B5EF4-FFF2-40B4-BE49-F238E27FC236}">
                <a16:creationId xmlns:a16="http://schemas.microsoft.com/office/drawing/2014/main" id="{6783F04B-E3E0-44B2-0715-539A8C118217}"/>
              </a:ext>
            </a:extLst>
          </p:cNvPr>
          <p:cNvGrpSpPr/>
          <p:nvPr/>
        </p:nvGrpSpPr>
        <p:grpSpPr>
          <a:xfrm>
            <a:off x="686305" y="5276299"/>
            <a:ext cx="4653866" cy="1172184"/>
            <a:chOff x="6919610" y="1435135"/>
            <a:chExt cx="4653866" cy="1172184"/>
          </a:xfrm>
        </p:grpSpPr>
        <p:grpSp>
          <p:nvGrpSpPr>
            <p:cNvPr id="35" name="Group 34">
              <a:extLst>
                <a:ext uri="{FF2B5EF4-FFF2-40B4-BE49-F238E27FC236}">
                  <a16:creationId xmlns:a16="http://schemas.microsoft.com/office/drawing/2014/main" id="{30943500-1CDE-C030-FDD9-74439D58F1AE}"/>
                </a:ext>
              </a:extLst>
            </p:cNvPr>
            <p:cNvGrpSpPr/>
            <p:nvPr/>
          </p:nvGrpSpPr>
          <p:grpSpPr>
            <a:xfrm>
              <a:off x="6919610" y="1736386"/>
              <a:ext cx="515566" cy="496110"/>
              <a:chOff x="1342417" y="1955260"/>
              <a:chExt cx="603115" cy="584775"/>
            </a:xfrm>
          </p:grpSpPr>
          <p:sp>
            <p:nvSpPr>
              <p:cNvPr id="43" name="Oval 42">
                <a:extLst>
                  <a:ext uri="{FF2B5EF4-FFF2-40B4-BE49-F238E27FC236}">
                    <a16:creationId xmlns:a16="http://schemas.microsoft.com/office/drawing/2014/main" id="{09BD3EE1-9CFE-75F5-2E35-DF87E2EB4F2C}"/>
                  </a:ext>
                </a:extLst>
              </p:cNvPr>
              <p:cNvSpPr/>
              <p:nvPr/>
            </p:nvSpPr>
            <p:spPr>
              <a:xfrm>
                <a:off x="1342417" y="1955260"/>
                <a:ext cx="603115" cy="584775"/>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44" name="Oval 43">
                <a:extLst>
                  <a:ext uri="{FF2B5EF4-FFF2-40B4-BE49-F238E27FC236}">
                    <a16:creationId xmlns:a16="http://schemas.microsoft.com/office/drawing/2014/main" id="{6F57BAD8-57D6-631F-4596-EFFB7A79D171}"/>
                  </a:ext>
                </a:extLst>
              </p:cNvPr>
              <p:cNvSpPr/>
              <p:nvPr/>
            </p:nvSpPr>
            <p:spPr>
              <a:xfrm>
                <a:off x="1418616" y="2048483"/>
                <a:ext cx="447258" cy="399822"/>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lumMod val="85000"/>
                        <a:lumOff val="15000"/>
                      </a:schemeClr>
                    </a:solidFill>
                    <a:latin typeface="Poppins" panose="020B0604020202020204" charset="0"/>
                    <a:cs typeface="Poppins" panose="020B0604020202020204" charset="0"/>
                  </a:rPr>
                  <a:t>5</a:t>
                </a:r>
              </a:p>
            </p:txBody>
          </p:sp>
        </p:grpSp>
        <p:grpSp>
          <p:nvGrpSpPr>
            <p:cNvPr id="36" name="Group 35">
              <a:extLst>
                <a:ext uri="{FF2B5EF4-FFF2-40B4-BE49-F238E27FC236}">
                  <a16:creationId xmlns:a16="http://schemas.microsoft.com/office/drawing/2014/main" id="{46370D22-BB07-F002-0C7E-7AEE56828C00}"/>
                </a:ext>
              </a:extLst>
            </p:cNvPr>
            <p:cNvGrpSpPr/>
            <p:nvPr/>
          </p:nvGrpSpPr>
          <p:grpSpPr>
            <a:xfrm>
              <a:off x="7585136" y="1435135"/>
              <a:ext cx="3988340" cy="1172184"/>
              <a:chOff x="1381328" y="1434829"/>
              <a:chExt cx="3988340" cy="1172184"/>
            </a:xfrm>
          </p:grpSpPr>
          <p:grpSp>
            <p:nvGrpSpPr>
              <p:cNvPr id="37" name="Group 36">
                <a:extLst>
                  <a:ext uri="{FF2B5EF4-FFF2-40B4-BE49-F238E27FC236}">
                    <a16:creationId xmlns:a16="http://schemas.microsoft.com/office/drawing/2014/main" id="{D8B732B0-39D2-B49B-409A-A7348EB58480}"/>
                  </a:ext>
                </a:extLst>
              </p:cNvPr>
              <p:cNvGrpSpPr/>
              <p:nvPr/>
            </p:nvGrpSpPr>
            <p:grpSpPr>
              <a:xfrm>
                <a:off x="1381328" y="1434829"/>
                <a:ext cx="3988340" cy="1172184"/>
                <a:chOff x="1381328" y="1434829"/>
                <a:chExt cx="3988340" cy="1172184"/>
              </a:xfrm>
            </p:grpSpPr>
            <p:grpSp>
              <p:nvGrpSpPr>
                <p:cNvPr id="39" name="Group 38">
                  <a:extLst>
                    <a:ext uri="{FF2B5EF4-FFF2-40B4-BE49-F238E27FC236}">
                      <a16:creationId xmlns:a16="http://schemas.microsoft.com/office/drawing/2014/main" id="{1DECDF70-9CB3-FC68-BEF4-1A096C53F79A}"/>
                    </a:ext>
                  </a:extLst>
                </p:cNvPr>
                <p:cNvGrpSpPr/>
                <p:nvPr/>
              </p:nvGrpSpPr>
              <p:grpSpPr>
                <a:xfrm>
                  <a:off x="1381328" y="1434829"/>
                  <a:ext cx="3988340" cy="1172184"/>
                  <a:chOff x="1381328" y="1434829"/>
                  <a:chExt cx="3988340" cy="1172184"/>
                </a:xfrm>
              </p:grpSpPr>
              <p:sp>
                <p:nvSpPr>
                  <p:cNvPr id="41" name="Rectangle: Rounded Corners 40">
                    <a:extLst>
                      <a:ext uri="{FF2B5EF4-FFF2-40B4-BE49-F238E27FC236}">
                        <a16:creationId xmlns:a16="http://schemas.microsoft.com/office/drawing/2014/main" id="{E763CB3C-CD1E-80AC-E603-E0786E5164D2}"/>
                      </a:ext>
                    </a:extLst>
                  </p:cNvPr>
                  <p:cNvSpPr/>
                  <p:nvPr/>
                </p:nvSpPr>
                <p:spPr>
                  <a:xfrm>
                    <a:off x="1381328" y="1434829"/>
                    <a:ext cx="3988340" cy="1172184"/>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De</a:t>
                    </a:r>
                  </a:p>
                </p:txBody>
              </p:sp>
              <p:sp>
                <p:nvSpPr>
                  <p:cNvPr id="42" name="Rectangle: Rounded Corners 41">
                    <a:extLst>
                      <a:ext uri="{FF2B5EF4-FFF2-40B4-BE49-F238E27FC236}">
                        <a16:creationId xmlns:a16="http://schemas.microsoft.com/office/drawing/2014/main" id="{39C2619B-2361-6DD5-DDE9-673211E78C47}"/>
                      </a:ext>
                    </a:extLst>
                  </p:cNvPr>
                  <p:cNvSpPr/>
                  <p:nvPr/>
                </p:nvSpPr>
                <p:spPr>
                  <a:xfrm>
                    <a:off x="1381328" y="1772159"/>
                    <a:ext cx="3988340" cy="83485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40" name="TextBox 39">
                  <a:extLst>
                    <a:ext uri="{FF2B5EF4-FFF2-40B4-BE49-F238E27FC236}">
                      <a16:creationId xmlns:a16="http://schemas.microsoft.com/office/drawing/2014/main" id="{BB7EE27D-E9FB-F644-F8D1-01BE131044F9}"/>
                    </a:ext>
                  </a:extLst>
                </p:cNvPr>
                <p:cNvSpPr txBox="1"/>
                <p:nvPr/>
              </p:nvSpPr>
              <p:spPr>
                <a:xfrm>
                  <a:off x="2617918" y="1458318"/>
                  <a:ext cx="1399742" cy="338554"/>
                </a:xfrm>
                <a:prstGeom prst="rect">
                  <a:avLst/>
                </a:prstGeom>
                <a:noFill/>
              </p:spPr>
              <p:txBody>
                <a:bodyPr wrap="none" rtlCol="0">
                  <a:spAutoFit/>
                </a:bodyPr>
                <a:lstStyle>
                  <a:defPPr marR="0" lvl="0" algn="l" rtl="0">
                    <a:lnSpc>
                      <a:spcPct val="100000"/>
                    </a:lnSpc>
                    <a:spcBef>
                      <a:spcPts val="0"/>
                    </a:spcBef>
                    <a:spcAft>
                      <a:spcPts val="0"/>
                    </a:spcAft>
                    <a:defRPr/>
                  </a:defPPr>
                  <a:lvl1pPr>
                    <a:defRPr sz="1600" b="1">
                      <a:solidFill>
                        <a:schemeClr val="bg1">
                          <a:lumMod val="95000"/>
                        </a:schemeClr>
                      </a:solidFill>
                      <a:latin typeface="Poppins" panose="020B0604020202020204" charset="0"/>
                      <a:cs typeface="Poppins" panose="020B0604020202020204" charset="0"/>
                    </a:defRPr>
                  </a:lvl1pPr>
                </a:lstStyle>
                <a:p>
                  <a:r>
                    <a:rPr lang="en-IN" dirty="0">
                      <a:latin typeface="Palatino Linotype" panose="02040502050505030304" pitchFamily="18" charset="0"/>
                    </a:rPr>
                    <a:t>SQL Queries</a:t>
                  </a:r>
                </a:p>
              </p:txBody>
            </p:sp>
          </p:grpSp>
          <p:sp>
            <p:nvSpPr>
              <p:cNvPr id="38" name="TextBox 37">
                <a:extLst>
                  <a:ext uri="{FF2B5EF4-FFF2-40B4-BE49-F238E27FC236}">
                    <a16:creationId xmlns:a16="http://schemas.microsoft.com/office/drawing/2014/main" id="{FDB3C447-B887-780B-458B-7D4376F0DC5F}"/>
                  </a:ext>
                </a:extLst>
              </p:cNvPr>
              <p:cNvSpPr txBox="1"/>
              <p:nvPr/>
            </p:nvSpPr>
            <p:spPr>
              <a:xfrm>
                <a:off x="1528064" y="1893064"/>
                <a:ext cx="3603279" cy="584775"/>
              </a:xfrm>
              <a:prstGeom prst="rect">
                <a:avLst/>
              </a:prstGeom>
              <a:noFill/>
            </p:spPr>
            <p:txBody>
              <a:bodyPr wrap="square" rtlCol="0">
                <a:spAutoFit/>
              </a:bodyPr>
              <a:lstStyle/>
              <a:p>
                <a:r>
                  <a:rPr lang="en-GB" sz="1600" dirty="0">
                    <a:solidFill>
                      <a:schemeClr val="tx1">
                        <a:lumMod val="65000"/>
                        <a:lumOff val="35000"/>
                      </a:schemeClr>
                    </a:solidFill>
                    <a:latin typeface="Palatino Linotype" panose="02040502050505030304" pitchFamily="18" charset="0"/>
                    <a:cs typeface="Times New Roman" panose="02020603050405020304" pitchFamily="18" charset="0"/>
                  </a:rPr>
                  <a:t>Write and Perform SQL queries for efficient data extraction.</a:t>
                </a:r>
                <a:endParaRPr lang="en-IN" sz="1600" dirty="0">
                  <a:solidFill>
                    <a:schemeClr val="tx1">
                      <a:lumMod val="75000"/>
                      <a:lumOff val="25000"/>
                    </a:schemeClr>
                  </a:solidFill>
                  <a:latin typeface="Palatino Linotype" panose="02040502050505030304" pitchFamily="18" charset="0"/>
                  <a:cs typeface="Poppins" panose="020B0604020202020204" charset="0"/>
                </a:endParaRPr>
              </a:p>
            </p:txBody>
          </p:sp>
        </p:grpSp>
      </p:grpSp>
      <p:grpSp>
        <p:nvGrpSpPr>
          <p:cNvPr id="45" name="Group 44">
            <a:extLst>
              <a:ext uri="{FF2B5EF4-FFF2-40B4-BE49-F238E27FC236}">
                <a16:creationId xmlns:a16="http://schemas.microsoft.com/office/drawing/2014/main" id="{A568CD17-7BDC-538A-E8EF-C62036FE3F53}"/>
              </a:ext>
            </a:extLst>
          </p:cNvPr>
          <p:cNvGrpSpPr/>
          <p:nvPr/>
        </p:nvGrpSpPr>
        <p:grpSpPr>
          <a:xfrm>
            <a:off x="6890113" y="5238232"/>
            <a:ext cx="4653866" cy="1210636"/>
            <a:chOff x="6919610" y="1396683"/>
            <a:chExt cx="4653866" cy="1210636"/>
          </a:xfrm>
        </p:grpSpPr>
        <p:grpSp>
          <p:nvGrpSpPr>
            <p:cNvPr id="46" name="Group 45">
              <a:extLst>
                <a:ext uri="{FF2B5EF4-FFF2-40B4-BE49-F238E27FC236}">
                  <a16:creationId xmlns:a16="http://schemas.microsoft.com/office/drawing/2014/main" id="{7FEFEFEC-4C35-21FA-70E9-C9EBD2F15665}"/>
                </a:ext>
              </a:extLst>
            </p:cNvPr>
            <p:cNvGrpSpPr/>
            <p:nvPr/>
          </p:nvGrpSpPr>
          <p:grpSpPr>
            <a:xfrm>
              <a:off x="6919610" y="1736386"/>
              <a:ext cx="515566" cy="496110"/>
              <a:chOff x="1342417" y="1955260"/>
              <a:chExt cx="603115" cy="584775"/>
            </a:xfrm>
          </p:grpSpPr>
          <p:sp>
            <p:nvSpPr>
              <p:cNvPr id="54" name="Oval 53">
                <a:extLst>
                  <a:ext uri="{FF2B5EF4-FFF2-40B4-BE49-F238E27FC236}">
                    <a16:creationId xmlns:a16="http://schemas.microsoft.com/office/drawing/2014/main" id="{F123385B-26A7-6BC2-BE2E-CA1D8B28DE97}"/>
                  </a:ext>
                </a:extLst>
              </p:cNvPr>
              <p:cNvSpPr/>
              <p:nvPr/>
            </p:nvSpPr>
            <p:spPr>
              <a:xfrm>
                <a:off x="1342417" y="1955260"/>
                <a:ext cx="603115" cy="584775"/>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55" name="Oval 54">
                <a:extLst>
                  <a:ext uri="{FF2B5EF4-FFF2-40B4-BE49-F238E27FC236}">
                    <a16:creationId xmlns:a16="http://schemas.microsoft.com/office/drawing/2014/main" id="{E55FCF73-8BA3-5E19-5470-3CC0175F3E76}"/>
                  </a:ext>
                </a:extLst>
              </p:cNvPr>
              <p:cNvSpPr/>
              <p:nvPr/>
            </p:nvSpPr>
            <p:spPr>
              <a:xfrm>
                <a:off x="1418616" y="2048483"/>
                <a:ext cx="447258" cy="399822"/>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lumMod val="85000"/>
                        <a:lumOff val="15000"/>
                      </a:schemeClr>
                    </a:solidFill>
                    <a:latin typeface="Poppins" panose="020B0604020202020204" charset="0"/>
                    <a:cs typeface="Poppins" panose="020B0604020202020204" charset="0"/>
                  </a:rPr>
                  <a:t>6</a:t>
                </a:r>
              </a:p>
            </p:txBody>
          </p:sp>
        </p:grpSp>
        <p:grpSp>
          <p:nvGrpSpPr>
            <p:cNvPr id="47" name="Group 46">
              <a:extLst>
                <a:ext uri="{FF2B5EF4-FFF2-40B4-BE49-F238E27FC236}">
                  <a16:creationId xmlns:a16="http://schemas.microsoft.com/office/drawing/2014/main" id="{5CED99DD-E2CA-945F-2CCF-CB4E86A337CA}"/>
                </a:ext>
              </a:extLst>
            </p:cNvPr>
            <p:cNvGrpSpPr/>
            <p:nvPr/>
          </p:nvGrpSpPr>
          <p:grpSpPr>
            <a:xfrm>
              <a:off x="7585136" y="1396683"/>
              <a:ext cx="3988340" cy="1210636"/>
              <a:chOff x="1381328" y="1396377"/>
              <a:chExt cx="3988340" cy="1210636"/>
            </a:xfrm>
          </p:grpSpPr>
          <p:grpSp>
            <p:nvGrpSpPr>
              <p:cNvPr id="48" name="Group 47">
                <a:extLst>
                  <a:ext uri="{FF2B5EF4-FFF2-40B4-BE49-F238E27FC236}">
                    <a16:creationId xmlns:a16="http://schemas.microsoft.com/office/drawing/2014/main" id="{62407376-F9E9-B170-3050-E3FE4BE936AF}"/>
                  </a:ext>
                </a:extLst>
              </p:cNvPr>
              <p:cNvGrpSpPr/>
              <p:nvPr/>
            </p:nvGrpSpPr>
            <p:grpSpPr>
              <a:xfrm>
                <a:off x="1381328" y="1396377"/>
                <a:ext cx="3988340" cy="1210636"/>
                <a:chOff x="1381328" y="1396377"/>
                <a:chExt cx="3988340" cy="1210636"/>
              </a:xfrm>
            </p:grpSpPr>
            <p:grpSp>
              <p:nvGrpSpPr>
                <p:cNvPr id="50" name="Group 49">
                  <a:extLst>
                    <a:ext uri="{FF2B5EF4-FFF2-40B4-BE49-F238E27FC236}">
                      <a16:creationId xmlns:a16="http://schemas.microsoft.com/office/drawing/2014/main" id="{865D65BD-ADCC-01A5-6E8A-AAA2838E3AB6}"/>
                    </a:ext>
                  </a:extLst>
                </p:cNvPr>
                <p:cNvGrpSpPr/>
                <p:nvPr/>
              </p:nvGrpSpPr>
              <p:grpSpPr>
                <a:xfrm>
                  <a:off x="1381328" y="1434829"/>
                  <a:ext cx="3988340" cy="1172184"/>
                  <a:chOff x="1381328" y="1434829"/>
                  <a:chExt cx="3988340" cy="1172184"/>
                </a:xfrm>
              </p:grpSpPr>
              <p:sp>
                <p:nvSpPr>
                  <p:cNvPr id="52" name="Rectangle: Rounded Corners 51">
                    <a:extLst>
                      <a:ext uri="{FF2B5EF4-FFF2-40B4-BE49-F238E27FC236}">
                        <a16:creationId xmlns:a16="http://schemas.microsoft.com/office/drawing/2014/main" id="{C4E2A646-A628-B9E4-7339-3C617C11C43D}"/>
                      </a:ext>
                    </a:extLst>
                  </p:cNvPr>
                  <p:cNvSpPr/>
                  <p:nvPr/>
                </p:nvSpPr>
                <p:spPr>
                  <a:xfrm>
                    <a:off x="1381328" y="1434829"/>
                    <a:ext cx="3988340" cy="1172184"/>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De</a:t>
                    </a:r>
                  </a:p>
                </p:txBody>
              </p:sp>
              <p:sp>
                <p:nvSpPr>
                  <p:cNvPr id="53" name="Rectangle: Rounded Corners 52">
                    <a:extLst>
                      <a:ext uri="{FF2B5EF4-FFF2-40B4-BE49-F238E27FC236}">
                        <a16:creationId xmlns:a16="http://schemas.microsoft.com/office/drawing/2014/main" id="{7AA5B309-FA64-7B8E-F70C-E41BBB87A1F9}"/>
                      </a:ext>
                    </a:extLst>
                  </p:cNvPr>
                  <p:cNvSpPr/>
                  <p:nvPr/>
                </p:nvSpPr>
                <p:spPr>
                  <a:xfrm>
                    <a:off x="1381328" y="1772159"/>
                    <a:ext cx="3988340" cy="83485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51" name="TextBox 50">
                  <a:extLst>
                    <a:ext uri="{FF2B5EF4-FFF2-40B4-BE49-F238E27FC236}">
                      <a16:creationId xmlns:a16="http://schemas.microsoft.com/office/drawing/2014/main" id="{7A371B72-46F8-5BCC-284D-F0552C6EE734}"/>
                    </a:ext>
                  </a:extLst>
                </p:cNvPr>
                <p:cNvSpPr txBox="1"/>
                <p:nvPr/>
              </p:nvSpPr>
              <p:spPr>
                <a:xfrm>
                  <a:off x="1408451" y="1396377"/>
                  <a:ext cx="3570208" cy="400110"/>
                </a:xfrm>
                <a:prstGeom prst="rect">
                  <a:avLst/>
                </a:prstGeom>
                <a:noFill/>
              </p:spPr>
              <p:txBody>
                <a:bodyPr wrap="none" rtlCol="0">
                  <a:spAutoFit/>
                </a:bodyPr>
                <a:lstStyle/>
                <a:p>
                  <a:r>
                    <a:rPr lang="en-IN" sz="1600" b="1" dirty="0">
                      <a:solidFill>
                        <a:schemeClr val="bg1">
                          <a:lumMod val="95000"/>
                        </a:schemeClr>
                      </a:solidFill>
                      <a:latin typeface="Palatino Linotype" panose="02040502050505030304" pitchFamily="18" charset="0"/>
                      <a:cs typeface="Poppins" panose="020B0604020202020204" charset="0"/>
                    </a:rPr>
                    <a:t>Dashboarding</a:t>
                  </a:r>
                  <a:r>
                    <a:rPr lang="en-IN" sz="2000" dirty="0">
                      <a:latin typeface="Palatino Linotype" panose="02040502050505030304" pitchFamily="18" charset="0"/>
                    </a:rPr>
                    <a:t> </a:t>
                  </a:r>
                  <a:r>
                    <a:rPr lang="en-IN" sz="1600" b="1" dirty="0">
                      <a:solidFill>
                        <a:schemeClr val="bg1">
                          <a:lumMod val="95000"/>
                        </a:schemeClr>
                      </a:solidFill>
                      <a:latin typeface="Palatino Linotype" panose="02040502050505030304" pitchFamily="18" charset="0"/>
                      <a:cs typeface="Poppins" panose="020B0604020202020204" charset="0"/>
                    </a:rPr>
                    <a:t>&amp;</a:t>
                  </a:r>
                  <a:r>
                    <a:rPr lang="en-IN" sz="2000" dirty="0">
                      <a:latin typeface="Palatino Linotype" panose="02040502050505030304" pitchFamily="18" charset="0"/>
                    </a:rPr>
                    <a:t> </a:t>
                  </a:r>
                  <a:r>
                    <a:rPr lang="en-IN" sz="1600" b="1" dirty="0">
                      <a:solidFill>
                        <a:schemeClr val="bg1">
                          <a:lumMod val="95000"/>
                        </a:schemeClr>
                      </a:solidFill>
                      <a:latin typeface="Palatino Linotype" panose="02040502050505030304" pitchFamily="18" charset="0"/>
                      <a:cs typeface="Poppins" panose="020B0604020202020204" charset="0"/>
                    </a:rPr>
                    <a:t>Recommendations</a:t>
                  </a:r>
                </a:p>
              </p:txBody>
            </p:sp>
          </p:grpSp>
          <p:sp>
            <p:nvSpPr>
              <p:cNvPr id="49" name="TextBox 48">
                <a:extLst>
                  <a:ext uri="{FF2B5EF4-FFF2-40B4-BE49-F238E27FC236}">
                    <a16:creationId xmlns:a16="http://schemas.microsoft.com/office/drawing/2014/main" id="{11EB0AEB-14DC-66B1-23C7-D71561F48119}"/>
                  </a:ext>
                </a:extLst>
              </p:cNvPr>
              <p:cNvSpPr txBox="1"/>
              <p:nvPr/>
            </p:nvSpPr>
            <p:spPr>
              <a:xfrm>
                <a:off x="1562185" y="1893064"/>
                <a:ext cx="3569158" cy="584775"/>
              </a:xfrm>
              <a:prstGeom prst="rect">
                <a:avLst/>
              </a:prstGeom>
              <a:noFill/>
            </p:spPr>
            <p:txBody>
              <a:bodyPr wrap="square" rtlCol="0">
                <a:spAutoFit/>
              </a:bodyPr>
              <a:lstStyle/>
              <a:p>
                <a:r>
                  <a:rPr lang="en-GB" sz="1600" dirty="0">
                    <a:solidFill>
                      <a:schemeClr val="tx1">
                        <a:lumMod val="75000"/>
                        <a:lumOff val="25000"/>
                      </a:schemeClr>
                    </a:solidFill>
                    <a:latin typeface="Palatino Linotype" panose="02040502050505030304" pitchFamily="18" charset="0"/>
                    <a:cs typeface="Poppins" panose="020B0604020202020204" charset="0"/>
                  </a:rPr>
                  <a:t>Build Power BI dashboard and present strategic findings.</a:t>
                </a:r>
                <a:endParaRPr lang="en-IN" sz="1600" dirty="0">
                  <a:solidFill>
                    <a:schemeClr val="tx1">
                      <a:lumMod val="75000"/>
                      <a:lumOff val="25000"/>
                    </a:schemeClr>
                  </a:solidFill>
                  <a:latin typeface="Palatino Linotype" panose="02040502050505030304" pitchFamily="18" charset="0"/>
                  <a:cs typeface="Poppins" panose="020B0604020202020204" charset="0"/>
                </a:endParaRPr>
              </a:p>
            </p:txBody>
          </p:sp>
        </p:grpSp>
      </p:grpSp>
      <p:sp>
        <p:nvSpPr>
          <p:cNvPr id="67" name="Arrow: Right 66">
            <a:extLst>
              <a:ext uri="{FF2B5EF4-FFF2-40B4-BE49-F238E27FC236}">
                <a16:creationId xmlns:a16="http://schemas.microsoft.com/office/drawing/2014/main" id="{16143353-2956-77EE-69B2-23C29ADDEF6D}"/>
              </a:ext>
            </a:extLst>
          </p:cNvPr>
          <p:cNvSpPr/>
          <p:nvPr/>
        </p:nvSpPr>
        <p:spPr>
          <a:xfrm>
            <a:off x="5682000" y="1772341"/>
            <a:ext cx="884904" cy="233816"/>
          </a:xfrm>
          <a:prstGeom prst="rightArrow">
            <a:avLst/>
          </a:prstGeom>
          <a:solidFill>
            <a:schemeClr val="tx2">
              <a:lumMod val="9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8" name="Arrow: Right 67">
            <a:extLst>
              <a:ext uri="{FF2B5EF4-FFF2-40B4-BE49-F238E27FC236}">
                <a16:creationId xmlns:a16="http://schemas.microsoft.com/office/drawing/2014/main" id="{229A55E7-3BA2-B562-5566-645C6CAF8557}"/>
              </a:ext>
            </a:extLst>
          </p:cNvPr>
          <p:cNvSpPr/>
          <p:nvPr/>
        </p:nvSpPr>
        <p:spPr>
          <a:xfrm flipH="1">
            <a:off x="5682000" y="3687438"/>
            <a:ext cx="884903" cy="252881"/>
          </a:xfrm>
          <a:prstGeom prst="rightArrow">
            <a:avLst/>
          </a:prstGeom>
          <a:solidFill>
            <a:schemeClr val="tx2">
              <a:lumMod val="9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9" name="Arrow: Right 68">
            <a:extLst>
              <a:ext uri="{FF2B5EF4-FFF2-40B4-BE49-F238E27FC236}">
                <a16:creationId xmlns:a16="http://schemas.microsoft.com/office/drawing/2014/main" id="{09008976-562D-2E16-E482-22430A24A9BC}"/>
              </a:ext>
            </a:extLst>
          </p:cNvPr>
          <p:cNvSpPr/>
          <p:nvPr/>
        </p:nvSpPr>
        <p:spPr>
          <a:xfrm>
            <a:off x="5682000" y="5708697"/>
            <a:ext cx="884904" cy="233816"/>
          </a:xfrm>
          <a:prstGeom prst="rightArrow">
            <a:avLst/>
          </a:prstGeom>
          <a:solidFill>
            <a:schemeClr val="tx2">
              <a:lumMod val="9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0" name="Google Shape;147;p2">
            <a:extLst>
              <a:ext uri="{FF2B5EF4-FFF2-40B4-BE49-F238E27FC236}">
                <a16:creationId xmlns:a16="http://schemas.microsoft.com/office/drawing/2014/main" id="{F92813D9-F86F-584B-01FC-F3FAF51FFAF5}"/>
              </a:ext>
            </a:extLst>
          </p:cNvPr>
          <p:cNvSpPr txBox="1">
            <a:spLocks/>
          </p:cNvSpPr>
          <p:nvPr/>
        </p:nvSpPr>
        <p:spPr>
          <a:xfrm>
            <a:off x="433546" y="274329"/>
            <a:ext cx="4070857" cy="98488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3200" dirty="0">
                <a:solidFill>
                  <a:schemeClr val="tx1">
                    <a:lumMod val="75000"/>
                    <a:lumOff val="25000"/>
                  </a:schemeClr>
                </a:solidFill>
                <a:latin typeface="Palatino Linotype" panose="02040502050505030304" pitchFamily="18" charset="0"/>
                <a:cs typeface="Poppins" panose="020B0604020202020204" charset="0"/>
              </a:rPr>
              <a:t>Project Workflow</a:t>
            </a:r>
          </a:p>
          <a:p>
            <a:endParaRPr lang="en-US" sz="3200" dirty="0">
              <a:solidFill>
                <a:schemeClr val="tx1">
                  <a:lumMod val="75000"/>
                  <a:lumOff val="25000"/>
                </a:schemeClr>
              </a:solidFill>
            </a:endParaRPr>
          </a:p>
        </p:txBody>
      </p:sp>
      <p:grpSp>
        <p:nvGrpSpPr>
          <p:cNvPr id="71" name="Group 70">
            <a:extLst>
              <a:ext uri="{FF2B5EF4-FFF2-40B4-BE49-F238E27FC236}">
                <a16:creationId xmlns:a16="http://schemas.microsoft.com/office/drawing/2014/main" id="{316F7E03-3648-076C-94C2-C0F5CA865F85}"/>
              </a:ext>
            </a:extLst>
          </p:cNvPr>
          <p:cNvGrpSpPr/>
          <p:nvPr/>
        </p:nvGrpSpPr>
        <p:grpSpPr>
          <a:xfrm>
            <a:off x="7042513" y="1439133"/>
            <a:ext cx="4653866" cy="1211554"/>
            <a:chOff x="6919610" y="1434217"/>
            <a:chExt cx="4653866" cy="1211554"/>
          </a:xfrm>
        </p:grpSpPr>
        <p:grpSp>
          <p:nvGrpSpPr>
            <p:cNvPr id="72" name="Group 71">
              <a:extLst>
                <a:ext uri="{FF2B5EF4-FFF2-40B4-BE49-F238E27FC236}">
                  <a16:creationId xmlns:a16="http://schemas.microsoft.com/office/drawing/2014/main" id="{82AAFD13-B69C-503F-D3CD-854D22DF8699}"/>
                </a:ext>
              </a:extLst>
            </p:cNvPr>
            <p:cNvGrpSpPr/>
            <p:nvPr/>
          </p:nvGrpSpPr>
          <p:grpSpPr>
            <a:xfrm>
              <a:off x="6919610" y="1736386"/>
              <a:ext cx="515566" cy="496110"/>
              <a:chOff x="1342417" y="1955260"/>
              <a:chExt cx="603115" cy="584775"/>
            </a:xfrm>
          </p:grpSpPr>
          <p:sp>
            <p:nvSpPr>
              <p:cNvPr id="80" name="Oval 79">
                <a:extLst>
                  <a:ext uri="{FF2B5EF4-FFF2-40B4-BE49-F238E27FC236}">
                    <a16:creationId xmlns:a16="http://schemas.microsoft.com/office/drawing/2014/main" id="{7A0992F0-21C7-8691-3C7B-31C97BD7EB6D}"/>
                  </a:ext>
                </a:extLst>
              </p:cNvPr>
              <p:cNvSpPr/>
              <p:nvPr/>
            </p:nvSpPr>
            <p:spPr>
              <a:xfrm>
                <a:off x="1342417" y="1955260"/>
                <a:ext cx="603115" cy="584775"/>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81" name="Oval 80">
                <a:extLst>
                  <a:ext uri="{FF2B5EF4-FFF2-40B4-BE49-F238E27FC236}">
                    <a16:creationId xmlns:a16="http://schemas.microsoft.com/office/drawing/2014/main" id="{EC1E3D84-1B90-BA08-F977-BDBB3377E568}"/>
                  </a:ext>
                </a:extLst>
              </p:cNvPr>
              <p:cNvSpPr/>
              <p:nvPr/>
            </p:nvSpPr>
            <p:spPr>
              <a:xfrm>
                <a:off x="1418616" y="2048483"/>
                <a:ext cx="447258" cy="399822"/>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lumMod val="85000"/>
                        <a:lumOff val="15000"/>
                      </a:schemeClr>
                    </a:solidFill>
                    <a:latin typeface="Poppins" panose="020B0604020202020204" charset="0"/>
                    <a:cs typeface="Poppins" panose="020B0604020202020204" charset="0"/>
                  </a:rPr>
                  <a:t>2</a:t>
                </a:r>
              </a:p>
            </p:txBody>
          </p:sp>
        </p:grpSp>
        <p:grpSp>
          <p:nvGrpSpPr>
            <p:cNvPr id="73" name="Group 72">
              <a:extLst>
                <a:ext uri="{FF2B5EF4-FFF2-40B4-BE49-F238E27FC236}">
                  <a16:creationId xmlns:a16="http://schemas.microsoft.com/office/drawing/2014/main" id="{A9724B45-533A-A77D-9580-F4798D45DC69}"/>
                </a:ext>
              </a:extLst>
            </p:cNvPr>
            <p:cNvGrpSpPr/>
            <p:nvPr/>
          </p:nvGrpSpPr>
          <p:grpSpPr>
            <a:xfrm>
              <a:off x="7585136" y="1434217"/>
              <a:ext cx="3988340" cy="1211554"/>
              <a:chOff x="1381328" y="1433911"/>
              <a:chExt cx="3988340" cy="1211554"/>
            </a:xfrm>
          </p:grpSpPr>
          <p:grpSp>
            <p:nvGrpSpPr>
              <p:cNvPr id="74" name="Group 73">
                <a:extLst>
                  <a:ext uri="{FF2B5EF4-FFF2-40B4-BE49-F238E27FC236}">
                    <a16:creationId xmlns:a16="http://schemas.microsoft.com/office/drawing/2014/main" id="{35DDB292-9D26-DCC2-D661-876821590DD9}"/>
                  </a:ext>
                </a:extLst>
              </p:cNvPr>
              <p:cNvGrpSpPr/>
              <p:nvPr/>
            </p:nvGrpSpPr>
            <p:grpSpPr>
              <a:xfrm>
                <a:off x="1381328" y="1433911"/>
                <a:ext cx="3988340" cy="1173102"/>
                <a:chOff x="1381328" y="1433911"/>
                <a:chExt cx="3988340" cy="1173102"/>
              </a:xfrm>
            </p:grpSpPr>
            <p:grpSp>
              <p:nvGrpSpPr>
                <p:cNvPr id="76" name="Group 75">
                  <a:extLst>
                    <a:ext uri="{FF2B5EF4-FFF2-40B4-BE49-F238E27FC236}">
                      <a16:creationId xmlns:a16="http://schemas.microsoft.com/office/drawing/2014/main" id="{0CDCCA93-8006-9D6E-7819-490A813A3556}"/>
                    </a:ext>
                  </a:extLst>
                </p:cNvPr>
                <p:cNvGrpSpPr/>
                <p:nvPr/>
              </p:nvGrpSpPr>
              <p:grpSpPr>
                <a:xfrm>
                  <a:off x="1381328" y="1434829"/>
                  <a:ext cx="3988340" cy="1172184"/>
                  <a:chOff x="1381328" y="1434829"/>
                  <a:chExt cx="3988340" cy="1172184"/>
                </a:xfrm>
              </p:grpSpPr>
              <p:sp>
                <p:nvSpPr>
                  <p:cNvPr id="78" name="Rectangle: Rounded Corners 77">
                    <a:extLst>
                      <a:ext uri="{FF2B5EF4-FFF2-40B4-BE49-F238E27FC236}">
                        <a16:creationId xmlns:a16="http://schemas.microsoft.com/office/drawing/2014/main" id="{A9580E07-DC84-FF68-C5B6-96CC3554630C}"/>
                      </a:ext>
                    </a:extLst>
                  </p:cNvPr>
                  <p:cNvSpPr/>
                  <p:nvPr/>
                </p:nvSpPr>
                <p:spPr>
                  <a:xfrm>
                    <a:off x="1381328" y="1434829"/>
                    <a:ext cx="3988340" cy="1172184"/>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De</a:t>
                    </a:r>
                  </a:p>
                </p:txBody>
              </p:sp>
              <p:sp>
                <p:nvSpPr>
                  <p:cNvPr id="79" name="Rectangle: Rounded Corners 78">
                    <a:extLst>
                      <a:ext uri="{FF2B5EF4-FFF2-40B4-BE49-F238E27FC236}">
                        <a16:creationId xmlns:a16="http://schemas.microsoft.com/office/drawing/2014/main" id="{B796634A-FEBD-CF84-F6B9-103101F41A22}"/>
                      </a:ext>
                    </a:extLst>
                  </p:cNvPr>
                  <p:cNvSpPr/>
                  <p:nvPr/>
                </p:nvSpPr>
                <p:spPr>
                  <a:xfrm>
                    <a:off x="1381328" y="1772159"/>
                    <a:ext cx="3988340" cy="83485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77" name="TextBox 76">
                  <a:extLst>
                    <a:ext uri="{FF2B5EF4-FFF2-40B4-BE49-F238E27FC236}">
                      <a16:creationId xmlns:a16="http://schemas.microsoft.com/office/drawing/2014/main" id="{0147AD75-5F5E-0D70-0A4A-952527DAFCDE}"/>
                    </a:ext>
                  </a:extLst>
                </p:cNvPr>
                <p:cNvSpPr txBox="1"/>
                <p:nvPr/>
              </p:nvSpPr>
              <p:spPr>
                <a:xfrm>
                  <a:off x="2596282" y="1433911"/>
                  <a:ext cx="1701107" cy="338554"/>
                </a:xfrm>
                <a:prstGeom prst="rect">
                  <a:avLst/>
                </a:prstGeom>
                <a:noFill/>
              </p:spPr>
              <p:txBody>
                <a:bodyPr wrap="none" rtlCol="0">
                  <a:spAutoFit/>
                </a:bodyPr>
                <a:lstStyle>
                  <a:defPPr marR="0" lvl="0" algn="l" rtl="0">
                    <a:lnSpc>
                      <a:spcPct val="100000"/>
                    </a:lnSpc>
                    <a:spcBef>
                      <a:spcPts val="0"/>
                    </a:spcBef>
                    <a:spcAft>
                      <a:spcPts val="0"/>
                    </a:spcAft>
                  </a:defPPr>
                  <a:lvl1pPr>
                    <a:defRPr sz="1600" b="1">
                      <a:solidFill>
                        <a:schemeClr val="bg1">
                          <a:lumMod val="95000"/>
                        </a:schemeClr>
                      </a:solidFill>
                      <a:latin typeface="Poppins" panose="020B0604020202020204" charset="0"/>
                      <a:cs typeface="Poppins" panose="020B0604020202020204" charset="0"/>
                    </a:defRPr>
                  </a:lvl1pPr>
                </a:lstStyle>
                <a:p>
                  <a:r>
                    <a:rPr lang="en-IN" dirty="0">
                      <a:latin typeface="Palatino Linotype" panose="02040502050505030304" pitchFamily="18" charset="0"/>
                    </a:rPr>
                    <a:t> Data Collection</a:t>
                  </a:r>
                </a:p>
              </p:txBody>
            </p:sp>
          </p:grpSp>
          <p:sp>
            <p:nvSpPr>
              <p:cNvPr id="75" name="TextBox 74">
                <a:extLst>
                  <a:ext uri="{FF2B5EF4-FFF2-40B4-BE49-F238E27FC236}">
                    <a16:creationId xmlns:a16="http://schemas.microsoft.com/office/drawing/2014/main" id="{541ABF72-8348-8054-248D-8ECBF0A8B9CC}"/>
                  </a:ext>
                </a:extLst>
              </p:cNvPr>
              <p:cNvSpPr txBox="1"/>
              <p:nvPr/>
            </p:nvSpPr>
            <p:spPr>
              <a:xfrm>
                <a:off x="1521366" y="1814468"/>
                <a:ext cx="3703728" cy="830997"/>
              </a:xfrm>
              <a:prstGeom prst="rect">
                <a:avLst/>
              </a:prstGeom>
              <a:noFill/>
            </p:spPr>
            <p:txBody>
              <a:bodyPr wrap="square" rtlCol="0">
                <a:spAutoFit/>
              </a:bodyPr>
              <a:lstStyle/>
              <a:p>
                <a:r>
                  <a:rPr lang="en-GB" sz="1600" dirty="0">
                    <a:solidFill>
                      <a:schemeClr val="tx1">
                        <a:lumMod val="75000"/>
                        <a:lumOff val="25000"/>
                      </a:schemeClr>
                    </a:solidFill>
                    <a:latin typeface="Palatino Linotype" panose="02040502050505030304" pitchFamily="18" charset="0"/>
                    <a:cs typeface="Poppins" panose="020B0604020202020204" charset="0"/>
                  </a:rPr>
                  <a:t>Gather dummy Customer, Loan &amp; Transactions data and understand schema.</a:t>
                </a:r>
                <a:endParaRPr lang="en-IN" sz="1600" dirty="0">
                  <a:solidFill>
                    <a:schemeClr val="tx1">
                      <a:lumMod val="75000"/>
                      <a:lumOff val="25000"/>
                    </a:schemeClr>
                  </a:solidFill>
                  <a:latin typeface="Palatino Linotype" panose="02040502050505030304" pitchFamily="18" charset="0"/>
                  <a:cs typeface="Poppins" panose="020B0604020202020204" charset="0"/>
                </a:endParaRPr>
              </a:p>
            </p:txBody>
          </p:sp>
        </p:grpSp>
      </p:grpSp>
      <p:sp>
        <p:nvSpPr>
          <p:cNvPr id="83" name="TextBox 82">
            <a:extLst>
              <a:ext uri="{FF2B5EF4-FFF2-40B4-BE49-F238E27FC236}">
                <a16:creationId xmlns:a16="http://schemas.microsoft.com/office/drawing/2014/main" id="{1060D55C-B51D-BCAC-2D3A-7C5B3A8DC5F0}"/>
              </a:ext>
            </a:extLst>
          </p:cNvPr>
          <p:cNvSpPr txBox="1"/>
          <p:nvPr/>
        </p:nvSpPr>
        <p:spPr>
          <a:xfrm>
            <a:off x="1660281" y="3738414"/>
            <a:ext cx="3603279" cy="861774"/>
          </a:xfrm>
          <a:prstGeom prst="rect">
            <a:avLst/>
          </a:prstGeom>
          <a:noFill/>
        </p:spPr>
        <p:txBody>
          <a:bodyPr wrap="square" rtlCol="0">
            <a:spAutoFit/>
          </a:bodyPr>
          <a:lstStyle/>
          <a:p>
            <a:r>
              <a:rPr lang="en-GB" sz="1600" dirty="0">
                <a:solidFill>
                  <a:schemeClr val="tx1">
                    <a:lumMod val="75000"/>
                    <a:lumOff val="25000"/>
                  </a:schemeClr>
                </a:solidFill>
                <a:latin typeface="Palatino Linotype" panose="02040502050505030304" pitchFamily="18" charset="0"/>
                <a:cs typeface="Poppins" panose="020B0604020202020204" charset="0"/>
              </a:rPr>
              <a:t>Work with Pivot Table &amp; charts to Extract Insights. </a:t>
            </a:r>
            <a:endParaRPr lang="en-IN" sz="1600" dirty="0">
              <a:solidFill>
                <a:schemeClr val="tx1">
                  <a:lumMod val="75000"/>
                  <a:lumOff val="25000"/>
                </a:schemeClr>
              </a:solidFill>
              <a:latin typeface="Palatino Linotype" panose="02040502050505030304" pitchFamily="18" charset="0"/>
              <a:cs typeface="Poppins" panose="020B0604020202020204" charset="0"/>
            </a:endParaRPr>
          </a:p>
          <a:p>
            <a:endParaRPr lang="en-US" dirty="0"/>
          </a:p>
        </p:txBody>
      </p:sp>
    </p:spTree>
    <p:extLst>
      <p:ext uri="{BB962C8B-B14F-4D97-AF65-F5344CB8AC3E}">
        <p14:creationId xmlns:p14="http://schemas.microsoft.com/office/powerpoint/2010/main" val="12999764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1A196-BFBB-25D3-E751-D4F449F888E7}"/>
            </a:ext>
          </a:extLst>
        </p:cNvPr>
        <p:cNvGrpSpPr/>
        <p:nvPr/>
      </p:nvGrpSpPr>
      <p:grpSpPr>
        <a:xfrm>
          <a:off x="0" y="0"/>
          <a:ext cx="0" cy="0"/>
          <a:chOff x="0" y="0"/>
          <a:chExt cx="0" cy="0"/>
        </a:xfrm>
      </p:grpSpPr>
      <p:sp>
        <p:nvSpPr>
          <p:cNvPr id="2" name="Google Shape;146;p2">
            <a:extLst>
              <a:ext uri="{FF2B5EF4-FFF2-40B4-BE49-F238E27FC236}">
                <a16:creationId xmlns:a16="http://schemas.microsoft.com/office/drawing/2014/main" id="{06C25C0B-9570-AF8A-D9DD-0B32DE460B8D}"/>
              </a:ext>
            </a:extLst>
          </p:cNvPr>
          <p:cNvSpPr/>
          <p:nvPr/>
        </p:nvSpPr>
        <p:spPr>
          <a:xfrm>
            <a:off x="0" y="-15672"/>
            <a:ext cx="12192000" cy="6873671"/>
          </a:xfrm>
          <a:prstGeom prst="rect">
            <a:avLst/>
          </a:prstGeom>
          <a:solidFill>
            <a:schemeClr val="tx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pic>
        <p:nvPicPr>
          <p:cNvPr id="7" name="Google Shape;149;p2">
            <a:extLst>
              <a:ext uri="{FF2B5EF4-FFF2-40B4-BE49-F238E27FC236}">
                <a16:creationId xmlns:a16="http://schemas.microsoft.com/office/drawing/2014/main" id="{4CF5194E-BC74-B3CC-8629-3B9CC88557C5}"/>
              </a:ext>
            </a:extLst>
          </p:cNvPr>
          <p:cNvPicPr preferRelativeResize="0"/>
          <p:nvPr/>
        </p:nvPicPr>
        <p:blipFill rotWithShape="1">
          <a:blip r:embed="rId2">
            <a:alphaModFix/>
          </a:blip>
          <a:srcRect/>
          <a:stretch/>
        </p:blipFill>
        <p:spPr>
          <a:xfrm>
            <a:off x="8036543" y="1462165"/>
            <a:ext cx="3672184" cy="3672184"/>
          </a:xfrm>
          <a:prstGeom prst="rect">
            <a:avLst/>
          </a:prstGeom>
          <a:noFill/>
          <a:ln>
            <a:noFill/>
          </a:ln>
        </p:spPr>
      </p:pic>
      <p:sp>
        <p:nvSpPr>
          <p:cNvPr id="3" name="Google Shape;160;p7">
            <a:extLst>
              <a:ext uri="{FF2B5EF4-FFF2-40B4-BE49-F238E27FC236}">
                <a16:creationId xmlns:a16="http://schemas.microsoft.com/office/drawing/2014/main" id="{51DF65ED-895B-8397-7371-FC30A8D68980}"/>
              </a:ext>
            </a:extLst>
          </p:cNvPr>
          <p:cNvSpPr/>
          <p:nvPr/>
        </p:nvSpPr>
        <p:spPr>
          <a:xfrm>
            <a:off x="0" y="2547468"/>
            <a:ext cx="7222603" cy="2325473"/>
          </a:xfrm>
          <a:prstGeom prst="rect">
            <a:avLst/>
          </a:prstGeom>
          <a:solidFill>
            <a:schemeClr val="tx2">
              <a:lumMod val="75000"/>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pic>
        <p:nvPicPr>
          <p:cNvPr id="5" name="Google Shape;162;p7">
            <a:extLst>
              <a:ext uri="{FF2B5EF4-FFF2-40B4-BE49-F238E27FC236}">
                <a16:creationId xmlns:a16="http://schemas.microsoft.com/office/drawing/2014/main" id="{36D43915-1789-5DD6-9778-2ACBBEFC9D15}"/>
              </a:ext>
            </a:extLst>
          </p:cNvPr>
          <p:cNvPicPr preferRelativeResize="0"/>
          <p:nvPr/>
        </p:nvPicPr>
        <p:blipFill rotWithShape="1">
          <a:blip r:embed="rId3">
            <a:alphaModFix/>
          </a:blip>
          <a:srcRect/>
          <a:stretch/>
        </p:blipFill>
        <p:spPr>
          <a:xfrm>
            <a:off x="533400" y="2835734"/>
            <a:ext cx="518323" cy="518323"/>
          </a:xfrm>
          <a:prstGeom prst="rect">
            <a:avLst/>
          </a:prstGeom>
          <a:noFill/>
          <a:ln>
            <a:noFill/>
          </a:ln>
        </p:spPr>
      </p:pic>
      <p:sp>
        <p:nvSpPr>
          <p:cNvPr id="4" name="Google Shape;161;p7">
            <a:extLst>
              <a:ext uri="{FF2B5EF4-FFF2-40B4-BE49-F238E27FC236}">
                <a16:creationId xmlns:a16="http://schemas.microsoft.com/office/drawing/2014/main" id="{F841F620-A6FD-6500-ABF1-4A9E6D751A80}"/>
              </a:ext>
            </a:extLst>
          </p:cNvPr>
          <p:cNvSpPr txBox="1"/>
          <p:nvPr/>
        </p:nvSpPr>
        <p:spPr>
          <a:xfrm>
            <a:off x="533400" y="3704000"/>
            <a:ext cx="6168342" cy="66787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3200" b="1" i="0" u="none" strike="noStrike" cap="none" dirty="0">
                <a:solidFill>
                  <a:srgbClr val="FFFFFF"/>
                </a:solidFill>
                <a:latin typeface="Palatino Linotype" panose="02040502050505030304" pitchFamily="18" charset="0"/>
                <a:ea typeface="Poppins"/>
                <a:cs typeface="Poppins"/>
                <a:sym typeface="Poppins"/>
              </a:rPr>
              <a:t>Exploratory Data Analysis</a:t>
            </a:r>
            <a:endParaRPr sz="3200" b="0" i="0" u="none" strike="noStrike" cap="none" dirty="0">
              <a:solidFill>
                <a:srgbClr val="FFFFFF"/>
              </a:solidFill>
              <a:latin typeface="Palatino Linotype" panose="02040502050505030304" pitchFamily="18" charset="0"/>
              <a:ea typeface="Poppins"/>
              <a:cs typeface="Poppins"/>
              <a:sym typeface="Poppins"/>
            </a:endParaRPr>
          </a:p>
        </p:txBody>
      </p:sp>
    </p:spTree>
    <p:extLst>
      <p:ext uri="{BB962C8B-B14F-4D97-AF65-F5344CB8AC3E}">
        <p14:creationId xmlns:p14="http://schemas.microsoft.com/office/powerpoint/2010/main" val="13825452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47;p2">
            <a:extLst>
              <a:ext uri="{FF2B5EF4-FFF2-40B4-BE49-F238E27FC236}">
                <a16:creationId xmlns:a16="http://schemas.microsoft.com/office/drawing/2014/main" id="{B72A76B7-5AB6-A409-5261-7772E16C7B51}"/>
              </a:ext>
            </a:extLst>
          </p:cNvPr>
          <p:cNvSpPr txBox="1">
            <a:spLocks/>
          </p:cNvSpPr>
          <p:nvPr/>
        </p:nvSpPr>
        <p:spPr>
          <a:xfrm>
            <a:off x="463043" y="421813"/>
            <a:ext cx="10014457" cy="49244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dirty="0">
                <a:solidFill>
                  <a:schemeClr val="tx1">
                    <a:lumMod val="75000"/>
                    <a:lumOff val="25000"/>
                  </a:schemeClr>
                </a:solidFill>
                <a:latin typeface="Palatino Linotype" panose="02040502050505030304" pitchFamily="18" charset="0"/>
                <a:cs typeface="Poppins" panose="020B0604020202020204" charset="0"/>
              </a:rPr>
              <a:t>Raw Dataset Structure  –  Before Processing</a:t>
            </a:r>
            <a:endParaRPr lang="en-US" sz="3200" dirty="0">
              <a:solidFill>
                <a:schemeClr val="tx1">
                  <a:lumMod val="75000"/>
                  <a:lumOff val="25000"/>
                </a:schemeClr>
              </a:solidFill>
              <a:latin typeface="Palatino Linotype" panose="02040502050505030304" pitchFamily="18" charset="0"/>
            </a:endParaRPr>
          </a:p>
        </p:txBody>
      </p:sp>
      <p:sp>
        <p:nvSpPr>
          <p:cNvPr id="5" name="TextBox 4">
            <a:extLst>
              <a:ext uri="{FF2B5EF4-FFF2-40B4-BE49-F238E27FC236}">
                <a16:creationId xmlns:a16="http://schemas.microsoft.com/office/drawing/2014/main" id="{10CBAEC2-A15A-5FBA-A5B4-1BB118AC9C30}"/>
              </a:ext>
            </a:extLst>
          </p:cNvPr>
          <p:cNvSpPr txBox="1"/>
          <p:nvPr/>
        </p:nvSpPr>
        <p:spPr>
          <a:xfrm>
            <a:off x="463043" y="993058"/>
            <a:ext cx="11286505" cy="369332"/>
          </a:xfrm>
          <a:prstGeom prst="rect">
            <a:avLst/>
          </a:prstGeom>
          <a:noFill/>
        </p:spPr>
        <p:txBody>
          <a:bodyPr wrap="square" rtlCol="0">
            <a:spAutoFit/>
          </a:bodyPr>
          <a:lstStyle/>
          <a:p>
            <a:r>
              <a:rPr lang="en-US" dirty="0">
                <a:solidFill>
                  <a:schemeClr val="tx1">
                    <a:lumMod val="75000"/>
                    <a:lumOff val="25000"/>
                  </a:schemeClr>
                </a:solidFill>
                <a:latin typeface="Palatino Linotype" panose="02040502050505030304" pitchFamily="18" charset="0"/>
                <a:cs typeface="Poppins" panose="020B0604020202020204" charset="0"/>
              </a:rPr>
              <a:t>Given data is banking data from Jan 2023 to July 2023</a:t>
            </a:r>
          </a:p>
        </p:txBody>
      </p:sp>
      <p:pic>
        <p:nvPicPr>
          <p:cNvPr id="7" name="Picture 6">
            <a:extLst>
              <a:ext uri="{FF2B5EF4-FFF2-40B4-BE49-F238E27FC236}">
                <a16:creationId xmlns:a16="http://schemas.microsoft.com/office/drawing/2014/main" id="{D67E219D-1BFB-3B63-5BAB-3558BF39DF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10844" y="1818067"/>
            <a:ext cx="8786621" cy="4618120"/>
          </a:xfrm>
          <a:prstGeom prst="rect">
            <a:avLst/>
          </a:prstGeom>
        </p:spPr>
      </p:pic>
    </p:spTree>
    <p:extLst>
      <p:ext uri="{BB962C8B-B14F-4D97-AF65-F5344CB8AC3E}">
        <p14:creationId xmlns:p14="http://schemas.microsoft.com/office/powerpoint/2010/main" val="19843609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1463A4B9-20EB-E149-7B3E-7CAE7A4220D9}"/>
              </a:ext>
            </a:extLst>
          </p:cNvPr>
          <p:cNvSpPr/>
          <p:nvPr/>
        </p:nvSpPr>
        <p:spPr>
          <a:xfrm>
            <a:off x="142240" y="160474"/>
            <a:ext cx="11783242" cy="2139361"/>
          </a:xfrm>
          <a:prstGeom prst="roundRect">
            <a:avLst/>
          </a:prstGeom>
          <a:solidFill>
            <a:schemeClr val="tx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TextBox 2">
            <a:extLst>
              <a:ext uri="{FF2B5EF4-FFF2-40B4-BE49-F238E27FC236}">
                <a16:creationId xmlns:a16="http://schemas.microsoft.com/office/drawing/2014/main" id="{B7949561-F6CA-3E3D-08A9-104BC607C99C}"/>
              </a:ext>
            </a:extLst>
          </p:cNvPr>
          <p:cNvSpPr txBox="1"/>
          <p:nvPr/>
        </p:nvSpPr>
        <p:spPr>
          <a:xfrm>
            <a:off x="382895" y="1191547"/>
            <a:ext cx="10889184" cy="954107"/>
          </a:xfrm>
          <a:prstGeom prst="rect">
            <a:avLst/>
          </a:prstGeom>
          <a:noFill/>
        </p:spPr>
        <p:txBody>
          <a:bodyPr wrap="square">
            <a:spAutoFit/>
          </a:bodyPr>
          <a:lstStyle/>
          <a:p>
            <a:r>
              <a:rPr lang="en-GB" sz="2800" dirty="0">
                <a:solidFill>
                  <a:schemeClr val="bg1"/>
                </a:solidFill>
                <a:effectLst/>
                <a:latin typeface="Palatino Linotype" panose="02040502050505030304" pitchFamily="18" charset="0"/>
                <a:cs typeface="Poppins" panose="020B0604020202020204" charset="0"/>
              </a:rPr>
              <a:t>Uncovering patterns, trends, and business insights from historical data !</a:t>
            </a:r>
            <a:endParaRPr lang="en-IN" sz="2800" dirty="0">
              <a:solidFill>
                <a:schemeClr val="bg1"/>
              </a:solidFill>
              <a:latin typeface="Palatino Linotype" panose="02040502050505030304" pitchFamily="18" charset="0"/>
              <a:cs typeface="Poppins" panose="020B0604020202020204" charset="0"/>
            </a:endParaRPr>
          </a:p>
        </p:txBody>
      </p:sp>
      <p:sp>
        <p:nvSpPr>
          <p:cNvPr id="4" name="TextBox 3">
            <a:extLst>
              <a:ext uri="{FF2B5EF4-FFF2-40B4-BE49-F238E27FC236}">
                <a16:creationId xmlns:a16="http://schemas.microsoft.com/office/drawing/2014/main" id="{FE4E00F9-7398-62D3-DFAC-65132B454AC6}"/>
              </a:ext>
            </a:extLst>
          </p:cNvPr>
          <p:cNvSpPr txBox="1"/>
          <p:nvPr/>
        </p:nvSpPr>
        <p:spPr>
          <a:xfrm>
            <a:off x="1026160" y="3221872"/>
            <a:ext cx="8920480" cy="2308324"/>
          </a:xfrm>
          <a:prstGeom prst="rect">
            <a:avLst/>
          </a:prstGeom>
          <a:noFill/>
        </p:spPr>
        <p:txBody>
          <a:bodyPr wrap="square" rtlCol="0">
            <a:spAutoFit/>
          </a:bodyPr>
          <a:lstStyle/>
          <a:p>
            <a:r>
              <a:rPr lang="en-GB" sz="2400" dirty="0">
                <a:effectLst/>
                <a:latin typeface="Palatino Linotype" panose="02040502050505030304" pitchFamily="18" charset="0"/>
                <a:cs typeface="Poppins" panose="020B0604020202020204" charset="0"/>
              </a:rPr>
              <a:t>Understanding the “What, Where &amp; Why” behind the sales numbers</a:t>
            </a:r>
          </a:p>
          <a:p>
            <a:br>
              <a:rPr lang="en-GB" sz="2400" dirty="0">
                <a:effectLst/>
                <a:latin typeface="Palatino Linotype" panose="02040502050505030304" pitchFamily="18" charset="0"/>
                <a:cs typeface="Poppins" panose="020B0604020202020204" charset="0"/>
              </a:rPr>
            </a:br>
            <a:r>
              <a:rPr lang="en-GB" sz="2400" dirty="0">
                <a:effectLst/>
                <a:latin typeface="Palatino Linotype" panose="02040502050505030304" pitchFamily="18" charset="0"/>
                <a:cs typeface="Poppins" panose="020B0604020202020204" charset="0"/>
              </a:rPr>
              <a:t>Exploring data through visuals, aggregations, and comparisons</a:t>
            </a:r>
            <a:br>
              <a:rPr lang="en-GB" sz="2400" dirty="0">
                <a:effectLst/>
                <a:latin typeface="Palatino Linotype" panose="02040502050505030304" pitchFamily="18" charset="0"/>
                <a:cs typeface="Poppins" panose="020B0604020202020204" charset="0"/>
              </a:rPr>
            </a:br>
            <a:endParaRPr lang="en-GB" sz="2400" dirty="0">
              <a:effectLst/>
              <a:latin typeface="Palatino Linotype" panose="02040502050505030304" pitchFamily="18" charset="0"/>
              <a:cs typeface="Poppins" panose="020B0604020202020204" charset="0"/>
            </a:endParaRPr>
          </a:p>
          <a:p>
            <a:r>
              <a:rPr lang="en-GB" sz="2400" dirty="0">
                <a:effectLst/>
                <a:latin typeface="Palatino Linotype" panose="02040502050505030304" pitchFamily="18" charset="0"/>
                <a:cs typeface="Poppins" panose="020B0604020202020204" charset="0"/>
              </a:rPr>
              <a:t>Laying the groundwork for informed recommendations</a:t>
            </a:r>
            <a:endParaRPr lang="en-IN" sz="2400" dirty="0">
              <a:latin typeface="Palatino Linotype" panose="02040502050505030304" pitchFamily="18" charset="0"/>
              <a:cs typeface="Poppins" panose="020B0604020202020204" charset="0"/>
            </a:endParaRPr>
          </a:p>
        </p:txBody>
      </p:sp>
      <p:pic>
        <p:nvPicPr>
          <p:cNvPr id="5" name="Picture 4">
            <a:extLst>
              <a:ext uri="{FF2B5EF4-FFF2-40B4-BE49-F238E27FC236}">
                <a16:creationId xmlns:a16="http://schemas.microsoft.com/office/drawing/2014/main" id="{822D3E8F-0AED-BE98-8000-B94F67969068}"/>
              </a:ext>
            </a:extLst>
          </p:cNvPr>
          <p:cNvPicPr>
            <a:picLocks noChangeAspect="1"/>
          </p:cNvPicPr>
          <p:nvPr/>
        </p:nvPicPr>
        <p:blipFill>
          <a:blip r:embed="rId2"/>
          <a:stretch>
            <a:fillRect/>
          </a:stretch>
        </p:blipFill>
        <p:spPr>
          <a:xfrm>
            <a:off x="9688057" y="5905007"/>
            <a:ext cx="2364514" cy="587867"/>
          </a:xfrm>
          <a:prstGeom prst="rect">
            <a:avLst/>
          </a:prstGeom>
        </p:spPr>
      </p:pic>
      <p:sp>
        <p:nvSpPr>
          <p:cNvPr id="6" name="Google Shape;147;p2">
            <a:extLst>
              <a:ext uri="{FF2B5EF4-FFF2-40B4-BE49-F238E27FC236}">
                <a16:creationId xmlns:a16="http://schemas.microsoft.com/office/drawing/2014/main" id="{59A79975-A7FF-29BE-8A2E-C6F3C6C4C491}"/>
              </a:ext>
            </a:extLst>
          </p:cNvPr>
          <p:cNvSpPr txBox="1">
            <a:spLocks/>
          </p:cNvSpPr>
          <p:nvPr/>
        </p:nvSpPr>
        <p:spPr>
          <a:xfrm>
            <a:off x="463044" y="421813"/>
            <a:ext cx="7899906" cy="49244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3200" dirty="0">
                <a:solidFill>
                  <a:schemeClr val="bg1"/>
                </a:solidFill>
                <a:latin typeface="Palatino Linotype" panose="02040502050505030304" pitchFamily="18" charset="0"/>
              </a:rPr>
              <a:t>Exploratory Data Analysis (EDA)</a:t>
            </a:r>
            <a:endParaRPr lang="en-US" sz="3200" dirty="0">
              <a:solidFill>
                <a:schemeClr val="bg1"/>
              </a:solidFill>
              <a:latin typeface="Palatino Linotype" panose="02040502050505030304" pitchFamily="18" charset="0"/>
            </a:endParaRPr>
          </a:p>
        </p:txBody>
      </p:sp>
    </p:spTree>
    <p:extLst>
      <p:ext uri="{BB962C8B-B14F-4D97-AF65-F5344CB8AC3E}">
        <p14:creationId xmlns:p14="http://schemas.microsoft.com/office/powerpoint/2010/main" val="14109082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8ED3EE-4616-33F8-ADA5-171F15305460}"/>
              </a:ext>
            </a:extLst>
          </p:cNvPr>
          <p:cNvSpPr txBox="1"/>
          <p:nvPr/>
        </p:nvSpPr>
        <p:spPr>
          <a:xfrm>
            <a:off x="3383688" y="1228397"/>
            <a:ext cx="4173165" cy="4401205"/>
          </a:xfrm>
          <a:prstGeom prst="rect">
            <a:avLst/>
          </a:prstGeom>
          <a:noFill/>
        </p:spPr>
        <p:txBody>
          <a:bodyPr wrap="square">
            <a:spAutoFit/>
          </a:bodyPr>
          <a:lstStyle/>
          <a:p>
            <a:endParaRPr lang="en-GB" sz="2000" dirty="0">
              <a:effectLst/>
              <a:latin typeface="Palatino Linotype" panose="02040502050505030304" pitchFamily="18" charset="0"/>
              <a:cs typeface="Poppins" panose="020B0604020202020204" charset="0"/>
            </a:endParaRPr>
          </a:p>
          <a:p>
            <a:pPr marL="285750" indent="-285750">
              <a:buFont typeface="Arial" panose="020B0604020202020204" pitchFamily="34" charset="0"/>
              <a:buChar char="•"/>
            </a:pPr>
            <a:r>
              <a:rPr lang="en-GB" sz="2000" dirty="0">
                <a:effectLst/>
                <a:latin typeface="Palatino Linotype" panose="02040502050505030304" pitchFamily="18" charset="0"/>
                <a:cs typeface="Poppins" panose="020B0604020202020204" charset="0"/>
              </a:rPr>
              <a:t>Load Data in Excel Power Query</a:t>
            </a:r>
          </a:p>
          <a:p>
            <a:pPr marL="285750" indent="-285750">
              <a:buFont typeface="Arial" panose="020B0604020202020204" pitchFamily="34" charset="0"/>
              <a:buChar char="•"/>
            </a:pPr>
            <a:endParaRPr lang="en-GB" sz="2000" dirty="0">
              <a:effectLst/>
              <a:latin typeface="Palatino Linotype" panose="02040502050505030304" pitchFamily="18" charset="0"/>
              <a:cs typeface="Poppins" panose="020B0604020202020204" charset="0"/>
            </a:endParaRPr>
          </a:p>
          <a:p>
            <a:pPr marL="285750" indent="-285750">
              <a:buFont typeface="Arial" panose="020B0604020202020204" pitchFamily="34" charset="0"/>
              <a:buChar char="•"/>
            </a:pPr>
            <a:r>
              <a:rPr lang="en-GB" sz="2000" dirty="0">
                <a:effectLst/>
                <a:latin typeface="Palatino Linotype" panose="02040502050505030304" pitchFamily="18" charset="0"/>
                <a:cs typeface="Poppins" panose="020B0604020202020204" charset="0"/>
              </a:rPr>
              <a:t>Initial Exploration</a:t>
            </a:r>
          </a:p>
          <a:p>
            <a:pPr marL="285750" indent="-285750">
              <a:buFont typeface="Arial" panose="020B0604020202020204" pitchFamily="34" charset="0"/>
              <a:buChar char="•"/>
            </a:pPr>
            <a:endParaRPr lang="en-GB" sz="2000" dirty="0">
              <a:effectLst/>
              <a:latin typeface="Palatino Linotype" panose="02040502050505030304" pitchFamily="18" charset="0"/>
              <a:cs typeface="Poppins" panose="020B0604020202020204" charset="0"/>
            </a:endParaRPr>
          </a:p>
          <a:p>
            <a:pPr marL="285750" indent="-285750">
              <a:buFont typeface="Arial" panose="020B0604020202020204" pitchFamily="34" charset="0"/>
              <a:buChar char="•"/>
            </a:pPr>
            <a:r>
              <a:rPr lang="en-GB" sz="2000" dirty="0">
                <a:effectLst/>
                <a:latin typeface="Palatino Linotype" panose="02040502050505030304" pitchFamily="18" charset="0"/>
                <a:cs typeface="Poppins" panose="020B0604020202020204" charset="0"/>
              </a:rPr>
              <a:t>Pre-processing &amp; Cleaning</a:t>
            </a:r>
          </a:p>
          <a:p>
            <a:pPr marL="285750" indent="-285750">
              <a:buFont typeface="Arial" panose="020B0604020202020204" pitchFamily="34" charset="0"/>
              <a:buChar char="•"/>
            </a:pPr>
            <a:endParaRPr lang="en-GB" sz="2000" dirty="0">
              <a:latin typeface="Palatino Linotype" panose="02040502050505030304" pitchFamily="18" charset="0"/>
              <a:cs typeface="Poppins" panose="020B0604020202020204" charset="0"/>
            </a:endParaRPr>
          </a:p>
          <a:p>
            <a:pPr marL="285750" indent="-285750">
              <a:buFont typeface="Arial" panose="020B0604020202020204" pitchFamily="34" charset="0"/>
              <a:buChar char="•"/>
            </a:pPr>
            <a:r>
              <a:rPr lang="en-GB" sz="2000" dirty="0">
                <a:effectLst/>
                <a:latin typeface="Palatino Linotype" panose="02040502050505030304" pitchFamily="18" charset="0"/>
                <a:cs typeface="Poppins" panose="020B0604020202020204" charset="0"/>
              </a:rPr>
              <a:t>Feature Engineering</a:t>
            </a:r>
          </a:p>
          <a:p>
            <a:pPr marL="285750" indent="-285750">
              <a:buFont typeface="Arial" panose="020B0604020202020204" pitchFamily="34" charset="0"/>
              <a:buChar char="•"/>
            </a:pPr>
            <a:endParaRPr lang="en-GB" sz="2000" dirty="0">
              <a:effectLst/>
              <a:latin typeface="Palatino Linotype" panose="02040502050505030304" pitchFamily="18" charset="0"/>
              <a:cs typeface="Poppins" panose="020B0604020202020204" charset="0"/>
            </a:endParaRPr>
          </a:p>
          <a:p>
            <a:pPr marL="285750" indent="-285750">
              <a:buFont typeface="Arial" panose="020B0604020202020204" pitchFamily="34" charset="0"/>
              <a:buChar char="•"/>
            </a:pPr>
            <a:r>
              <a:rPr lang="en-GB" sz="2000" dirty="0">
                <a:effectLst/>
                <a:latin typeface="Palatino Linotype" panose="02040502050505030304" pitchFamily="18" charset="0"/>
                <a:cs typeface="Poppins" panose="020B0604020202020204" charset="0"/>
              </a:rPr>
              <a:t>EDA &amp; Visualization</a:t>
            </a:r>
          </a:p>
          <a:p>
            <a:pPr marL="285750" indent="-285750">
              <a:buFont typeface="Arial" panose="020B0604020202020204" pitchFamily="34" charset="0"/>
              <a:buChar char="•"/>
            </a:pPr>
            <a:endParaRPr lang="en-GB" sz="2000" dirty="0">
              <a:effectLst/>
              <a:latin typeface="Palatino Linotype" panose="02040502050505030304" pitchFamily="18" charset="0"/>
              <a:cs typeface="Poppins" panose="020B0604020202020204" charset="0"/>
            </a:endParaRPr>
          </a:p>
          <a:p>
            <a:pPr marL="285750" indent="-285750">
              <a:buFont typeface="Arial" panose="020B0604020202020204" pitchFamily="34" charset="0"/>
              <a:buChar char="•"/>
            </a:pPr>
            <a:r>
              <a:rPr lang="en-GB" sz="2000" dirty="0">
                <a:effectLst/>
                <a:latin typeface="Palatino Linotype" panose="02040502050505030304" pitchFamily="18" charset="0"/>
                <a:cs typeface="Poppins" panose="020B0604020202020204" charset="0"/>
              </a:rPr>
              <a:t>Key Insights</a:t>
            </a:r>
          </a:p>
          <a:p>
            <a:pPr marL="285750" indent="-285750">
              <a:buFont typeface="Arial" panose="020B0604020202020204" pitchFamily="34" charset="0"/>
              <a:buChar char="•"/>
            </a:pPr>
            <a:endParaRPr lang="en-GB" sz="2000" dirty="0">
              <a:effectLst/>
              <a:latin typeface="Palatino Linotype" panose="02040502050505030304" pitchFamily="18" charset="0"/>
              <a:cs typeface="Poppins" panose="020B0604020202020204" charset="0"/>
            </a:endParaRPr>
          </a:p>
          <a:p>
            <a:pPr marL="285750" indent="-285750">
              <a:buFont typeface="Arial" panose="020B0604020202020204" pitchFamily="34" charset="0"/>
              <a:buChar char="•"/>
            </a:pPr>
            <a:r>
              <a:rPr lang="en-GB" sz="2000" dirty="0">
                <a:effectLst/>
                <a:latin typeface="Palatino Linotype" panose="02040502050505030304" pitchFamily="18" charset="0"/>
                <a:cs typeface="Poppins" panose="020B0604020202020204" charset="0"/>
              </a:rPr>
              <a:t>Recommendations</a:t>
            </a:r>
            <a:endParaRPr lang="en-IN" sz="2000" dirty="0">
              <a:latin typeface="Palatino Linotype" panose="02040502050505030304" pitchFamily="18" charset="0"/>
              <a:cs typeface="Poppins" panose="020B0604020202020204" charset="0"/>
            </a:endParaRPr>
          </a:p>
        </p:txBody>
      </p:sp>
      <p:sp>
        <p:nvSpPr>
          <p:cNvPr id="3" name="Google Shape;147;p2">
            <a:extLst>
              <a:ext uri="{FF2B5EF4-FFF2-40B4-BE49-F238E27FC236}">
                <a16:creationId xmlns:a16="http://schemas.microsoft.com/office/drawing/2014/main" id="{39D3A11E-F6E7-B5B2-55D5-8F19803A4177}"/>
              </a:ext>
            </a:extLst>
          </p:cNvPr>
          <p:cNvSpPr txBox="1">
            <a:spLocks/>
          </p:cNvSpPr>
          <p:nvPr/>
        </p:nvSpPr>
        <p:spPr>
          <a:xfrm>
            <a:off x="463043" y="421813"/>
            <a:ext cx="10014457" cy="49244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dirty="0">
                <a:solidFill>
                  <a:schemeClr val="tx1">
                    <a:lumMod val="75000"/>
                    <a:lumOff val="25000"/>
                  </a:schemeClr>
                </a:solidFill>
                <a:latin typeface="Palatino Linotype" panose="02040502050505030304" pitchFamily="18" charset="0"/>
                <a:cs typeface="Poppins" panose="020B0604020202020204" charset="0"/>
              </a:rPr>
              <a:t>EDA: Step‑by‑Step Process</a:t>
            </a:r>
            <a:endParaRPr lang="en-US" sz="3200" dirty="0">
              <a:solidFill>
                <a:schemeClr val="tx1">
                  <a:lumMod val="75000"/>
                  <a:lumOff val="25000"/>
                </a:schemeClr>
              </a:solidFill>
              <a:latin typeface="Palatino Linotype" panose="02040502050505030304" pitchFamily="18" charset="0"/>
            </a:endParaRPr>
          </a:p>
        </p:txBody>
      </p:sp>
    </p:spTree>
    <p:extLst>
      <p:ext uri="{BB962C8B-B14F-4D97-AF65-F5344CB8AC3E}">
        <p14:creationId xmlns:p14="http://schemas.microsoft.com/office/powerpoint/2010/main" val="26121349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2DA2320-BDD9-995B-A91A-2B5932C760A2}"/>
              </a:ext>
            </a:extLst>
          </p:cNvPr>
          <p:cNvSpPr txBox="1"/>
          <p:nvPr/>
        </p:nvSpPr>
        <p:spPr>
          <a:xfrm>
            <a:off x="2003479" y="2042297"/>
            <a:ext cx="7733489" cy="4247317"/>
          </a:xfrm>
          <a:prstGeom prst="rect">
            <a:avLst/>
          </a:prstGeom>
          <a:noFill/>
        </p:spPr>
        <p:txBody>
          <a:bodyPr wrap="square">
            <a:spAutoFit/>
          </a:bodyPr>
          <a:lstStyle/>
          <a:p>
            <a:pPr marL="285750" indent="-285750">
              <a:buFont typeface="Arial" panose="020B0604020202020204" pitchFamily="34" charset="0"/>
              <a:buChar char="•"/>
            </a:pPr>
            <a:r>
              <a:rPr lang="en-IN" sz="1800" dirty="0">
                <a:effectLst/>
                <a:latin typeface="Palatino Linotype" panose="02040502050505030304" pitchFamily="18" charset="0"/>
              </a:rPr>
              <a:t>Loa</a:t>
            </a:r>
            <a:r>
              <a:rPr lang="en-IN" sz="1800" dirty="0">
                <a:latin typeface="Palatino Linotype" panose="02040502050505030304" pitchFamily="18" charset="0"/>
              </a:rPr>
              <a:t>d dataset and perform Data profiling.</a:t>
            </a:r>
            <a:br>
              <a:rPr lang="en-IN" sz="1800" dirty="0">
                <a:effectLst/>
                <a:latin typeface="Palatino Linotype" panose="02040502050505030304" pitchFamily="18" charset="0"/>
              </a:rPr>
            </a:br>
            <a:endParaRPr lang="en-IN" sz="1800" dirty="0">
              <a:effectLst/>
              <a:latin typeface="Palatino Linotype" panose="02040502050505030304" pitchFamily="18" charset="0"/>
            </a:endParaRPr>
          </a:p>
          <a:p>
            <a:pPr marL="285750" indent="-285750">
              <a:buFont typeface="Arial" panose="020B0604020202020204" pitchFamily="34" charset="0"/>
              <a:buChar char="•"/>
            </a:pPr>
            <a:r>
              <a:rPr lang="en-IN" dirty="0">
                <a:latin typeface="Palatino Linotype" panose="02040502050505030304" pitchFamily="18" charset="0"/>
              </a:rPr>
              <a:t>Remove Null values from all three dataset.</a:t>
            </a:r>
            <a:br>
              <a:rPr lang="en-IN" sz="1800" dirty="0">
                <a:effectLst/>
                <a:latin typeface="Palatino Linotype" panose="02040502050505030304" pitchFamily="18" charset="0"/>
              </a:rPr>
            </a:br>
            <a:endParaRPr lang="en-IN" sz="1800" dirty="0">
              <a:effectLst/>
              <a:latin typeface="Palatino Linotype" panose="02040502050505030304" pitchFamily="18" charset="0"/>
            </a:endParaRPr>
          </a:p>
          <a:p>
            <a:pPr marL="285750" indent="-285750">
              <a:buFont typeface="Arial" panose="020B0604020202020204" pitchFamily="34" charset="0"/>
              <a:buChar char="•"/>
            </a:pPr>
            <a:r>
              <a:rPr lang="en-IN" sz="1800" dirty="0">
                <a:latin typeface="Palatino Linotype" panose="02040502050505030304" pitchFamily="18" charset="0"/>
              </a:rPr>
              <a:t>Performing data type conversion on </a:t>
            </a:r>
            <a:r>
              <a:rPr lang="en-IN" dirty="0">
                <a:latin typeface="Palatino Linotype" panose="02040502050505030304" pitchFamily="18" charset="0"/>
              </a:rPr>
              <a:t>necessary columns.</a:t>
            </a:r>
            <a:br>
              <a:rPr lang="en-IN" sz="1800" dirty="0">
                <a:effectLst/>
                <a:latin typeface="Palatino Linotype" panose="02040502050505030304" pitchFamily="18" charset="0"/>
              </a:rPr>
            </a:br>
            <a:endParaRPr lang="en-IN" sz="1800" dirty="0">
              <a:effectLst/>
              <a:latin typeface="Palatino Linotype" panose="02040502050505030304" pitchFamily="18" charset="0"/>
            </a:endParaRPr>
          </a:p>
          <a:p>
            <a:pPr marL="285750" indent="-285750">
              <a:buFont typeface="Arial" panose="020B0604020202020204" pitchFamily="34" charset="0"/>
              <a:buChar char="•"/>
            </a:pPr>
            <a:r>
              <a:rPr lang="en-IN" sz="1800" dirty="0">
                <a:effectLst/>
                <a:latin typeface="Palatino Linotype" panose="02040502050505030304" pitchFamily="18" charset="0"/>
              </a:rPr>
              <a:t>Create </a:t>
            </a:r>
            <a:r>
              <a:rPr lang="en-IN" dirty="0">
                <a:latin typeface="Palatino Linotype" panose="02040502050505030304" pitchFamily="18" charset="0"/>
              </a:rPr>
              <a:t>Custom</a:t>
            </a:r>
            <a:r>
              <a:rPr lang="en-IN" sz="1800" dirty="0">
                <a:effectLst/>
                <a:latin typeface="Palatino Linotype" panose="02040502050505030304" pitchFamily="18" charset="0"/>
              </a:rPr>
              <a:t> column(Age_group) with help of age column </a:t>
            </a:r>
            <a:r>
              <a:rPr lang="en-IN" dirty="0">
                <a:latin typeface="Palatino Linotype" panose="02040502050505030304" pitchFamily="18" charset="0"/>
              </a:rPr>
              <a:t>in loan dataset</a:t>
            </a:r>
            <a:r>
              <a:rPr lang="en-IN" sz="1800" dirty="0">
                <a:effectLst/>
                <a:latin typeface="Palatino Linotype" panose="02040502050505030304" pitchFamily="18" charset="0"/>
              </a:rPr>
              <a:t>.</a:t>
            </a:r>
          </a:p>
          <a:p>
            <a:pPr marL="285750" indent="-285750">
              <a:buFont typeface="Arial" panose="020B0604020202020204" pitchFamily="34" charset="0"/>
              <a:buChar char="•"/>
            </a:pPr>
            <a:r>
              <a:rPr lang="en-IN" dirty="0">
                <a:latin typeface="Palatino Linotype" panose="02040502050505030304" pitchFamily="18" charset="0"/>
              </a:rPr>
              <a:t>Create Month, Day &amp; Hour columns in transactions dataset.</a:t>
            </a:r>
            <a:br>
              <a:rPr lang="en-IN" sz="1800" dirty="0">
                <a:effectLst/>
                <a:latin typeface="Palatino Linotype" panose="02040502050505030304" pitchFamily="18" charset="0"/>
              </a:rPr>
            </a:br>
            <a:endParaRPr lang="en-IN" sz="1800" dirty="0">
              <a:effectLst/>
              <a:latin typeface="Palatino Linotype" panose="02040502050505030304" pitchFamily="18" charset="0"/>
            </a:endParaRPr>
          </a:p>
          <a:p>
            <a:pPr marL="285750" indent="-285750">
              <a:buFont typeface="Arial" panose="020B0604020202020204" pitchFamily="34" charset="0"/>
              <a:buChar char="•"/>
            </a:pPr>
            <a:r>
              <a:rPr lang="en-IN" sz="1800" dirty="0">
                <a:latin typeface="Palatino Linotype" panose="02040502050505030304" pitchFamily="18" charset="0"/>
              </a:rPr>
              <a:t>Drop unwanted columns to make dataset understandable.</a:t>
            </a:r>
            <a:br>
              <a:rPr lang="en-IN" sz="1800" dirty="0">
                <a:effectLst/>
                <a:latin typeface="Palatino Linotype" panose="02040502050505030304" pitchFamily="18" charset="0"/>
              </a:rPr>
            </a:br>
            <a:endParaRPr lang="en-IN" sz="1800" dirty="0">
              <a:effectLst/>
              <a:latin typeface="Palatino Linotype" panose="02040502050505030304" pitchFamily="18" charset="0"/>
            </a:endParaRPr>
          </a:p>
          <a:p>
            <a:pPr marL="285750" indent="-285750">
              <a:buFont typeface="Arial" panose="020B0604020202020204" pitchFamily="34" charset="0"/>
              <a:buChar char="•"/>
            </a:pPr>
            <a:r>
              <a:rPr lang="en-IN" sz="1800" dirty="0">
                <a:latin typeface="Palatino Linotype" panose="02040502050505030304" pitchFamily="18" charset="0"/>
              </a:rPr>
              <a:t>Checking and Removing of duplicated data from dataset.</a:t>
            </a:r>
            <a:br>
              <a:rPr lang="en-IN" sz="1800" dirty="0">
                <a:effectLst/>
                <a:latin typeface="Palatino Linotype" panose="02040502050505030304" pitchFamily="18" charset="0"/>
              </a:rPr>
            </a:br>
            <a:endParaRPr lang="en-IN" sz="1800" dirty="0">
              <a:effectLst/>
              <a:latin typeface="Palatino Linotype" panose="02040502050505030304" pitchFamily="18" charset="0"/>
            </a:endParaRPr>
          </a:p>
          <a:p>
            <a:endParaRPr lang="en-IN" sz="1800" dirty="0">
              <a:effectLst/>
              <a:latin typeface="Palatino Linotype" panose="02040502050505030304" pitchFamily="18" charset="0"/>
            </a:endParaRPr>
          </a:p>
        </p:txBody>
      </p:sp>
      <p:sp>
        <p:nvSpPr>
          <p:cNvPr id="3" name="TextBox 2">
            <a:extLst>
              <a:ext uri="{FF2B5EF4-FFF2-40B4-BE49-F238E27FC236}">
                <a16:creationId xmlns:a16="http://schemas.microsoft.com/office/drawing/2014/main" id="{FFB48024-A6B2-482C-3202-BDE70F58D089}"/>
              </a:ext>
            </a:extLst>
          </p:cNvPr>
          <p:cNvSpPr txBox="1"/>
          <p:nvPr/>
        </p:nvSpPr>
        <p:spPr>
          <a:xfrm>
            <a:off x="1226950" y="1374198"/>
            <a:ext cx="6697850" cy="369332"/>
          </a:xfrm>
          <a:prstGeom prst="rect">
            <a:avLst/>
          </a:prstGeom>
          <a:noFill/>
        </p:spPr>
        <p:txBody>
          <a:bodyPr wrap="square" rtlCol="0">
            <a:spAutoFit/>
          </a:bodyPr>
          <a:lstStyle/>
          <a:p>
            <a:r>
              <a:rPr lang="en-GB" sz="1800" dirty="0">
                <a:latin typeface="Palatino Linotype" panose="02040502050505030304" pitchFamily="18" charset="0"/>
              </a:rPr>
              <a:t>The necessary steps applied to prepare this dataset for analysis</a:t>
            </a:r>
            <a:r>
              <a:rPr lang="en-GB" sz="1600" b="1" dirty="0"/>
              <a:t>.</a:t>
            </a:r>
            <a:endParaRPr lang="en-IN" sz="1600" b="1" dirty="0"/>
          </a:p>
        </p:txBody>
      </p:sp>
      <p:sp>
        <p:nvSpPr>
          <p:cNvPr id="4" name="Google Shape;147;p2">
            <a:extLst>
              <a:ext uri="{FF2B5EF4-FFF2-40B4-BE49-F238E27FC236}">
                <a16:creationId xmlns:a16="http://schemas.microsoft.com/office/drawing/2014/main" id="{4B8033C1-975E-94BD-E615-D5F2A32838E1}"/>
              </a:ext>
            </a:extLst>
          </p:cNvPr>
          <p:cNvSpPr txBox="1">
            <a:spLocks/>
          </p:cNvSpPr>
          <p:nvPr/>
        </p:nvSpPr>
        <p:spPr>
          <a:xfrm>
            <a:off x="463043" y="421813"/>
            <a:ext cx="10014457" cy="49244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dirty="0">
                <a:solidFill>
                  <a:schemeClr val="tx1">
                    <a:lumMod val="75000"/>
                    <a:lumOff val="25000"/>
                  </a:schemeClr>
                </a:solidFill>
                <a:latin typeface="Palatino Linotype" panose="02040502050505030304" pitchFamily="18" charset="0"/>
                <a:cs typeface="Poppins" panose="020B0604020202020204" charset="0"/>
              </a:rPr>
              <a:t>Pre-processing &amp; Feature Engineering </a:t>
            </a:r>
            <a:endParaRPr lang="en-US" sz="3200" dirty="0">
              <a:solidFill>
                <a:schemeClr val="tx1">
                  <a:lumMod val="75000"/>
                  <a:lumOff val="25000"/>
                </a:schemeClr>
              </a:solidFill>
              <a:latin typeface="Palatino Linotype" panose="02040502050505030304" pitchFamily="18" charset="0"/>
            </a:endParaRPr>
          </a:p>
        </p:txBody>
      </p:sp>
    </p:spTree>
    <p:extLst>
      <p:ext uri="{BB962C8B-B14F-4D97-AF65-F5344CB8AC3E}">
        <p14:creationId xmlns:p14="http://schemas.microsoft.com/office/powerpoint/2010/main" val="5456282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78874-44D3-948B-5704-36435AA176A5}"/>
            </a:ext>
          </a:extLst>
        </p:cNvPr>
        <p:cNvGrpSpPr/>
        <p:nvPr/>
      </p:nvGrpSpPr>
      <p:grpSpPr>
        <a:xfrm>
          <a:off x="0" y="0"/>
          <a:ext cx="0" cy="0"/>
          <a:chOff x="0" y="0"/>
          <a:chExt cx="0" cy="0"/>
        </a:xfrm>
      </p:grpSpPr>
      <p:sp>
        <p:nvSpPr>
          <p:cNvPr id="2" name="Google Shape;146;p2">
            <a:extLst>
              <a:ext uri="{FF2B5EF4-FFF2-40B4-BE49-F238E27FC236}">
                <a16:creationId xmlns:a16="http://schemas.microsoft.com/office/drawing/2014/main" id="{99FF23CF-C3F4-7685-3394-5D3C83846914}"/>
              </a:ext>
            </a:extLst>
          </p:cNvPr>
          <p:cNvSpPr/>
          <p:nvPr/>
        </p:nvSpPr>
        <p:spPr>
          <a:xfrm>
            <a:off x="0" y="-15672"/>
            <a:ext cx="12192000" cy="6873671"/>
          </a:xfrm>
          <a:prstGeom prst="rect">
            <a:avLst/>
          </a:prstGeom>
          <a:solidFill>
            <a:schemeClr val="tx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pic>
        <p:nvPicPr>
          <p:cNvPr id="7" name="Google Shape;149;p2">
            <a:extLst>
              <a:ext uri="{FF2B5EF4-FFF2-40B4-BE49-F238E27FC236}">
                <a16:creationId xmlns:a16="http://schemas.microsoft.com/office/drawing/2014/main" id="{AB67EEE3-2FF7-2084-C9C8-3D553C96ABA0}"/>
              </a:ext>
            </a:extLst>
          </p:cNvPr>
          <p:cNvPicPr preferRelativeResize="0"/>
          <p:nvPr/>
        </p:nvPicPr>
        <p:blipFill rotWithShape="1">
          <a:blip r:embed="rId2">
            <a:alphaModFix/>
          </a:blip>
          <a:srcRect/>
          <a:stretch/>
        </p:blipFill>
        <p:spPr>
          <a:xfrm>
            <a:off x="8036543" y="1462165"/>
            <a:ext cx="3672184" cy="3672184"/>
          </a:xfrm>
          <a:prstGeom prst="rect">
            <a:avLst/>
          </a:prstGeom>
          <a:noFill/>
          <a:ln>
            <a:noFill/>
          </a:ln>
        </p:spPr>
      </p:pic>
      <p:sp>
        <p:nvSpPr>
          <p:cNvPr id="3" name="Google Shape;160;p7">
            <a:extLst>
              <a:ext uri="{FF2B5EF4-FFF2-40B4-BE49-F238E27FC236}">
                <a16:creationId xmlns:a16="http://schemas.microsoft.com/office/drawing/2014/main" id="{006D3664-A3C6-CF6D-1D1B-7EDA162BA492}"/>
              </a:ext>
            </a:extLst>
          </p:cNvPr>
          <p:cNvSpPr/>
          <p:nvPr/>
        </p:nvSpPr>
        <p:spPr>
          <a:xfrm>
            <a:off x="0" y="2547468"/>
            <a:ext cx="7222603" cy="2325473"/>
          </a:xfrm>
          <a:prstGeom prst="rect">
            <a:avLst/>
          </a:prstGeom>
          <a:solidFill>
            <a:schemeClr val="tx2">
              <a:lumMod val="75000"/>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pic>
        <p:nvPicPr>
          <p:cNvPr id="5" name="Google Shape;162;p7">
            <a:extLst>
              <a:ext uri="{FF2B5EF4-FFF2-40B4-BE49-F238E27FC236}">
                <a16:creationId xmlns:a16="http://schemas.microsoft.com/office/drawing/2014/main" id="{74CC61E8-C9C2-4DF3-BA18-6520091C8AD3}"/>
              </a:ext>
            </a:extLst>
          </p:cNvPr>
          <p:cNvPicPr preferRelativeResize="0"/>
          <p:nvPr/>
        </p:nvPicPr>
        <p:blipFill rotWithShape="1">
          <a:blip r:embed="rId3">
            <a:alphaModFix/>
          </a:blip>
          <a:srcRect/>
          <a:stretch/>
        </p:blipFill>
        <p:spPr>
          <a:xfrm>
            <a:off x="533400" y="2835734"/>
            <a:ext cx="518323" cy="518323"/>
          </a:xfrm>
          <a:prstGeom prst="rect">
            <a:avLst/>
          </a:prstGeom>
          <a:noFill/>
          <a:ln>
            <a:noFill/>
          </a:ln>
        </p:spPr>
      </p:pic>
      <p:sp>
        <p:nvSpPr>
          <p:cNvPr id="6" name="Google Shape;242;g21197e7cf6e_0_75">
            <a:extLst>
              <a:ext uri="{FF2B5EF4-FFF2-40B4-BE49-F238E27FC236}">
                <a16:creationId xmlns:a16="http://schemas.microsoft.com/office/drawing/2014/main" id="{D0139723-B465-DDA0-6A7F-6F4CFCA9CC69}"/>
              </a:ext>
            </a:extLst>
          </p:cNvPr>
          <p:cNvSpPr txBox="1"/>
          <p:nvPr/>
        </p:nvSpPr>
        <p:spPr>
          <a:xfrm>
            <a:off x="533400" y="3704000"/>
            <a:ext cx="5057400" cy="59400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2800" b="1" dirty="0">
                <a:solidFill>
                  <a:srgbClr val="FFFFFF"/>
                </a:solidFill>
                <a:latin typeface="Palatino Linotype" panose="02040502050505030304" pitchFamily="18" charset="0"/>
                <a:ea typeface="Poppins"/>
                <a:cs typeface="Poppins"/>
                <a:sym typeface="Poppins"/>
              </a:rPr>
              <a:t>Charts &amp; Insights</a:t>
            </a:r>
            <a:endParaRPr sz="2800" b="0" i="0" u="none" strike="noStrike" cap="none" dirty="0">
              <a:solidFill>
                <a:srgbClr val="FFFFFF"/>
              </a:solidFill>
              <a:latin typeface="Palatino Linotype" panose="02040502050505030304" pitchFamily="18" charset="0"/>
              <a:ea typeface="Poppins"/>
              <a:cs typeface="Poppins"/>
              <a:sym typeface="Poppins"/>
            </a:endParaRPr>
          </a:p>
        </p:txBody>
      </p:sp>
    </p:spTree>
    <p:extLst>
      <p:ext uri="{BB962C8B-B14F-4D97-AF65-F5344CB8AC3E}">
        <p14:creationId xmlns:p14="http://schemas.microsoft.com/office/powerpoint/2010/main" val="12614876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49;g21197e7cf6e_0_97">
            <a:extLst>
              <a:ext uri="{FF2B5EF4-FFF2-40B4-BE49-F238E27FC236}">
                <a16:creationId xmlns:a16="http://schemas.microsoft.com/office/drawing/2014/main" id="{58F0F5BB-A96D-0450-A22A-D89179ADA76A}"/>
              </a:ext>
            </a:extLst>
          </p:cNvPr>
          <p:cNvSpPr/>
          <p:nvPr/>
        </p:nvSpPr>
        <p:spPr>
          <a:xfrm>
            <a:off x="1463643" y="4734609"/>
            <a:ext cx="8180047" cy="1889760"/>
          </a:xfrm>
          <a:prstGeom prst="rect">
            <a:avLst/>
          </a:prstGeom>
          <a:solidFill>
            <a:schemeClr val="lt1"/>
          </a:solidFill>
          <a:ln>
            <a:noFill/>
          </a:ln>
        </p:spPr>
        <p:txBody>
          <a:bodyPr spcFirstLastPara="1" wrap="square" lIns="91425" tIns="45700" rIns="91425" bIns="45700" anchor="ctr" anchorCtr="0">
            <a:noAutofit/>
          </a:bodyPr>
          <a:lstStyle/>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800" dirty="0">
                <a:latin typeface="Palatino Linotype" panose="02040502050505030304" pitchFamily="18" charset="0"/>
                <a:cs typeface="Poppins" panose="020B0604020202020204" charset="0"/>
              </a:rPr>
              <a:t>Most </a:t>
            </a:r>
            <a:r>
              <a:rPr lang="en-GB" dirty="0">
                <a:latin typeface="Palatino Linotype" panose="02040502050505030304" pitchFamily="18" charset="0"/>
                <a:cs typeface="Poppins" panose="020B0604020202020204" charset="0"/>
              </a:rPr>
              <a:t>Transaction type</a:t>
            </a:r>
            <a:r>
              <a:rPr lang="en-GB" sz="1800" dirty="0">
                <a:latin typeface="Palatino Linotype" panose="02040502050505030304" pitchFamily="18" charset="0"/>
                <a:cs typeface="Poppins" panose="020B0604020202020204" charset="0"/>
              </a:rPr>
              <a:t> </a:t>
            </a:r>
            <a:r>
              <a:rPr lang="en-GB" sz="1800" dirty="0">
                <a:effectLst/>
                <a:latin typeface="Palatino Linotype" panose="02040502050505030304" pitchFamily="18" charset="0"/>
                <a:cs typeface="Poppins" panose="020B0604020202020204" charset="0"/>
              </a:rPr>
              <a:t>: </a:t>
            </a:r>
            <a:r>
              <a:rPr lang="en-GB" b="1" dirty="0">
                <a:latin typeface="Palatino Linotype" panose="02040502050505030304" pitchFamily="18" charset="0"/>
                <a:cs typeface="Poppins" panose="020B0604020202020204" charset="0"/>
              </a:rPr>
              <a:t>Deposit (26.13%)</a:t>
            </a:r>
            <a:r>
              <a:rPr lang="en-GB" sz="1800" dirty="0">
                <a:effectLst/>
                <a:latin typeface="Palatino Linotype" panose="02040502050505030304" pitchFamily="18" charset="0"/>
                <a:cs typeface="Poppins" panose="020B0604020202020204" charset="0"/>
              </a:rPr>
              <a:t>.</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800" dirty="0">
                <a:effectLst/>
                <a:latin typeface="Palatino Linotype" panose="02040502050505030304" pitchFamily="18" charset="0"/>
                <a:cs typeface="Poppins" panose="020B0604020202020204" charset="0"/>
              </a:rPr>
              <a:t>Withd</a:t>
            </a:r>
            <a:r>
              <a:rPr lang="en-GB" dirty="0">
                <a:latin typeface="Palatino Linotype" panose="02040502050505030304" pitchFamily="18" charset="0"/>
                <a:cs typeface="Poppins" panose="020B0604020202020204" charset="0"/>
              </a:rPr>
              <a:t>rawal &amp; Online Transactions comes  </a:t>
            </a:r>
            <a:r>
              <a:rPr lang="en-GB" b="1" dirty="0">
                <a:latin typeface="Palatino Linotype" panose="02040502050505030304" pitchFamily="18" charset="0"/>
                <a:cs typeface="Poppins" panose="020B0604020202020204" charset="0"/>
              </a:rPr>
              <a:t>2</a:t>
            </a:r>
            <a:r>
              <a:rPr lang="en-GB" b="1" baseline="30000" dirty="0">
                <a:latin typeface="Palatino Linotype" panose="02040502050505030304" pitchFamily="18" charset="0"/>
                <a:cs typeface="Poppins" panose="020B0604020202020204" charset="0"/>
              </a:rPr>
              <a:t>nd</a:t>
            </a:r>
            <a:r>
              <a:rPr lang="en-GB" b="1" dirty="0">
                <a:latin typeface="Palatino Linotype" panose="02040502050505030304" pitchFamily="18" charset="0"/>
                <a:cs typeface="Poppins" panose="020B0604020202020204" charset="0"/>
              </a:rPr>
              <a:t> and 3</a:t>
            </a:r>
            <a:r>
              <a:rPr lang="en-GB" b="1" baseline="30000" dirty="0">
                <a:latin typeface="Palatino Linotype" panose="02040502050505030304" pitchFamily="18" charset="0"/>
                <a:cs typeface="Poppins" panose="020B0604020202020204" charset="0"/>
              </a:rPr>
              <a:t>rd</a:t>
            </a:r>
            <a:r>
              <a:rPr lang="en-GB" b="1" dirty="0">
                <a:latin typeface="Palatino Linotype" panose="02040502050505030304" pitchFamily="18" charset="0"/>
                <a:cs typeface="Poppins" panose="020B0604020202020204" charset="0"/>
              </a:rPr>
              <a:t> </a:t>
            </a:r>
            <a:r>
              <a:rPr lang="en-GB" dirty="0">
                <a:latin typeface="Palatino Linotype" panose="02040502050505030304" pitchFamily="18" charset="0"/>
                <a:cs typeface="Poppins" panose="020B0604020202020204" charset="0"/>
              </a:rPr>
              <a:t>respectively.</a:t>
            </a:r>
            <a:endParaRPr lang="en-GB" sz="1800" dirty="0">
              <a:effectLst/>
              <a:latin typeface="Palatino Linotype" panose="02040502050505030304" pitchFamily="18"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endParaRPr lang="en-GB" sz="1800" dirty="0">
              <a:effectLst/>
              <a:latin typeface="Palatino Linotype" panose="02040502050505030304" pitchFamily="18" charset="0"/>
              <a:cs typeface="Poppins" panose="020B0604020202020204" charset="0"/>
            </a:endParaRPr>
          </a:p>
        </p:txBody>
      </p:sp>
      <p:sp>
        <p:nvSpPr>
          <p:cNvPr id="3" name="Google Shape;257;g21197e7cf6e_0_97">
            <a:extLst>
              <a:ext uri="{FF2B5EF4-FFF2-40B4-BE49-F238E27FC236}">
                <a16:creationId xmlns:a16="http://schemas.microsoft.com/office/drawing/2014/main" id="{F1D52068-811F-68C9-8E83-8A87440446C1}"/>
              </a:ext>
            </a:extLst>
          </p:cNvPr>
          <p:cNvSpPr txBox="1">
            <a:spLocks/>
          </p:cNvSpPr>
          <p:nvPr/>
        </p:nvSpPr>
        <p:spPr>
          <a:xfrm>
            <a:off x="291101" y="361419"/>
            <a:ext cx="9797779" cy="492443"/>
          </a:xfrm>
          <a:prstGeom prst="rect">
            <a:avLst/>
          </a:prstGeom>
          <a:solidFill>
            <a:srgbClr val="FFFFFF"/>
          </a:solidFill>
          <a:ln>
            <a:noFill/>
          </a:ln>
        </p:spPr>
        <p:txBody>
          <a:bodyPr spcFirstLastPara="1" wrap="square" lIns="0" tIns="0" rIns="0" bIns="0" anchor="t" anchorCtr="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0"/>
              </a:spcBef>
              <a:buClr>
                <a:schemeClr val="dk1"/>
              </a:buClr>
              <a:buSzPts val="1800"/>
            </a:pPr>
            <a:r>
              <a:rPr lang="en-GB" sz="3200" dirty="0">
                <a:solidFill>
                  <a:schemeClr val="tx1">
                    <a:lumMod val="75000"/>
                    <a:lumOff val="25000"/>
                  </a:schemeClr>
                </a:solidFill>
                <a:latin typeface="Palatino Linotype" panose="02040502050505030304" pitchFamily="18" charset="0"/>
              </a:rPr>
              <a:t>Transaction Amount distribution by Transaction_type</a:t>
            </a:r>
          </a:p>
        </p:txBody>
      </p:sp>
      <p:grpSp>
        <p:nvGrpSpPr>
          <p:cNvPr id="4" name="Group 3">
            <a:extLst>
              <a:ext uri="{FF2B5EF4-FFF2-40B4-BE49-F238E27FC236}">
                <a16:creationId xmlns:a16="http://schemas.microsoft.com/office/drawing/2014/main" id="{CCBC0FE6-AC60-78C5-B322-E2573D1B812D}"/>
              </a:ext>
            </a:extLst>
          </p:cNvPr>
          <p:cNvGrpSpPr/>
          <p:nvPr/>
        </p:nvGrpSpPr>
        <p:grpSpPr>
          <a:xfrm>
            <a:off x="868601" y="4782662"/>
            <a:ext cx="1799684" cy="520496"/>
            <a:chOff x="4990288" y="1782720"/>
            <a:chExt cx="1799684" cy="520496"/>
          </a:xfrm>
        </p:grpSpPr>
        <p:pic>
          <p:nvPicPr>
            <p:cNvPr id="5" name="Picture 4">
              <a:extLst>
                <a:ext uri="{FF2B5EF4-FFF2-40B4-BE49-F238E27FC236}">
                  <a16:creationId xmlns:a16="http://schemas.microsoft.com/office/drawing/2014/main" id="{0176110E-E5ED-E219-FF44-1210667CA12C}"/>
                </a:ext>
              </a:extLst>
            </p:cNvPr>
            <p:cNvPicPr>
              <a:picLocks noChangeAspect="1"/>
            </p:cNvPicPr>
            <p:nvPr/>
          </p:nvPicPr>
          <p:blipFill>
            <a:blip r:embed="rId2"/>
            <a:stretch>
              <a:fillRect/>
            </a:stretch>
          </p:blipFill>
          <p:spPr>
            <a:xfrm>
              <a:off x="4990288" y="1782720"/>
              <a:ext cx="520496" cy="520496"/>
            </a:xfrm>
            <a:prstGeom prst="rect">
              <a:avLst/>
            </a:prstGeom>
          </p:spPr>
        </p:pic>
        <p:sp>
          <p:nvSpPr>
            <p:cNvPr id="6" name="TextBox 5">
              <a:extLst>
                <a:ext uri="{FF2B5EF4-FFF2-40B4-BE49-F238E27FC236}">
                  <a16:creationId xmlns:a16="http://schemas.microsoft.com/office/drawing/2014/main" id="{CB14D49F-C5AE-0246-4375-EF78216664A2}"/>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latin typeface="Palatino Linotype" panose="02040502050505030304" pitchFamily="18" charset="0"/>
                </a:rPr>
                <a:t>Insights</a:t>
              </a:r>
            </a:p>
          </p:txBody>
        </p:sp>
      </p:grpSp>
      <p:graphicFrame>
        <p:nvGraphicFramePr>
          <p:cNvPr id="8" name="Chart 7">
            <a:extLst>
              <a:ext uri="{FF2B5EF4-FFF2-40B4-BE49-F238E27FC236}">
                <a16:creationId xmlns:a16="http://schemas.microsoft.com/office/drawing/2014/main" id="{5008630A-371A-D3A8-A129-3047DEFD68C3}"/>
              </a:ext>
            </a:extLst>
          </p:cNvPr>
          <p:cNvGraphicFramePr>
            <a:graphicFrameLocks/>
          </p:cNvGraphicFramePr>
          <p:nvPr>
            <p:extLst>
              <p:ext uri="{D42A27DB-BD31-4B8C-83A1-F6EECF244321}">
                <p14:modId xmlns:p14="http://schemas.microsoft.com/office/powerpoint/2010/main" val="1577355819"/>
              </p:ext>
            </p:extLst>
          </p:nvPr>
        </p:nvGraphicFramePr>
        <p:xfrm>
          <a:off x="3031040" y="1293372"/>
          <a:ext cx="4480806" cy="29345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6140375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49;g21197e7cf6e_0_97">
            <a:extLst>
              <a:ext uri="{FF2B5EF4-FFF2-40B4-BE49-F238E27FC236}">
                <a16:creationId xmlns:a16="http://schemas.microsoft.com/office/drawing/2014/main" id="{F40B17F4-9C40-F784-217B-D65B5D534D2C}"/>
              </a:ext>
            </a:extLst>
          </p:cNvPr>
          <p:cNvSpPr/>
          <p:nvPr/>
        </p:nvSpPr>
        <p:spPr>
          <a:xfrm>
            <a:off x="6096000" y="1752359"/>
            <a:ext cx="5940047" cy="1889760"/>
          </a:xfrm>
          <a:prstGeom prst="rect">
            <a:avLst/>
          </a:prstGeom>
          <a:solidFill>
            <a:schemeClr val="lt1"/>
          </a:solidFill>
          <a:ln>
            <a:noFill/>
          </a:ln>
        </p:spPr>
        <p:txBody>
          <a:bodyPr spcFirstLastPara="1" wrap="square" lIns="91425" tIns="45700" rIns="91425" bIns="45700" anchor="ctr" anchorCtr="0">
            <a:noAutofit/>
          </a:bodyPr>
          <a:lstStyle/>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dirty="0">
                <a:latin typeface="Palatino Linotype" panose="02040502050505030304" pitchFamily="18" charset="0"/>
                <a:cs typeface="Poppins" panose="020B0604020202020204" charset="0"/>
              </a:rPr>
              <a:t>Most transactions are occurred in </a:t>
            </a:r>
            <a:r>
              <a:rPr lang="en-GB" b="1" dirty="0">
                <a:latin typeface="Palatino Linotype" panose="02040502050505030304" pitchFamily="18" charset="0"/>
                <a:cs typeface="Poppins" panose="020B0604020202020204" charset="0"/>
              </a:rPr>
              <a:t>January, March &amp; May</a:t>
            </a:r>
            <a:r>
              <a:rPr lang="en-GB" dirty="0">
                <a:latin typeface="Palatino Linotype" panose="02040502050505030304" pitchFamily="18" charset="0"/>
                <a:cs typeface="Poppins" panose="020B0604020202020204" charset="0"/>
              </a:rPr>
              <a:t> months </a:t>
            </a:r>
            <a:endParaRPr lang="en-GB" sz="1800" b="1" dirty="0">
              <a:effectLst/>
              <a:latin typeface="Palatino Linotype" panose="02040502050505030304" pitchFamily="18"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800" b="1" dirty="0">
                <a:effectLst/>
                <a:latin typeface="Palatino Linotype" panose="02040502050505030304" pitchFamily="18" charset="0"/>
                <a:cs typeface="Poppins" panose="020B0604020202020204" charset="0"/>
              </a:rPr>
              <a:t>February &amp; July </a:t>
            </a:r>
            <a:r>
              <a:rPr lang="en-GB" sz="1800" dirty="0">
                <a:effectLst/>
                <a:latin typeface="Palatino Linotype" panose="02040502050505030304" pitchFamily="18" charset="0"/>
                <a:cs typeface="Poppins" panose="020B0604020202020204" charset="0"/>
              </a:rPr>
              <a:t>is least transactions occurred Month</a:t>
            </a:r>
          </a:p>
        </p:txBody>
      </p:sp>
      <p:sp>
        <p:nvSpPr>
          <p:cNvPr id="3" name="Google Shape;257;g21197e7cf6e_0_97">
            <a:extLst>
              <a:ext uri="{FF2B5EF4-FFF2-40B4-BE49-F238E27FC236}">
                <a16:creationId xmlns:a16="http://schemas.microsoft.com/office/drawing/2014/main" id="{2C28CC18-66CA-3712-DEE8-08C59C6DF2B3}"/>
              </a:ext>
            </a:extLst>
          </p:cNvPr>
          <p:cNvSpPr txBox="1">
            <a:spLocks/>
          </p:cNvSpPr>
          <p:nvPr/>
        </p:nvSpPr>
        <p:spPr>
          <a:xfrm>
            <a:off x="291102" y="361419"/>
            <a:ext cx="7656724" cy="492443"/>
          </a:xfrm>
          <a:prstGeom prst="rect">
            <a:avLst/>
          </a:prstGeom>
          <a:solidFill>
            <a:srgbClr val="FFFFFF"/>
          </a:solidFill>
          <a:ln>
            <a:noFill/>
          </a:ln>
        </p:spPr>
        <p:txBody>
          <a:bodyPr spcFirstLastPara="1" wrap="square" lIns="0" tIns="0" rIns="0" bIns="0" anchor="t" anchorCtr="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0"/>
              </a:spcBef>
              <a:buClr>
                <a:schemeClr val="dk1"/>
              </a:buClr>
              <a:buSzPts val="1800"/>
            </a:pPr>
            <a:r>
              <a:rPr lang="en-GB" sz="3200" dirty="0">
                <a:solidFill>
                  <a:schemeClr val="tx1">
                    <a:lumMod val="75000"/>
                    <a:lumOff val="25000"/>
                  </a:schemeClr>
                </a:solidFill>
                <a:latin typeface="Palatino Linotype" panose="02040502050505030304" pitchFamily="18" charset="0"/>
              </a:rPr>
              <a:t>Month &amp; Day wise Transactions</a:t>
            </a:r>
          </a:p>
        </p:txBody>
      </p:sp>
      <p:grpSp>
        <p:nvGrpSpPr>
          <p:cNvPr id="4" name="Group 3">
            <a:extLst>
              <a:ext uri="{FF2B5EF4-FFF2-40B4-BE49-F238E27FC236}">
                <a16:creationId xmlns:a16="http://schemas.microsoft.com/office/drawing/2014/main" id="{BD323E43-01BC-5FAC-AE78-A27088261A77}"/>
              </a:ext>
            </a:extLst>
          </p:cNvPr>
          <p:cNvGrpSpPr/>
          <p:nvPr/>
        </p:nvGrpSpPr>
        <p:grpSpPr>
          <a:xfrm>
            <a:off x="7947826" y="962153"/>
            <a:ext cx="1799684" cy="520496"/>
            <a:chOff x="4990288" y="1782720"/>
            <a:chExt cx="1799684" cy="520496"/>
          </a:xfrm>
        </p:grpSpPr>
        <p:pic>
          <p:nvPicPr>
            <p:cNvPr id="5" name="Picture 4">
              <a:extLst>
                <a:ext uri="{FF2B5EF4-FFF2-40B4-BE49-F238E27FC236}">
                  <a16:creationId xmlns:a16="http://schemas.microsoft.com/office/drawing/2014/main" id="{286F851C-034A-B311-32F9-89965A631356}"/>
                </a:ext>
              </a:extLst>
            </p:cNvPr>
            <p:cNvPicPr>
              <a:picLocks noChangeAspect="1"/>
            </p:cNvPicPr>
            <p:nvPr/>
          </p:nvPicPr>
          <p:blipFill>
            <a:blip r:embed="rId2"/>
            <a:stretch>
              <a:fillRect/>
            </a:stretch>
          </p:blipFill>
          <p:spPr>
            <a:xfrm>
              <a:off x="4990288" y="1782720"/>
              <a:ext cx="520496" cy="520496"/>
            </a:xfrm>
            <a:prstGeom prst="rect">
              <a:avLst/>
            </a:prstGeom>
          </p:spPr>
        </p:pic>
        <p:sp>
          <p:nvSpPr>
            <p:cNvPr id="6" name="TextBox 5">
              <a:extLst>
                <a:ext uri="{FF2B5EF4-FFF2-40B4-BE49-F238E27FC236}">
                  <a16:creationId xmlns:a16="http://schemas.microsoft.com/office/drawing/2014/main" id="{6D4BD746-C5DC-9CD3-89E5-C78C13F79C55}"/>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latin typeface="Palatino Linotype" panose="02040502050505030304" pitchFamily="18" charset="0"/>
                </a:rPr>
                <a:t>Insights</a:t>
              </a:r>
            </a:p>
          </p:txBody>
        </p:sp>
      </p:grpSp>
      <p:sp>
        <p:nvSpPr>
          <p:cNvPr id="10" name="Google Shape;249;g21197e7cf6e_0_97">
            <a:extLst>
              <a:ext uri="{FF2B5EF4-FFF2-40B4-BE49-F238E27FC236}">
                <a16:creationId xmlns:a16="http://schemas.microsoft.com/office/drawing/2014/main" id="{D2F4D75D-0B67-3C6E-52F1-3831E25A3EB9}"/>
              </a:ext>
            </a:extLst>
          </p:cNvPr>
          <p:cNvSpPr/>
          <p:nvPr/>
        </p:nvSpPr>
        <p:spPr>
          <a:xfrm>
            <a:off x="6095999" y="4431649"/>
            <a:ext cx="5940047" cy="1889760"/>
          </a:xfrm>
          <a:prstGeom prst="rect">
            <a:avLst/>
          </a:prstGeom>
          <a:solidFill>
            <a:schemeClr val="lt1"/>
          </a:solidFill>
          <a:ln>
            <a:noFill/>
          </a:ln>
        </p:spPr>
        <p:txBody>
          <a:bodyPr spcFirstLastPara="1" wrap="square" lIns="91425" tIns="45700" rIns="91425" bIns="45700" anchor="ctr" anchorCtr="0">
            <a:noAutofit/>
          </a:bodyPr>
          <a:lstStyle/>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800" b="1" dirty="0">
                <a:effectLst/>
                <a:latin typeface="Palatino Linotype" panose="02040502050505030304" pitchFamily="18" charset="0"/>
                <a:cs typeface="Poppins" panose="020B0604020202020204" charset="0"/>
              </a:rPr>
              <a:t>Nearly Equal transactions occurred each Day </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800" dirty="0">
                <a:effectLst/>
                <a:latin typeface="Palatino Linotype" panose="02040502050505030304" pitchFamily="18" charset="0"/>
                <a:cs typeface="Poppins" panose="020B0604020202020204" charset="0"/>
              </a:rPr>
              <a:t>Due to Saturday off least transaction occurred as Saturday</a:t>
            </a:r>
          </a:p>
        </p:txBody>
      </p:sp>
      <p:graphicFrame>
        <p:nvGraphicFramePr>
          <p:cNvPr id="7" name="Chart 6">
            <a:extLst>
              <a:ext uri="{FF2B5EF4-FFF2-40B4-BE49-F238E27FC236}">
                <a16:creationId xmlns:a16="http://schemas.microsoft.com/office/drawing/2014/main" id="{92072140-F999-AC57-9BA7-1CB259ABE4FA}"/>
              </a:ext>
            </a:extLst>
          </p:cNvPr>
          <p:cNvGraphicFramePr>
            <a:graphicFrameLocks/>
          </p:cNvGraphicFramePr>
          <p:nvPr>
            <p:extLst>
              <p:ext uri="{D42A27DB-BD31-4B8C-83A1-F6EECF244321}">
                <p14:modId xmlns:p14="http://schemas.microsoft.com/office/powerpoint/2010/main" val="1239983438"/>
              </p:ext>
            </p:extLst>
          </p:nvPr>
        </p:nvGraphicFramePr>
        <p:xfrm>
          <a:off x="599920" y="1152310"/>
          <a:ext cx="4778325"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Chart 10">
            <a:extLst>
              <a:ext uri="{FF2B5EF4-FFF2-40B4-BE49-F238E27FC236}">
                <a16:creationId xmlns:a16="http://schemas.microsoft.com/office/drawing/2014/main" id="{A2B3C690-41E6-F98A-D533-443DFDEED6F3}"/>
              </a:ext>
            </a:extLst>
          </p:cNvPr>
          <p:cNvGraphicFramePr>
            <a:graphicFrameLocks/>
          </p:cNvGraphicFramePr>
          <p:nvPr>
            <p:extLst>
              <p:ext uri="{D42A27DB-BD31-4B8C-83A1-F6EECF244321}">
                <p14:modId xmlns:p14="http://schemas.microsoft.com/office/powerpoint/2010/main" val="2143982693"/>
              </p:ext>
            </p:extLst>
          </p:nvPr>
        </p:nvGraphicFramePr>
        <p:xfrm>
          <a:off x="599920" y="3993613"/>
          <a:ext cx="5189220" cy="27432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0515760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49;g21197e7cf6e_0_97">
            <a:extLst>
              <a:ext uri="{FF2B5EF4-FFF2-40B4-BE49-F238E27FC236}">
                <a16:creationId xmlns:a16="http://schemas.microsoft.com/office/drawing/2014/main" id="{84B143AE-D534-478E-AC6B-1D0BC968F4CB}"/>
              </a:ext>
            </a:extLst>
          </p:cNvPr>
          <p:cNvSpPr/>
          <p:nvPr/>
        </p:nvSpPr>
        <p:spPr>
          <a:xfrm>
            <a:off x="1792674" y="5589813"/>
            <a:ext cx="8851159" cy="1292752"/>
          </a:xfrm>
          <a:prstGeom prst="rect">
            <a:avLst/>
          </a:prstGeom>
          <a:solidFill>
            <a:schemeClr val="lt1"/>
          </a:solidFill>
          <a:ln>
            <a:noFill/>
          </a:ln>
        </p:spPr>
        <p:txBody>
          <a:bodyPr spcFirstLastPara="1" wrap="square" lIns="91425" tIns="45700" rIns="91425" bIns="45700" anchor="ctr" anchorCtr="0">
            <a:noAutofit/>
          </a:bodyPr>
          <a:lstStyle/>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dirty="0">
                <a:latin typeface="Palatino Linotype" panose="02040502050505030304" pitchFamily="18" charset="0"/>
                <a:cs typeface="Poppins" panose="020B0604020202020204" charset="0"/>
              </a:rPr>
              <a:t>Male in Adulthood age class perform most transactions (~ 33.8M)</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dirty="0">
                <a:latin typeface="Palatino Linotype" panose="02040502050505030304" pitchFamily="18" charset="0"/>
                <a:cs typeface="Poppins" panose="020B0604020202020204" charset="0"/>
              </a:rPr>
              <a:t>In Female Senior age class perform transactions as compare to Adulthood age class</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dirty="0">
                <a:latin typeface="Palatino Linotype" panose="02040502050505030304" pitchFamily="18" charset="0"/>
                <a:cs typeface="Poppins" panose="020B0604020202020204" charset="0"/>
              </a:rPr>
              <a:t>In both Gender Teenagers perform nearly same Transactions </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endParaRPr lang="en-GB" dirty="0">
              <a:latin typeface="Palatino Linotype" panose="02040502050505030304" pitchFamily="18"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endParaRPr lang="en-GB" dirty="0">
              <a:latin typeface="Palatino Linotype" panose="02040502050505030304" pitchFamily="18"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endParaRPr lang="en-GB" sz="1800" dirty="0">
              <a:effectLst/>
              <a:latin typeface="Palatino Linotype" panose="02040502050505030304" pitchFamily="18" charset="0"/>
              <a:cs typeface="Poppins" panose="020B0604020202020204" charset="0"/>
            </a:endParaRPr>
          </a:p>
        </p:txBody>
      </p:sp>
      <p:grpSp>
        <p:nvGrpSpPr>
          <p:cNvPr id="3" name="Group 2">
            <a:extLst>
              <a:ext uri="{FF2B5EF4-FFF2-40B4-BE49-F238E27FC236}">
                <a16:creationId xmlns:a16="http://schemas.microsoft.com/office/drawing/2014/main" id="{4CA18DC3-7031-22A3-B799-B8D62A16AFB8}"/>
              </a:ext>
            </a:extLst>
          </p:cNvPr>
          <p:cNvGrpSpPr/>
          <p:nvPr/>
        </p:nvGrpSpPr>
        <p:grpSpPr>
          <a:xfrm>
            <a:off x="1281888" y="4805223"/>
            <a:ext cx="1766112" cy="520496"/>
            <a:chOff x="4990288" y="1782720"/>
            <a:chExt cx="1799684" cy="520496"/>
          </a:xfrm>
        </p:grpSpPr>
        <p:pic>
          <p:nvPicPr>
            <p:cNvPr id="4" name="Picture 3">
              <a:extLst>
                <a:ext uri="{FF2B5EF4-FFF2-40B4-BE49-F238E27FC236}">
                  <a16:creationId xmlns:a16="http://schemas.microsoft.com/office/drawing/2014/main" id="{298538DB-FE94-8616-96E3-AFE5D4B52BF7}"/>
                </a:ext>
              </a:extLst>
            </p:cNvPr>
            <p:cNvPicPr>
              <a:picLocks noChangeAspect="1"/>
            </p:cNvPicPr>
            <p:nvPr/>
          </p:nvPicPr>
          <p:blipFill>
            <a:blip r:embed="rId2"/>
            <a:stretch>
              <a:fillRect/>
            </a:stretch>
          </p:blipFill>
          <p:spPr>
            <a:xfrm>
              <a:off x="4990288" y="1782720"/>
              <a:ext cx="520496" cy="520496"/>
            </a:xfrm>
            <a:prstGeom prst="rect">
              <a:avLst/>
            </a:prstGeom>
          </p:spPr>
        </p:pic>
        <p:sp>
          <p:nvSpPr>
            <p:cNvPr id="5" name="TextBox 4">
              <a:extLst>
                <a:ext uri="{FF2B5EF4-FFF2-40B4-BE49-F238E27FC236}">
                  <a16:creationId xmlns:a16="http://schemas.microsoft.com/office/drawing/2014/main" id="{02FCCC40-C6BA-FBFC-C50B-8A88D05BA787}"/>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6" name="Google Shape;257;g21197e7cf6e_0_97">
            <a:extLst>
              <a:ext uri="{FF2B5EF4-FFF2-40B4-BE49-F238E27FC236}">
                <a16:creationId xmlns:a16="http://schemas.microsoft.com/office/drawing/2014/main" id="{A8C0151E-8BBC-73ED-8737-70D4A016927E}"/>
              </a:ext>
            </a:extLst>
          </p:cNvPr>
          <p:cNvSpPr txBox="1">
            <a:spLocks/>
          </p:cNvSpPr>
          <p:nvPr/>
        </p:nvSpPr>
        <p:spPr>
          <a:xfrm>
            <a:off x="291102" y="361419"/>
            <a:ext cx="8573243"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latin typeface="Palatino Linotype" panose="02040502050505030304" pitchFamily="18" charset="0"/>
              </a:rPr>
              <a:t>Age and Gender wise Transaction Amount</a:t>
            </a:r>
          </a:p>
        </p:txBody>
      </p:sp>
      <p:graphicFrame>
        <p:nvGraphicFramePr>
          <p:cNvPr id="8" name="Chart 7">
            <a:extLst>
              <a:ext uri="{FF2B5EF4-FFF2-40B4-BE49-F238E27FC236}">
                <a16:creationId xmlns:a16="http://schemas.microsoft.com/office/drawing/2014/main" id="{5075F5DC-9D8B-8168-AC10-98F97C863233}"/>
              </a:ext>
            </a:extLst>
          </p:cNvPr>
          <p:cNvGraphicFramePr>
            <a:graphicFrameLocks/>
          </p:cNvGraphicFramePr>
          <p:nvPr>
            <p:extLst>
              <p:ext uri="{D42A27DB-BD31-4B8C-83A1-F6EECF244321}">
                <p14:modId xmlns:p14="http://schemas.microsoft.com/office/powerpoint/2010/main" val="4031197940"/>
              </p:ext>
            </p:extLst>
          </p:nvPr>
        </p:nvGraphicFramePr>
        <p:xfrm>
          <a:off x="3189462" y="1254990"/>
          <a:ext cx="5512086" cy="317935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2147643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49;g21197e7cf6e_0_97">
            <a:extLst>
              <a:ext uri="{FF2B5EF4-FFF2-40B4-BE49-F238E27FC236}">
                <a16:creationId xmlns:a16="http://schemas.microsoft.com/office/drawing/2014/main" id="{450C0C38-1430-EFA2-010A-162A78332883}"/>
              </a:ext>
            </a:extLst>
          </p:cNvPr>
          <p:cNvSpPr/>
          <p:nvPr/>
        </p:nvSpPr>
        <p:spPr>
          <a:xfrm>
            <a:off x="4990288" y="2130357"/>
            <a:ext cx="6653719" cy="2937754"/>
          </a:xfrm>
          <a:prstGeom prst="rect">
            <a:avLst/>
          </a:prstGeom>
          <a:solidFill>
            <a:schemeClr val="lt1"/>
          </a:solidFill>
          <a:ln>
            <a:noFill/>
          </a:ln>
        </p:spPr>
        <p:txBody>
          <a:bodyPr spcFirstLastPara="1" wrap="square" lIns="91425" tIns="45700" rIns="91425" bIns="45700" anchor="ctr" anchorCtr="0">
            <a:noAutofit/>
          </a:bodyPr>
          <a:lstStyle/>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800" dirty="0">
                <a:effectLst/>
                <a:latin typeface="Palatino Linotype" panose="02040502050505030304" pitchFamily="18" charset="0"/>
                <a:cs typeface="Poppins" panose="020B0604020202020204" charset="0"/>
              </a:rPr>
              <a:t>There are 145 Customers who Nill there loan &amp; 155 customers loan is still pending</a:t>
            </a:r>
          </a:p>
        </p:txBody>
      </p:sp>
      <p:grpSp>
        <p:nvGrpSpPr>
          <p:cNvPr id="3" name="Group 2">
            <a:extLst>
              <a:ext uri="{FF2B5EF4-FFF2-40B4-BE49-F238E27FC236}">
                <a16:creationId xmlns:a16="http://schemas.microsoft.com/office/drawing/2014/main" id="{D2BE0242-EA15-CB6C-3BA6-709BED5FA476}"/>
              </a:ext>
            </a:extLst>
          </p:cNvPr>
          <p:cNvGrpSpPr/>
          <p:nvPr/>
        </p:nvGrpSpPr>
        <p:grpSpPr>
          <a:xfrm>
            <a:off x="4990288" y="1457960"/>
            <a:ext cx="1799684" cy="520496"/>
            <a:chOff x="4990288" y="1782720"/>
            <a:chExt cx="1799684" cy="520496"/>
          </a:xfrm>
        </p:grpSpPr>
        <p:pic>
          <p:nvPicPr>
            <p:cNvPr id="4" name="Picture 3">
              <a:extLst>
                <a:ext uri="{FF2B5EF4-FFF2-40B4-BE49-F238E27FC236}">
                  <a16:creationId xmlns:a16="http://schemas.microsoft.com/office/drawing/2014/main" id="{33E86B29-697A-E4AD-5EB9-4545AD4E5001}"/>
                </a:ext>
              </a:extLst>
            </p:cNvPr>
            <p:cNvPicPr>
              <a:picLocks noChangeAspect="1"/>
            </p:cNvPicPr>
            <p:nvPr/>
          </p:nvPicPr>
          <p:blipFill>
            <a:blip r:embed="rId2"/>
            <a:stretch>
              <a:fillRect/>
            </a:stretch>
          </p:blipFill>
          <p:spPr>
            <a:xfrm>
              <a:off x="4990288" y="1782720"/>
              <a:ext cx="520496" cy="520496"/>
            </a:xfrm>
            <a:prstGeom prst="rect">
              <a:avLst/>
            </a:prstGeom>
          </p:spPr>
        </p:pic>
        <p:sp>
          <p:nvSpPr>
            <p:cNvPr id="5" name="TextBox 4">
              <a:extLst>
                <a:ext uri="{FF2B5EF4-FFF2-40B4-BE49-F238E27FC236}">
                  <a16:creationId xmlns:a16="http://schemas.microsoft.com/office/drawing/2014/main" id="{C14CB631-E3A8-D946-0312-D6752B0E5FA9}"/>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6" name="Google Shape;257;g21197e7cf6e_0_97">
            <a:extLst>
              <a:ext uri="{FF2B5EF4-FFF2-40B4-BE49-F238E27FC236}">
                <a16:creationId xmlns:a16="http://schemas.microsoft.com/office/drawing/2014/main" id="{8FD79B1D-CA27-DF28-A8BB-546E22C5A11F}"/>
              </a:ext>
            </a:extLst>
          </p:cNvPr>
          <p:cNvSpPr txBox="1">
            <a:spLocks/>
          </p:cNvSpPr>
          <p:nvPr/>
        </p:nvSpPr>
        <p:spPr>
          <a:xfrm>
            <a:off x="291102" y="361419"/>
            <a:ext cx="6062073"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latin typeface="Palatino Linotype" panose="02040502050505030304" pitchFamily="18" charset="0"/>
              </a:rPr>
              <a:t>Loan Status</a:t>
            </a:r>
          </a:p>
        </p:txBody>
      </p:sp>
      <p:graphicFrame>
        <p:nvGraphicFramePr>
          <p:cNvPr id="8" name="Chart 7">
            <a:extLst>
              <a:ext uri="{FF2B5EF4-FFF2-40B4-BE49-F238E27FC236}">
                <a16:creationId xmlns:a16="http://schemas.microsoft.com/office/drawing/2014/main" id="{79B18A64-4053-9215-F788-0DEAE0233805}"/>
              </a:ext>
            </a:extLst>
          </p:cNvPr>
          <p:cNvGraphicFramePr>
            <a:graphicFrameLocks/>
          </p:cNvGraphicFramePr>
          <p:nvPr>
            <p:extLst>
              <p:ext uri="{D42A27DB-BD31-4B8C-83A1-F6EECF244321}">
                <p14:modId xmlns:p14="http://schemas.microsoft.com/office/powerpoint/2010/main" val="830568881"/>
              </p:ext>
            </p:extLst>
          </p:nvPr>
        </p:nvGraphicFramePr>
        <p:xfrm>
          <a:off x="453549" y="1457960"/>
          <a:ext cx="4098131" cy="333756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99269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49;g21197e7cf6e_0_97">
            <a:extLst>
              <a:ext uri="{FF2B5EF4-FFF2-40B4-BE49-F238E27FC236}">
                <a16:creationId xmlns:a16="http://schemas.microsoft.com/office/drawing/2014/main" id="{325DC2C5-6B3D-F9EC-AC51-72836C532284}"/>
              </a:ext>
            </a:extLst>
          </p:cNvPr>
          <p:cNvSpPr/>
          <p:nvPr/>
        </p:nvSpPr>
        <p:spPr>
          <a:xfrm>
            <a:off x="2725907" y="4482628"/>
            <a:ext cx="8550612" cy="1498059"/>
          </a:xfrm>
          <a:prstGeom prst="rect">
            <a:avLst/>
          </a:prstGeom>
          <a:solidFill>
            <a:schemeClr val="lt1"/>
          </a:solidFill>
          <a:ln>
            <a:noFill/>
          </a:ln>
        </p:spPr>
        <p:txBody>
          <a:bodyPr spcFirstLastPara="1" wrap="square" lIns="91425" tIns="45700" rIns="91425" bIns="45700" anchor="ctr" anchorCtr="0">
            <a:noAutofit/>
          </a:bodyPr>
          <a:lstStyle/>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dirty="0">
                <a:latin typeface="Palatino Linotype" panose="02040502050505030304" pitchFamily="18" charset="0"/>
                <a:cs typeface="Poppins" panose="020B0604020202020204" charset="0"/>
              </a:rPr>
              <a:t>UPI</a:t>
            </a:r>
            <a:r>
              <a:rPr lang="en-GB" sz="1800" dirty="0">
                <a:latin typeface="Palatino Linotype" panose="02040502050505030304" pitchFamily="18" charset="0"/>
                <a:cs typeface="Poppins" panose="020B0604020202020204" charset="0"/>
              </a:rPr>
              <a:t> is Most Use Transaction Channel (success transactions 1173 &amp; failed transactions 99)</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dirty="0">
                <a:latin typeface="Palatino Linotype" panose="02040502050505030304" pitchFamily="18" charset="0"/>
                <a:cs typeface="Poppins" panose="020B0604020202020204" charset="0"/>
              </a:rPr>
              <a:t>ATM</a:t>
            </a:r>
            <a:r>
              <a:rPr lang="en-GB" dirty="0">
                <a:effectLst/>
                <a:latin typeface="Palatino Linotype" panose="02040502050505030304" pitchFamily="18" charset="0"/>
                <a:cs typeface="Poppins" panose="020B0604020202020204" charset="0"/>
              </a:rPr>
              <a:t> is least Use Channel for transaction </a:t>
            </a:r>
            <a:r>
              <a:rPr lang="en-GB" dirty="0">
                <a:latin typeface="Palatino Linotype" panose="02040502050505030304" pitchFamily="18" charset="0"/>
                <a:cs typeface="Poppins" panose="020B0604020202020204" charset="0"/>
              </a:rPr>
              <a:t>and</a:t>
            </a:r>
            <a:r>
              <a:rPr lang="en-GB" dirty="0">
                <a:effectLst/>
                <a:latin typeface="Palatino Linotype" panose="02040502050505030304" pitchFamily="18" charset="0"/>
                <a:cs typeface="Poppins" panose="020B0604020202020204" charset="0"/>
              </a:rPr>
              <a:t> also </a:t>
            </a:r>
            <a:r>
              <a:rPr lang="en-GB" dirty="0">
                <a:latin typeface="Palatino Linotype" panose="02040502050505030304" pitchFamily="18" charset="0"/>
                <a:cs typeface="Poppins" panose="020B0604020202020204" charset="0"/>
              </a:rPr>
              <a:t>Most</a:t>
            </a:r>
            <a:r>
              <a:rPr lang="en-GB" dirty="0">
                <a:effectLst/>
                <a:latin typeface="Palatino Linotype" panose="02040502050505030304" pitchFamily="18" charset="0"/>
                <a:cs typeface="Poppins" panose="020B0604020202020204" charset="0"/>
              </a:rPr>
              <a:t> in term of Failed Transaction status</a:t>
            </a:r>
            <a:endParaRPr lang="en-GB" sz="1800" dirty="0">
              <a:effectLst/>
              <a:latin typeface="Palatino Linotype" panose="02040502050505030304" pitchFamily="18" charset="0"/>
              <a:cs typeface="Poppins" panose="020B0604020202020204" charset="0"/>
            </a:endParaRPr>
          </a:p>
        </p:txBody>
      </p:sp>
      <p:grpSp>
        <p:nvGrpSpPr>
          <p:cNvPr id="3" name="Group 2">
            <a:extLst>
              <a:ext uri="{FF2B5EF4-FFF2-40B4-BE49-F238E27FC236}">
                <a16:creationId xmlns:a16="http://schemas.microsoft.com/office/drawing/2014/main" id="{CA13F839-5667-3594-7AB6-79FFB1313DBC}"/>
              </a:ext>
            </a:extLst>
          </p:cNvPr>
          <p:cNvGrpSpPr/>
          <p:nvPr/>
        </p:nvGrpSpPr>
        <p:grpSpPr>
          <a:xfrm>
            <a:off x="2320588" y="4222380"/>
            <a:ext cx="1799684" cy="520496"/>
            <a:chOff x="4990288" y="1782720"/>
            <a:chExt cx="1799684" cy="520496"/>
          </a:xfrm>
        </p:grpSpPr>
        <p:pic>
          <p:nvPicPr>
            <p:cNvPr id="4" name="Picture 3">
              <a:extLst>
                <a:ext uri="{FF2B5EF4-FFF2-40B4-BE49-F238E27FC236}">
                  <a16:creationId xmlns:a16="http://schemas.microsoft.com/office/drawing/2014/main" id="{520DAB16-C60B-D34F-CAD1-86D02CE90713}"/>
                </a:ext>
              </a:extLst>
            </p:cNvPr>
            <p:cNvPicPr>
              <a:picLocks noChangeAspect="1"/>
            </p:cNvPicPr>
            <p:nvPr/>
          </p:nvPicPr>
          <p:blipFill>
            <a:blip r:embed="rId2"/>
            <a:stretch>
              <a:fillRect/>
            </a:stretch>
          </p:blipFill>
          <p:spPr>
            <a:xfrm>
              <a:off x="4990288" y="1782720"/>
              <a:ext cx="520496" cy="520496"/>
            </a:xfrm>
            <a:prstGeom prst="rect">
              <a:avLst/>
            </a:prstGeom>
          </p:spPr>
        </p:pic>
        <p:sp>
          <p:nvSpPr>
            <p:cNvPr id="5" name="TextBox 4">
              <a:extLst>
                <a:ext uri="{FF2B5EF4-FFF2-40B4-BE49-F238E27FC236}">
                  <a16:creationId xmlns:a16="http://schemas.microsoft.com/office/drawing/2014/main" id="{89E0E14C-E00F-F463-7AAE-191402D48C97}"/>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6" name="Google Shape;257;g21197e7cf6e_0_97">
            <a:extLst>
              <a:ext uri="{FF2B5EF4-FFF2-40B4-BE49-F238E27FC236}">
                <a16:creationId xmlns:a16="http://schemas.microsoft.com/office/drawing/2014/main" id="{CEF89DDC-B419-C8FE-91ED-65D86AC7E47B}"/>
              </a:ext>
            </a:extLst>
          </p:cNvPr>
          <p:cNvSpPr txBox="1">
            <a:spLocks/>
          </p:cNvSpPr>
          <p:nvPr/>
        </p:nvSpPr>
        <p:spPr>
          <a:xfrm>
            <a:off x="291102" y="361419"/>
            <a:ext cx="8045502"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latin typeface="Palatino Linotype" panose="02040502050505030304" pitchFamily="18" charset="0"/>
              </a:rPr>
              <a:t>Channel wise Transaction Status</a:t>
            </a:r>
          </a:p>
        </p:txBody>
      </p:sp>
      <p:graphicFrame>
        <p:nvGraphicFramePr>
          <p:cNvPr id="7" name="Chart 6">
            <a:extLst>
              <a:ext uri="{FF2B5EF4-FFF2-40B4-BE49-F238E27FC236}">
                <a16:creationId xmlns:a16="http://schemas.microsoft.com/office/drawing/2014/main" id="{CAA8D1F9-A7B0-3BFB-FA2E-B5DC831392B5}"/>
              </a:ext>
            </a:extLst>
          </p:cNvPr>
          <p:cNvGraphicFramePr>
            <a:graphicFrameLocks/>
          </p:cNvGraphicFramePr>
          <p:nvPr>
            <p:extLst>
              <p:ext uri="{D42A27DB-BD31-4B8C-83A1-F6EECF244321}">
                <p14:modId xmlns:p14="http://schemas.microsoft.com/office/powerpoint/2010/main" val="1302744001"/>
              </p:ext>
            </p:extLst>
          </p:nvPr>
        </p:nvGraphicFramePr>
        <p:xfrm>
          <a:off x="1194677" y="1003772"/>
          <a:ext cx="5245451" cy="2743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5577246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73324-B092-5628-05EC-39BDC901454F}"/>
            </a:ext>
          </a:extLst>
        </p:cNvPr>
        <p:cNvGrpSpPr/>
        <p:nvPr/>
      </p:nvGrpSpPr>
      <p:grpSpPr>
        <a:xfrm>
          <a:off x="0" y="0"/>
          <a:ext cx="0" cy="0"/>
          <a:chOff x="0" y="0"/>
          <a:chExt cx="0" cy="0"/>
        </a:xfrm>
      </p:grpSpPr>
      <p:sp>
        <p:nvSpPr>
          <p:cNvPr id="2" name="Google Shape;249;g21197e7cf6e_0_97">
            <a:extLst>
              <a:ext uri="{FF2B5EF4-FFF2-40B4-BE49-F238E27FC236}">
                <a16:creationId xmlns:a16="http://schemas.microsoft.com/office/drawing/2014/main" id="{C683C64B-C305-7FCA-FED2-28C01F98CCC7}"/>
              </a:ext>
            </a:extLst>
          </p:cNvPr>
          <p:cNvSpPr/>
          <p:nvPr/>
        </p:nvSpPr>
        <p:spPr>
          <a:xfrm>
            <a:off x="666452" y="2486110"/>
            <a:ext cx="5675354" cy="1362367"/>
          </a:xfrm>
          <a:prstGeom prst="rect">
            <a:avLst/>
          </a:prstGeom>
          <a:solidFill>
            <a:schemeClr val="lt1"/>
          </a:solidFill>
          <a:ln>
            <a:noFill/>
          </a:ln>
        </p:spPr>
        <p:txBody>
          <a:bodyPr spcFirstLastPara="1" wrap="square" lIns="91425" tIns="45700" rIns="91425" bIns="45700" anchor="ctr" anchorCtr="0">
            <a:noAutofit/>
          </a:bodyPr>
          <a:lstStyle/>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dirty="0">
                <a:latin typeface="Palatino Linotype" panose="02040502050505030304" pitchFamily="18" charset="0"/>
                <a:cs typeface="Poppins" panose="020B0604020202020204" charset="0"/>
              </a:rPr>
              <a:t>Success rate and failed rate in deposit type is 23.94% &amp; 2.19% respectively</a:t>
            </a:r>
            <a:r>
              <a:rPr lang="en-GB" sz="1800" dirty="0">
                <a:latin typeface="Palatino Linotype" panose="02040502050505030304" pitchFamily="18" charset="0"/>
                <a:cs typeface="Poppins" panose="020B0604020202020204" charset="0"/>
              </a:rPr>
              <a:t>. </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dirty="0">
                <a:latin typeface="Palatino Linotype" panose="02040502050505030304" pitchFamily="18" charset="0"/>
                <a:cs typeface="Poppins" panose="020B0604020202020204" charset="0"/>
              </a:rPr>
              <a:t>Card payment have least transaction failed rate .</a:t>
            </a:r>
            <a:endParaRPr lang="en-GB" sz="1800" dirty="0">
              <a:latin typeface="Palatino Linotype" panose="02040502050505030304" pitchFamily="18" charset="0"/>
              <a:cs typeface="Poppins" panose="020B0604020202020204" charset="0"/>
            </a:endParaRPr>
          </a:p>
        </p:txBody>
      </p:sp>
      <p:grpSp>
        <p:nvGrpSpPr>
          <p:cNvPr id="3" name="Group 2">
            <a:extLst>
              <a:ext uri="{FF2B5EF4-FFF2-40B4-BE49-F238E27FC236}">
                <a16:creationId xmlns:a16="http://schemas.microsoft.com/office/drawing/2014/main" id="{81912E5F-A0D2-9FB8-65C2-0C1CFA31CC82}"/>
              </a:ext>
            </a:extLst>
          </p:cNvPr>
          <p:cNvGrpSpPr/>
          <p:nvPr/>
        </p:nvGrpSpPr>
        <p:grpSpPr>
          <a:xfrm>
            <a:off x="1098439" y="1371947"/>
            <a:ext cx="1799684" cy="520496"/>
            <a:chOff x="4990288" y="1782720"/>
            <a:chExt cx="1799684" cy="520496"/>
          </a:xfrm>
        </p:grpSpPr>
        <p:pic>
          <p:nvPicPr>
            <p:cNvPr id="4" name="Picture 3">
              <a:extLst>
                <a:ext uri="{FF2B5EF4-FFF2-40B4-BE49-F238E27FC236}">
                  <a16:creationId xmlns:a16="http://schemas.microsoft.com/office/drawing/2014/main" id="{0A129928-7C26-858C-D3A0-033F6D173322}"/>
                </a:ext>
              </a:extLst>
            </p:cNvPr>
            <p:cNvPicPr>
              <a:picLocks noChangeAspect="1"/>
            </p:cNvPicPr>
            <p:nvPr/>
          </p:nvPicPr>
          <p:blipFill>
            <a:blip r:embed="rId2"/>
            <a:stretch>
              <a:fillRect/>
            </a:stretch>
          </p:blipFill>
          <p:spPr>
            <a:xfrm>
              <a:off x="4990288" y="1782720"/>
              <a:ext cx="520496" cy="520496"/>
            </a:xfrm>
            <a:prstGeom prst="rect">
              <a:avLst/>
            </a:prstGeom>
          </p:spPr>
        </p:pic>
        <p:sp>
          <p:nvSpPr>
            <p:cNvPr id="5" name="TextBox 4">
              <a:extLst>
                <a:ext uri="{FF2B5EF4-FFF2-40B4-BE49-F238E27FC236}">
                  <a16:creationId xmlns:a16="http://schemas.microsoft.com/office/drawing/2014/main" id="{89FE53DB-C1C6-1F5C-66A8-9A1B0588428E}"/>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6" name="Google Shape;257;g21197e7cf6e_0_97">
            <a:extLst>
              <a:ext uri="{FF2B5EF4-FFF2-40B4-BE49-F238E27FC236}">
                <a16:creationId xmlns:a16="http://schemas.microsoft.com/office/drawing/2014/main" id="{1DD928AE-72BD-FEB3-68FA-45E822C8EE20}"/>
              </a:ext>
            </a:extLst>
          </p:cNvPr>
          <p:cNvSpPr txBox="1">
            <a:spLocks/>
          </p:cNvSpPr>
          <p:nvPr/>
        </p:nvSpPr>
        <p:spPr>
          <a:xfrm>
            <a:off x="291102" y="361419"/>
            <a:ext cx="8883378"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latin typeface="Palatino Linotype" panose="02040502050505030304" pitchFamily="18" charset="0"/>
              </a:rPr>
              <a:t>Transaction Amount Status by Transaction Type</a:t>
            </a:r>
          </a:p>
        </p:txBody>
      </p:sp>
      <p:graphicFrame>
        <p:nvGraphicFramePr>
          <p:cNvPr id="8" name="Chart 7">
            <a:extLst>
              <a:ext uri="{FF2B5EF4-FFF2-40B4-BE49-F238E27FC236}">
                <a16:creationId xmlns:a16="http://schemas.microsoft.com/office/drawing/2014/main" id="{DCB92554-409A-50DD-E873-B111199D9869}"/>
              </a:ext>
            </a:extLst>
          </p:cNvPr>
          <p:cNvGraphicFramePr>
            <a:graphicFrameLocks/>
          </p:cNvGraphicFramePr>
          <p:nvPr>
            <p:extLst>
              <p:ext uri="{D42A27DB-BD31-4B8C-83A1-F6EECF244321}">
                <p14:modId xmlns:p14="http://schemas.microsoft.com/office/powerpoint/2010/main" val="2643998630"/>
              </p:ext>
            </p:extLst>
          </p:nvPr>
        </p:nvGraphicFramePr>
        <p:xfrm>
          <a:off x="6702527" y="1632194"/>
          <a:ext cx="4686300" cy="355923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496087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011AD-D78E-872A-3E33-EA7CF44BF571}"/>
            </a:ext>
          </a:extLst>
        </p:cNvPr>
        <p:cNvGrpSpPr/>
        <p:nvPr/>
      </p:nvGrpSpPr>
      <p:grpSpPr>
        <a:xfrm>
          <a:off x="0" y="0"/>
          <a:ext cx="0" cy="0"/>
          <a:chOff x="0" y="0"/>
          <a:chExt cx="0" cy="0"/>
        </a:xfrm>
      </p:grpSpPr>
      <p:sp>
        <p:nvSpPr>
          <p:cNvPr id="2" name="Google Shape;249;g21197e7cf6e_0_97">
            <a:extLst>
              <a:ext uri="{FF2B5EF4-FFF2-40B4-BE49-F238E27FC236}">
                <a16:creationId xmlns:a16="http://schemas.microsoft.com/office/drawing/2014/main" id="{A82A8C83-FA72-5FA2-3314-9C1DA396F60B}"/>
              </a:ext>
            </a:extLst>
          </p:cNvPr>
          <p:cNvSpPr/>
          <p:nvPr/>
        </p:nvSpPr>
        <p:spPr>
          <a:xfrm>
            <a:off x="839172" y="1379634"/>
            <a:ext cx="5675354" cy="1362367"/>
          </a:xfrm>
          <a:prstGeom prst="rect">
            <a:avLst/>
          </a:prstGeom>
          <a:solidFill>
            <a:schemeClr val="lt1"/>
          </a:solidFill>
          <a:ln>
            <a:noFill/>
          </a:ln>
        </p:spPr>
        <p:txBody>
          <a:bodyPr spcFirstLastPara="1" wrap="square" lIns="91425" tIns="45700" rIns="91425" bIns="45700" anchor="ctr" anchorCtr="0">
            <a:noAutofit/>
          </a:bodyPr>
          <a:lstStyle/>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dirty="0">
                <a:latin typeface="Palatino Linotype" panose="02040502050505030304" pitchFamily="18" charset="0"/>
                <a:cs typeface="Poppins" panose="020B0604020202020204" charset="0"/>
              </a:rPr>
              <a:t>Transaction occurred by Current and Saving Account is 65.05M and 60.85M respectively</a:t>
            </a:r>
            <a:endParaRPr lang="en-GB" sz="1800" dirty="0">
              <a:latin typeface="Palatino Linotype" panose="02040502050505030304" pitchFamily="18" charset="0"/>
              <a:cs typeface="Poppins" panose="020B0604020202020204" charset="0"/>
            </a:endParaRPr>
          </a:p>
        </p:txBody>
      </p:sp>
      <p:grpSp>
        <p:nvGrpSpPr>
          <p:cNvPr id="3" name="Group 2">
            <a:extLst>
              <a:ext uri="{FF2B5EF4-FFF2-40B4-BE49-F238E27FC236}">
                <a16:creationId xmlns:a16="http://schemas.microsoft.com/office/drawing/2014/main" id="{091D1393-2FB6-A5BF-C15E-D4E9DA443470}"/>
              </a:ext>
            </a:extLst>
          </p:cNvPr>
          <p:cNvGrpSpPr/>
          <p:nvPr/>
        </p:nvGrpSpPr>
        <p:grpSpPr>
          <a:xfrm>
            <a:off x="1179719" y="934720"/>
            <a:ext cx="1799684" cy="520496"/>
            <a:chOff x="4990288" y="1782720"/>
            <a:chExt cx="1799684" cy="520496"/>
          </a:xfrm>
        </p:grpSpPr>
        <p:pic>
          <p:nvPicPr>
            <p:cNvPr id="4" name="Picture 3">
              <a:extLst>
                <a:ext uri="{FF2B5EF4-FFF2-40B4-BE49-F238E27FC236}">
                  <a16:creationId xmlns:a16="http://schemas.microsoft.com/office/drawing/2014/main" id="{864E8D8E-4F80-00D3-73F3-0B95B6E02B86}"/>
                </a:ext>
              </a:extLst>
            </p:cNvPr>
            <p:cNvPicPr>
              <a:picLocks noChangeAspect="1"/>
            </p:cNvPicPr>
            <p:nvPr/>
          </p:nvPicPr>
          <p:blipFill>
            <a:blip r:embed="rId2"/>
            <a:stretch>
              <a:fillRect/>
            </a:stretch>
          </p:blipFill>
          <p:spPr>
            <a:xfrm>
              <a:off x="4990288" y="1782720"/>
              <a:ext cx="520496" cy="520496"/>
            </a:xfrm>
            <a:prstGeom prst="rect">
              <a:avLst/>
            </a:prstGeom>
          </p:spPr>
        </p:pic>
        <p:sp>
          <p:nvSpPr>
            <p:cNvPr id="5" name="TextBox 4">
              <a:extLst>
                <a:ext uri="{FF2B5EF4-FFF2-40B4-BE49-F238E27FC236}">
                  <a16:creationId xmlns:a16="http://schemas.microsoft.com/office/drawing/2014/main" id="{D366C73D-EE23-4698-23C4-81A87D22AA62}"/>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graphicFrame>
        <p:nvGraphicFramePr>
          <p:cNvPr id="8" name="Chart 7">
            <a:extLst>
              <a:ext uri="{FF2B5EF4-FFF2-40B4-BE49-F238E27FC236}">
                <a16:creationId xmlns:a16="http://schemas.microsoft.com/office/drawing/2014/main" id="{79E993FB-FD0D-F958-63A2-B8E0701E2335}"/>
              </a:ext>
            </a:extLst>
          </p:cNvPr>
          <p:cNvGraphicFramePr>
            <a:graphicFrameLocks/>
          </p:cNvGraphicFramePr>
          <p:nvPr>
            <p:extLst>
              <p:ext uri="{D42A27DB-BD31-4B8C-83A1-F6EECF244321}">
                <p14:modId xmlns:p14="http://schemas.microsoft.com/office/powerpoint/2010/main" val="2325502544"/>
              </p:ext>
            </p:extLst>
          </p:nvPr>
        </p:nvGraphicFramePr>
        <p:xfrm>
          <a:off x="6740484" y="934720"/>
          <a:ext cx="4051504" cy="24942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876432A3-C6AD-C90D-BDB0-2C527ADF511F}"/>
              </a:ext>
            </a:extLst>
          </p:cNvPr>
          <p:cNvGraphicFramePr>
            <a:graphicFrameLocks/>
          </p:cNvGraphicFramePr>
          <p:nvPr>
            <p:extLst>
              <p:ext uri="{D42A27DB-BD31-4B8C-83A1-F6EECF244321}">
                <p14:modId xmlns:p14="http://schemas.microsoft.com/office/powerpoint/2010/main" val="251877228"/>
              </p:ext>
            </p:extLst>
          </p:nvPr>
        </p:nvGraphicFramePr>
        <p:xfrm>
          <a:off x="918804" y="3624957"/>
          <a:ext cx="5309276" cy="2743200"/>
        </p:xfrm>
        <a:graphic>
          <a:graphicData uri="http://schemas.openxmlformats.org/drawingml/2006/chart">
            <c:chart xmlns:c="http://schemas.openxmlformats.org/drawingml/2006/chart" xmlns:r="http://schemas.openxmlformats.org/officeDocument/2006/relationships" r:id="rId4"/>
          </a:graphicData>
        </a:graphic>
      </p:graphicFrame>
      <p:sp>
        <p:nvSpPr>
          <p:cNvPr id="10" name="Google Shape;249;g21197e7cf6e_0_97">
            <a:extLst>
              <a:ext uri="{FF2B5EF4-FFF2-40B4-BE49-F238E27FC236}">
                <a16:creationId xmlns:a16="http://schemas.microsoft.com/office/drawing/2014/main" id="{D1E82606-113E-A570-1589-1F4515C92E67}"/>
              </a:ext>
            </a:extLst>
          </p:cNvPr>
          <p:cNvSpPr/>
          <p:nvPr/>
        </p:nvSpPr>
        <p:spPr>
          <a:xfrm>
            <a:off x="6388992" y="4442637"/>
            <a:ext cx="5675354" cy="1362367"/>
          </a:xfrm>
          <a:prstGeom prst="rect">
            <a:avLst/>
          </a:prstGeom>
          <a:solidFill>
            <a:schemeClr val="lt1"/>
          </a:solidFill>
          <a:ln>
            <a:noFill/>
          </a:ln>
        </p:spPr>
        <p:txBody>
          <a:bodyPr spcFirstLastPara="1" wrap="square" lIns="91425" tIns="45700" rIns="91425" bIns="45700" anchor="ctr" anchorCtr="0">
            <a:noAutofit/>
          </a:bodyPr>
          <a:lstStyle/>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800" dirty="0">
                <a:latin typeface="Palatino Linotype" panose="02040502050505030304" pitchFamily="18" charset="0"/>
                <a:cs typeface="Poppins" panose="020B0604020202020204" charset="0"/>
              </a:rPr>
              <a:t>In all Age groups Male perform Most Transactions</a:t>
            </a:r>
          </a:p>
        </p:txBody>
      </p:sp>
    </p:spTree>
    <p:extLst>
      <p:ext uri="{BB962C8B-B14F-4D97-AF65-F5344CB8AC3E}">
        <p14:creationId xmlns:p14="http://schemas.microsoft.com/office/powerpoint/2010/main" val="28442117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4D43A-75E0-725E-4696-3C92FEF8CE0E}"/>
            </a:ext>
          </a:extLst>
        </p:cNvPr>
        <p:cNvGrpSpPr/>
        <p:nvPr/>
      </p:nvGrpSpPr>
      <p:grpSpPr>
        <a:xfrm>
          <a:off x="0" y="0"/>
          <a:ext cx="0" cy="0"/>
          <a:chOff x="0" y="0"/>
          <a:chExt cx="0" cy="0"/>
        </a:xfrm>
      </p:grpSpPr>
      <p:sp>
        <p:nvSpPr>
          <p:cNvPr id="2" name="Google Shape;146;p2">
            <a:extLst>
              <a:ext uri="{FF2B5EF4-FFF2-40B4-BE49-F238E27FC236}">
                <a16:creationId xmlns:a16="http://schemas.microsoft.com/office/drawing/2014/main" id="{546E40A3-EB4E-0740-5577-929BFC365DC9}"/>
              </a:ext>
            </a:extLst>
          </p:cNvPr>
          <p:cNvSpPr/>
          <p:nvPr/>
        </p:nvSpPr>
        <p:spPr>
          <a:xfrm>
            <a:off x="0" y="-15672"/>
            <a:ext cx="12192000" cy="6873671"/>
          </a:xfrm>
          <a:prstGeom prst="rect">
            <a:avLst/>
          </a:prstGeom>
          <a:solidFill>
            <a:schemeClr val="tx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pic>
        <p:nvPicPr>
          <p:cNvPr id="7" name="Google Shape;149;p2">
            <a:extLst>
              <a:ext uri="{FF2B5EF4-FFF2-40B4-BE49-F238E27FC236}">
                <a16:creationId xmlns:a16="http://schemas.microsoft.com/office/drawing/2014/main" id="{015F5CFC-2618-7D36-D1E5-7BB3177718D7}"/>
              </a:ext>
            </a:extLst>
          </p:cNvPr>
          <p:cNvPicPr preferRelativeResize="0"/>
          <p:nvPr/>
        </p:nvPicPr>
        <p:blipFill rotWithShape="1">
          <a:blip r:embed="rId2">
            <a:alphaModFix/>
          </a:blip>
          <a:srcRect/>
          <a:stretch/>
        </p:blipFill>
        <p:spPr>
          <a:xfrm>
            <a:off x="8036543" y="1462165"/>
            <a:ext cx="3672184" cy="3672184"/>
          </a:xfrm>
          <a:prstGeom prst="rect">
            <a:avLst/>
          </a:prstGeom>
          <a:noFill/>
          <a:ln>
            <a:noFill/>
          </a:ln>
        </p:spPr>
      </p:pic>
      <p:sp>
        <p:nvSpPr>
          <p:cNvPr id="3" name="Google Shape;160;p7">
            <a:extLst>
              <a:ext uri="{FF2B5EF4-FFF2-40B4-BE49-F238E27FC236}">
                <a16:creationId xmlns:a16="http://schemas.microsoft.com/office/drawing/2014/main" id="{85373D86-DCB3-AEEF-2A0F-8BB650B3ABC5}"/>
              </a:ext>
            </a:extLst>
          </p:cNvPr>
          <p:cNvSpPr/>
          <p:nvPr/>
        </p:nvSpPr>
        <p:spPr>
          <a:xfrm>
            <a:off x="0" y="2547468"/>
            <a:ext cx="7222603" cy="2325473"/>
          </a:xfrm>
          <a:prstGeom prst="rect">
            <a:avLst/>
          </a:prstGeom>
          <a:solidFill>
            <a:schemeClr val="tx2">
              <a:lumMod val="75000"/>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pic>
        <p:nvPicPr>
          <p:cNvPr id="5" name="Google Shape;162;p7">
            <a:extLst>
              <a:ext uri="{FF2B5EF4-FFF2-40B4-BE49-F238E27FC236}">
                <a16:creationId xmlns:a16="http://schemas.microsoft.com/office/drawing/2014/main" id="{4FF5D7B8-87B8-307D-BEFA-89F724D97A19}"/>
              </a:ext>
            </a:extLst>
          </p:cNvPr>
          <p:cNvPicPr preferRelativeResize="0"/>
          <p:nvPr/>
        </p:nvPicPr>
        <p:blipFill rotWithShape="1">
          <a:blip r:embed="rId3">
            <a:alphaModFix/>
          </a:blip>
          <a:srcRect/>
          <a:stretch/>
        </p:blipFill>
        <p:spPr>
          <a:xfrm>
            <a:off x="533400" y="2835734"/>
            <a:ext cx="518323" cy="518323"/>
          </a:xfrm>
          <a:prstGeom prst="rect">
            <a:avLst/>
          </a:prstGeom>
          <a:noFill/>
          <a:ln>
            <a:noFill/>
          </a:ln>
        </p:spPr>
      </p:pic>
      <p:sp>
        <p:nvSpPr>
          <p:cNvPr id="6" name="Google Shape;242;g21197e7cf6e_0_75">
            <a:extLst>
              <a:ext uri="{FF2B5EF4-FFF2-40B4-BE49-F238E27FC236}">
                <a16:creationId xmlns:a16="http://schemas.microsoft.com/office/drawing/2014/main" id="{F99C6FAD-DB42-723F-17F6-046481822B3D}"/>
              </a:ext>
            </a:extLst>
          </p:cNvPr>
          <p:cNvSpPr txBox="1"/>
          <p:nvPr/>
        </p:nvSpPr>
        <p:spPr>
          <a:xfrm>
            <a:off x="533400" y="3704000"/>
            <a:ext cx="5057400" cy="59400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2800" b="1" i="0" u="none" strike="noStrike" cap="none" dirty="0">
                <a:solidFill>
                  <a:srgbClr val="FFFFFF"/>
                </a:solidFill>
                <a:latin typeface="Palatino Linotype" panose="02040502050505030304" pitchFamily="18" charset="0"/>
                <a:ea typeface="Poppins"/>
                <a:cs typeface="Poppins"/>
                <a:sym typeface="Poppins"/>
              </a:rPr>
              <a:t>Key Insights</a:t>
            </a:r>
            <a:endParaRPr sz="2800" b="0" i="0" u="none" strike="noStrike" cap="none" dirty="0">
              <a:solidFill>
                <a:srgbClr val="FFFFFF"/>
              </a:solidFill>
              <a:latin typeface="Palatino Linotype" panose="02040502050505030304" pitchFamily="18" charset="0"/>
              <a:ea typeface="Poppins"/>
              <a:cs typeface="Poppins"/>
              <a:sym typeface="Poppins"/>
            </a:endParaRPr>
          </a:p>
        </p:txBody>
      </p:sp>
    </p:spTree>
    <p:extLst>
      <p:ext uri="{BB962C8B-B14F-4D97-AF65-F5344CB8AC3E}">
        <p14:creationId xmlns:p14="http://schemas.microsoft.com/office/powerpoint/2010/main" val="15555119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17BB55A-3C25-4D1E-9314-36BA73E1B579}"/>
              </a:ext>
            </a:extLst>
          </p:cNvPr>
          <p:cNvSpPr txBox="1"/>
          <p:nvPr/>
        </p:nvSpPr>
        <p:spPr>
          <a:xfrm>
            <a:off x="4164848" y="304790"/>
            <a:ext cx="2935321" cy="584775"/>
          </a:xfrm>
          <a:prstGeom prst="rect">
            <a:avLst/>
          </a:prstGeom>
          <a:noFill/>
        </p:spPr>
        <p:txBody>
          <a:bodyPr wrap="square">
            <a:spAutoFit/>
          </a:bodyPr>
          <a:lstStyle/>
          <a:p>
            <a:r>
              <a:rPr kumimoji="0" lang="en-IN" sz="3200" b="1" i="0" u="none" strike="noStrike" kern="0" cap="none" spc="0" normalizeH="0" baseline="0" noProof="0" dirty="0">
                <a:ln>
                  <a:noFill/>
                </a:ln>
                <a:solidFill>
                  <a:srgbClr val="000000">
                    <a:lumMod val="65000"/>
                    <a:lumOff val="35000"/>
                  </a:srgbClr>
                </a:solidFill>
                <a:effectLst/>
                <a:uLnTx/>
                <a:uFillTx/>
                <a:latin typeface="Poppins"/>
                <a:cs typeface="Poppins"/>
                <a:sym typeface="Poppins"/>
              </a:rPr>
              <a:t>Key Insights</a:t>
            </a:r>
            <a:endParaRPr lang="en-IN" dirty="0"/>
          </a:p>
        </p:txBody>
      </p:sp>
      <p:pic>
        <p:nvPicPr>
          <p:cNvPr id="3" name="Picture 2">
            <a:extLst>
              <a:ext uri="{FF2B5EF4-FFF2-40B4-BE49-F238E27FC236}">
                <a16:creationId xmlns:a16="http://schemas.microsoft.com/office/drawing/2014/main" id="{6DB9C2E8-6237-8EC8-0504-358CB526DEEB}"/>
              </a:ext>
            </a:extLst>
          </p:cNvPr>
          <p:cNvPicPr>
            <a:picLocks noChangeAspect="1"/>
          </p:cNvPicPr>
          <p:nvPr/>
        </p:nvPicPr>
        <p:blipFill>
          <a:blip r:embed="rId2"/>
          <a:stretch>
            <a:fillRect/>
          </a:stretch>
        </p:blipFill>
        <p:spPr>
          <a:xfrm>
            <a:off x="6910389" y="304790"/>
            <a:ext cx="622911" cy="517347"/>
          </a:xfrm>
          <a:prstGeom prst="rect">
            <a:avLst/>
          </a:prstGeom>
        </p:spPr>
      </p:pic>
      <p:sp>
        <p:nvSpPr>
          <p:cNvPr id="4" name="TextBox 3">
            <a:extLst>
              <a:ext uri="{FF2B5EF4-FFF2-40B4-BE49-F238E27FC236}">
                <a16:creationId xmlns:a16="http://schemas.microsoft.com/office/drawing/2014/main" id="{648285B7-ED49-1EAB-52DE-46C0288F523A}"/>
              </a:ext>
            </a:extLst>
          </p:cNvPr>
          <p:cNvSpPr txBox="1"/>
          <p:nvPr/>
        </p:nvSpPr>
        <p:spPr>
          <a:xfrm>
            <a:off x="1612490" y="1238865"/>
            <a:ext cx="10392696" cy="9233297"/>
          </a:xfrm>
          <a:prstGeom prst="rect">
            <a:avLst/>
          </a:prstGeom>
          <a:noFill/>
        </p:spPr>
        <p:txBody>
          <a:bodyPr wrap="square" rtlCol="0">
            <a:spAutoFit/>
          </a:bodyPr>
          <a:lstStyle/>
          <a:p>
            <a:pPr marL="285750" indent="-285750">
              <a:buFont typeface="Arial" panose="020B0604020202020204" pitchFamily="34" charset="0"/>
              <a:buChar char="•"/>
            </a:pPr>
            <a:endParaRPr lang="en-US" dirty="0"/>
          </a:p>
          <a:p>
            <a:pPr marL="285750" indent="-285750">
              <a:lnSpc>
                <a:spcPct val="150000"/>
              </a:lnSpc>
              <a:buFont typeface="Arial" panose="020B0604020202020204" pitchFamily="34" charset="0"/>
              <a:buChar char="•"/>
            </a:pPr>
            <a:r>
              <a:rPr lang="en-US" dirty="0">
                <a:latin typeface="Palatino Linotype" panose="02040502050505030304" pitchFamily="18" charset="0"/>
              </a:rPr>
              <a:t>Total Success Transaction Amount is </a:t>
            </a:r>
            <a:r>
              <a:rPr lang="en-US" b="1" dirty="0">
                <a:latin typeface="Palatino Linotype" panose="02040502050505030304" pitchFamily="18" charset="0"/>
              </a:rPr>
              <a:t>~116.26M</a:t>
            </a:r>
            <a:r>
              <a:rPr lang="en-US" dirty="0">
                <a:latin typeface="Palatino Linotype" panose="02040502050505030304" pitchFamily="18" charset="0"/>
              </a:rPr>
              <a:t>.</a:t>
            </a:r>
          </a:p>
          <a:p>
            <a:pPr marL="285750" indent="-285750">
              <a:lnSpc>
                <a:spcPct val="150000"/>
              </a:lnSpc>
              <a:buFont typeface="Arial" panose="020B0604020202020204" pitchFamily="34" charset="0"/>
              <a:buChar char="•"/>
            </a:pPr>
            <a:r>
              <a:rPr lang="en-US" dirty="0">
                <a:latin typeface="Palatino Linotype" panose="02040502050505030304" pitchFamily="18" charset="0"/>
              </a:rPr>
              <a:t>ATM is Most used channel contributing over </a:t>
            </a:r>
            <a:r>
              <a:rPr lang="en-US" b="1" dirty="0">
                <a:latin typeface="Palatino Linotype" panose="02040502050505030304" pitchFamily="18" charset="0"/>
              </a:rPr>
              <a:t>25.47%</a:t>
            </a:r>
            <a:r>
              <a:rPr lang="en-US" dirty="0">
                <a:latin typeface="Palatino Linotype" panose="02040502050505030304" pitchFamily="18" charset="0"/>
              </a:rPr>
              <a:t> all transactions.</a:t>
            </a:r>
          </a:p>
          <a:p>
            <a:pPr marL="285750" indent="-285750">
              <a:lnSpc>
                <a:spcPct val="150000"/>
              </a:lnSpc>
              <a:buFont typeface="Arial" panose="020B0604020202020204" pitchFamily="34" charset="0"/>
              <a:buChar char="•"/>
            </a:pPr>
            <a:r>
              <a:rPr lang="en-US" b="1" dirty="0">
                <a:latin typeface="Palatino Linotype" panose="02040502050505030304" pitchFamily="18" charset="0"/>
              </a:rPr>
              <a:t>Withdrawal</a:t>
            </a:r>
            <a:r>
              <a:rPr lang="en-US" dirty="0">
                <a:latin typeface="Palatino Linotype" panose="02040502050505030304" pitchFamily="18" charset="0"/>
              </a:rPr>
              <a:t> is highest transaction type by count.</a:t>
            </a:r>
          </a:p>
          <a:p>
            <a:pPr marL="285750" indent="-285750">
              <a:lnSpc>
                <a:spcPct val="150000"/>
              </a:lnSpc>
              <a:buFont typeface="Arial" panose="020B0604020202020204" pitchFamily="34" charset="0"/>
              <a:buChar char="•"/>
            </a:pPr>
            <a:r>
              <a:rPr lang="en-US" dirty="0">
                <a:latin typeface="Palatino Linotype" panose="02040502050505030304" pitchFamily="18" charset="0"/>
              </a:rPr>
              <a:t>Male in Adult and Female in Senior Perform Most Transaction Amount.</a:t>
            </a:r>
          </a:p>
          <a:p>
            <a:pPr marL="285750" indent="-285750">
              <a:lnSpc>
                <a:spcPct val="150000"/>
              </a:lnSpc>
              <a:buFont typeface="Arial" panose="020B0604020202020204" pitchFamily="34" charset="0"/>
              <a:buChar char="•"/>
            </a:pPr>
            <a:r>
              <a:rPr lang="en-US" b="1" dirty="0">
                <a:latin typeface="Palatino Linotype" panose="02040502050505030304" pitchFamily="18" charset="0"/>
              </a:rPr>
              <a:t>Most Transactions are occurred in Chennai</a:t>
            </a:r>
            <a:r>
              <a:rPr lang="en-US" dirty="0">
                <a:latin typeface="Palatino Linotype" panose="02040502050505030304" pitchFamily="18" charset="0"/>
              </a:rPr>
              <a:t>.</a:t>
            </a:r>
          </a:p>
          <a:p>
            <a:pPr marL="285750" indent="-285750">
              <a:lnSpc>
                <a:spcPct val="150000"/>
              </a:lnSpc>
              <a:buFont typeface="Arial" panose="020B0604020202020204" pitchFamily="34" charset="0"/>
              <a:buChar char="•"/>
            </a:pPr>
            <a:r>
              <a:rPr lang="en-US" b="1" dirty="0">
                <a:latin typeface="Palatino Linotype" panose="02040502050505030304" pitchFamily="18" charset="0"/>
              </a:rPr>
              <a:t>Failed transactions are highest in ATM channel (due to network issues</a:t>
            </a:r>
            <a:r>
              <a:rPr lang="en-US" b="1" dirty="0"/>
              <a:t>)</a:t>
            </a:r>
            <a:r>
              <a:rPr lang="en-US" dirty="0"/>
              <a:t>.</a:t>
            </a:r>
          </a:p>
          <a:p>
            <a:pPr marL="285750" indent="-285750">
              <a:lnSpc>
                <a:spcPct val="150000"/>
              </a:lnSpc>
              <a:buFont typeface="Arial" panose="020B0604020202020204" pitchFamily="34" charset="0"/>
              <a:buChar char="•"/>
            </a:pPr>
            <a:r>
              <a:rPr lang="en-US" dirty="0">
                <a:latin typeface="Palatino Linotype" panose="02040502050505030304" pitchFamily="18" charset="0"/>
              </a:rPr>
              <a:t>The bank saw around </a:t>
            </a:r>
            <a:r>
              <a:rPr lang="en-US" b="1" dirty="0">
                <a:latin typeface="Palatino Linotype" panose="02040502050505030304" pitchFamily="18" charset="0"/>
              </a:rPr>
              <a:t>49%</a:t>
            </a:r>
            <a:r>
              <a:rPr lang="en-US" dirty="0">
                <a:latin typeface="Palatino Linotype" panose="02040502050505030304" pitchFamily="18" charset="0"/>
              </a:rPr>
              <a:t> is digital transactions</a:t>
            </a:r>
            <a:r>
              <a:rPr lang="en-US" dirty="0"/>
              <a:t>.</a:t>
            </a:r>
          </a:p>
          <a:p>
            <a:pPr marL="285750" indent="-285750">
              <a:lnSpc>
                <a:spcPct val="150000"/>
              </a:lnSpc>
              <a:buFont typeface="Arial" panose="020B0604020202020204" pitchFamily="34" charset="0"/>
              <a:buChar char="•"/>
            </a:pPr>
            <a:r>
              <a:rPr lang="en-US" dirty="0">
                <a:latin typeface="Palatino Linotype" panose="02040502050505030304" pitchFamily="18" charset="0"/>
              </a:rPr>
              <a:t>Online transfers show a consistent growth trend.</a:t>
            </a:r>
          </a:p>
          <a:p>
            <a:pPr marL="285750" indent="-285750">
              <a:lnSpc>
                <a:spcPct val="150000"/>
              </a:lnSpc>
              <a:buFont typeface="Arial" panose="020B0604020202020204" pitchFamily="34" charset="0"/>
              <a:buChar char="•"/>
            </a:pPr>
            <a:r>
              <a:rPr lang="en-US" b="1" dirty="0">
                <a:latin typeface="Palatino Linotype" panose="02040502050505030304" pitchFamily="18" charset="0"/>
              </a:rPr>
              <a:t>310.76M</a:t>
            </a:r>
            <a:r>
              <a:rPr lang="en-US" dirty="0">
                <a:latin typeface="Palatino Linotype" panose="02040502050505030304" pitchFamily="18" charset="0"/>
              </a:rPr>
              <a:t> is Total loan amount and </a:t>
            </a:r>
            <a:r>
              <a:rPr lang="en-US" b="1" dirty="0">
                <a:latin typeface="Palatino Linotype" panose="02040502050505030304" pitchFamily="18" charset="0"/>
              </a:rPr>
              <a:t>23.66K</a:t>
            </a:r>
            <a:r>
              <a:rPr lang="en-US" dirty="0">
                <a:latin typeface="Palatino Linotype" panose="02040502050505030304" pitchFamily="18" charset="0"/>
              </a:rPr>
              <a:t> is Avg EMI Amount</a:t>
            </a:r>
          </a:p>
          <a:p>
            <a:pPr marL="285750" indent="-285750">
              <a:lnSpc>
                <a:spcPct val="150000"/>
              </a:lnSpc>
              <a:buFont typeface="Arial" panose="020B0604020202020204" pitchFamily="34" charset="0"/>
              <a:buChar char="•"/>
            </a:pPr>
            <a:r>
              <a:rPr lang="en-US" dirty="0">
                <a:latin typeface="Palatino Linotype" panose="02040502050505030304" pitchFamily="18" charset="0"/>
              </a:rPr>
              <a:t>Customer 860 &amp; Customer 347 is most and least Loan paying Customers respectively.</a:t>
            </a:r>
          </a:p>
          <a:p>
            <a:pPr marL="285750" indent="-285750">
              <a:buFont typeface="Arial" panose="020B0604020202020204" pitchFamily="34" charset="0"/>
              <a:buChar char="•"/>
            </a:pPr>
            <a:endParaRPr lang="en-US" dirty="0">
              <a:latin typeface="Palatino Linotype" panose="02040502050505030304" pitchFamily="18" charset="0"/>
            </a:endParaRPr>
          </a:p>
          <a:p>
            <a:pPr marL="285750" indent="-285750">
              <a:buFont typeface="Arial" panose="020B0604020202020204" pitchFamily="34" charset="0"/>
              <a:buChar char="•"/>
            </a:pPr>
            <a:endParaRPr lang="en-US" dirty="0">
              <a:latin typeface="Palatino Linotype" panose="02040502050505030304" pitchFamily="18" charset="0"/>
            </a:endParaRPr>
          </a:p>
          <a:p>
            <a:pPr marL="285750" indent="-285750">
              <a:buFont typeface="Arial" panose="020B0604020202020204" pitchFamily="34" charset="0"/>
              <a:buChar char="•"/>
            </a:pPr>
            <a:endParaRPr lang="en-US" dirty="0">
              <a:latin typeface="Palatino Linotype" panose="02040502050505030304" pitchFamily="18" charset="0"/>
            </a:endParaRPr>
          </a:p>
          <a:p>
            <a:pPr marL="285750" indent="-285750">
              <a:buFont typeface="Arial" panose="020B0604020202020204" pitchFamily="34" charset="0"/>
              <a:buChar char="•"/>
            </a:pPr>
            <a:endParaRPr lang="en-US" dirty="0">
              <a:latin typeface="Palatino Linotype" panose="02040502050505030304" pitchFamily="18" charset="0"/>
            </a:endParaRPr>
          </a:p>
          <a:p>
            <a:pPr marL="285750" indent="-285750">
              <a:buFont typeface="Arial" panose="020B0604020202020204" pitchFamily="34" charset="0"/>
              <a:buChar char="•"/>
            </a:pPr>
            <a:endParaRPr lang="en-US" dirty="0">
              <a:latin typeface="Palatino Linotype" panose="02040502050505030304" pitchFamily="18" charset="0"/>
            </a:endParaRPr>
          </a:p>
          <a:p>
            <a:pPr marL="285750" indent="-285750">
              <a:buFont typeface="Arial" panose="020B0604020202020204" pitchFamily="34" charset="0"/>
              <a:buChar char="•"/>
            </a:pPr>
            <a:endParaRPr lang="en-US" dirty="0">
              <a:latin typeface="Palatino Linotype" panose="02040502050505030304" pitchFamily="18" charset="0"/>
            </a:endParaRPr>
          </a:p>
          <a:p>
            <a:pPr marL="285750" indent="-285750">
              <a:buFont typeface="Arial" panose="020B0604020202020204" pitchFamily="34" charset="0"/>
              <a:buChar char="•"/>
            </a:pPr>
            <a:endParaRPr lang="en-US" dirty="0">
              <a:latin typeface="Palatino Linotype" panose="02040502050505030304" pitchFamily="18" charset="0"/>
            </a:endParaRPr>
          </a:p>
          <a:p>
            <a:pPr marL="285750" indent="-285750">
              <a:buFont typeface="Arial" panose="020B0604020202020204" pitchFamily="34" charset="0"/>
              <a:buChar char="•"/>
            </a:pPr>
            <a:endParaRPr lang="en-US" dirty="0">
              <a:latin typeface="Palatino Linotype" panose="02040502050505030304" pitchFamily="18" charset="0"/>
            </a:endParaRPr>
          </a:p>
          <a:p>
            <a:pPr marL="285750" indent="-285750">
              <a:buFont typeface="Arial" panose="020B0604020202020204" pitchFamily="34" charset="0"/>
              <a:buChar char="•"/>
            </a:pPr>
            <a:endParaRPr lang="en-US" dirty="0">
              <a:latin typeface="Palatino Linotype" panose="02040502050505030304" pitchFamily="18" charset="0"/>
            </a:endParaRP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512579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6D9D9-0AAF-DAA5-F943-998BD66DF5E3}"/>
            </a:ext>
          </a:extLst>
        </p:cNvPr>
        <p:cNvGrpSpPr/>
        <p:nvPr/>
      </p:nvGrpSpPr>
      <p:grpSpPr>
        <a:xfrm>
          <a:off x="0" y="0"/>
          <a:ext cx="0" cy="0"/>
          <a:chOff x="0" y="0"/>
          <a:chExt cx="0" cy="0"/>
        </a:xfrm>
      </p:grpSpPr>
      <p:sp>
        <p:nvSpPr>
          <p:cNvPr id="2" name="Google Shape;146;p2">
            <a:extLst>
              <a:ext uri="{FF2B5EF4-FFF2-40B4-BE49-F238E27FC236}">
                <a16:creationId xmlns:a16="http://schemas.microsoft.com/office/drawing/2014/main" id="{51A4107E-BC5A-27C6-0B6B-77BD41EA8150}"/>
              </a:ext>
            </a:extLst>
          </p:cNvPr>
          <p:cNvSpPr/>
          <p:nvPr/>
        </p:nvSpPr>
        <p:spPr>
          <a:xfrm>
            <a:off x="0" y="-15672"/>
            <a:ext cx="12192000" cy="6873671"/>
          </a:xfrm>
          <a:prstGeom prst="rect">
            <a:avLst/>
          </a:prstGeom>
          <a:solidFill>
            <a:schemeClr val="tx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pic>
        <p:nvPicPr>
          <p:cNvPr id="7" name="Google Shape;149;p2">
            <a:extLst>
              <a:ext uri="{FF2B5EF4-FFF2-40B4-BE49-F238E27FC236}">
                <a16:creationId xmlns:a16="http://schemas.microsoft.com/office/drawing/2014/main" id="{EF2C7612-32AF-F690-7F1A-89770A7420F3}"/>
              </a:ext>
            </a:extLst>
          </p:cNvPr>
          <p:cNvPicPr preferRelativeResize="0"/>
          <p:nvPr/>
        </p:nvPicPr>
        <p:blipFill rotWithShape="1">
          <a:blip r:embed="rId2">
            <a:alphaModFix/>
          </a:blip>
          <a:srcRect/>
          <a:stretch/>
        </p:blipFill>
        <p:spPr>
          <a:xfrm>
            <a:off x="8036543" y="1462165"/>
            <a:ext cx="3672184" cy="3672184"/>
          </a:xfrm>
          <a:prstGeom prst="rect">
            <a:avLst/>
          </a:prstGeom>
          <a:noFill/>
          <a:ln>
            <a:noFill/>
          </a:ln>
        </p:spPr>
      </p:pic>
      <p:sp>
        <p:nvSpPr>
          <p:cNvPr id="3" name="Google Shape;160;p7">
            <a:extLst>
              <a:ext uri="{FF2B5EF4-FFF2-40B4-BE49-F238E27FC236}">
                <a16:creationId xmlns:a16="http://schemas.microsoft.com/office/drawing/2014/main" id="{8DB4698D-2001-3060-308D-3F68992B163A}"/>
              </a:ext>
            </a:extLst>
          </p:cNvPr>
          <p:cNvSpPr/>
          <p:nvPr/>
        </p:nvSpPr>
        <p:spPr>
          <a:xfrm>
            <a:off x="0" y="2547468"/>
            <a:ext cx="7222603" cy="2325473"/>
          </a:xfrm>
          <a:prstGeom prst="rect">
            <a:avLst/>
          </a:prstGeom>
          <a:solidFill>
            <a:schemeClr val="tx2">
              <a:lumMod val="75000"/>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pic>
        <p:nvPicPr>
          <p:cNvPr id="5" name="Google Shape;162;p7">
            <a:extLst>
              <a:ext uri="{FF2B5EF4-FFF2-40B4-BE49-F238E27FC236}">
                <a16:creationId xmlns:a16="http://schemas.microsoft.com/office/drawing/2014/main" id="{C2D3BC96-BEE8-3FF6-0E75-1783B861F989}"/>
              </a:ext>
            </a:extLst>
          </p:cNvPr>
          <p:cNvPicPr preferRelativeResize="0"/>
          <p:nvPr/>
        </p:nvPicPr>
        <p:blipFill rotWithShape="1">
          <a:blip r:embed="rId3">
            <a:alphaModFix/>
          </a:blip>
          <a:srcRect/>
          <a:stretch/>
        </p:blipFill>
        <p:spPr>
          <a:xfrm>
            <a:off x="533400" y="2835734"/>
            <a:ext cx="518323" cy="518323"/>
          </a:xfrm>
          <a:prstGeom prst="rect">
            <a:avLst/>
          </a:prstGeom>
          <a:noFill/>
          <a:ln>
            <a:noFill/>
          </a:ln>
        </p:spPr>
      </p:pic>
      <p:sp>
        <p:nvSpPr>
          <p:cNvPr id="6" name="Google Shape;242;g21197e7cf6e_0_75">
            <a:extLst>
              <a:ext uri="{FF2B5EF4-FFF2-40B4-BE49-F238E27FC236}">
                <a16:creationId xmlns:a16="http://schemas.microsoft.com/office/drawing/2014/main" id="{A8A27AF4-473F-7C23-76D8-80BF67C5496F}"/>
              </a:ext>
            </a:extLst>
          </p:cNvPr>
          <p:cNvSpPr txBox="1"/>
          <p:nvPr/>
        </p:nvSpPr>
        <p:spPr>
          <a:xfrm>
            <a:off x="533400" y="3704000"/>
            <a:ext cx="5057400" cy="59400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2800" b="1" dirty="0">
                <a:solidFill>
                  <a:srgbClr val="FFFFFF"/>
                </a:solidFill>
                <a:latin typeface="Palatino Linotype" panose="02040502050505030304" pitchFamily="18" charset="0"/>
                <a:ea typeface="Poppins"/>
                <a:cs typeface="Poppins"/>
                <a:sym typeface="Poppins"/>
              </a:rPr>
              <a:t>Dashboard Preview</a:t>
            </a:r>
            <a:endParaRPr sz="2800" b="0" i="0" u="none" strike="noStrike" cap="none" dirty="0">
              <a:solidFill>
                <a:srgbClr val="FFFFFF"/>
              </a:solidFill>
              <a:latin typeface="Palatino Linotype" panose="02040502050505030304" pitchFamily="18" charset="0"/>
              <a:ea typeface="Poppins"/>
              <a:cs typeface="Poppins"/>
              <a:sym typeface="Poppins"/>
            </a:endParaRPr>
          </a:p>
        </p:txBody>
      </p:sp>
    </p:spTree>
    <p:extLst>
      <p:ext uri="{BB962C8B-B14F-4D97-AF65-F5344CB8AC3E}">
        <p14:creationId xmlns:p14="http://schemas.microsoft.com/office/powerpoint/2010/main" val="19925316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57;g21197e7cf6e_0_97">
            <a:extLst>
              <a:ext uri="{FF2B5EF4-FFF2-40B4-BE49-F238E27FC236}">
                <a16:creationId xmlns:a16="http://schemas.microsoft.com/office/drawing/2014/main" id="{11016EC5-0DC8-8FC9-F996-CF98560B8A9C}"/>
              </a:ext>
            </a:extLst>
          </p:cNvPr>
          <p:cNvSpPr txBox="1">
            <a:spLocks/>
          </p:cNvSpPr>
          <p:nvPr/>
        </p:nvSpPr>
        <p:spPr>
          <a:xfrm>
            <a:off x="839546" y="323677"/>
            <a:ext cx="6161387" cy="492443"/>
          </a:xfrm>
          <a:prstGeom prst="rect">
            <a:avLst/>
          </a:prstGeom>
          <a:noFill/>
          <a:ln>
            <a:noFill/>
          </a:ln>
        </p:spPr>
        <p:txBody>
          <a:bodyPr spcFirstLastPara="1" wrap="square" lIns="0" tIns="0" rIns="0" bIns="0" anchor="t" anchorCtr="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0"/>
              </a:spcBef>
              <a:buClr>
                <a:schemeClr val="dk1"/>
              </a:buClr>
              <a:buSzPts val="1800"/>
            </a:pPr>
            <a:r>
              <a:rPr lang="en-IN" sz="3200" dirty="0">
                <a:solidFill>
                  <a:schemeClr val="tx1">
                    <a:lumMod val="75000"/>
                    <a:lumOff val="25000"/>
                  </a:schemeClr>
                </a:solidFill>
                <a:latin typeface="Palatino Linotype" panose="02040502050505030304" pitchFamily="18" charset="0"/>
              </a:rPr>
              <a:t>Page 1</a:t>
            </a:r>
          </a:p>
        </p:txBody>
      </p:sp>
      <p:pic>
        <p:nvPicPr>
          <p:cNvPr id="5" name="Picture 4">
            <a:extLst>
              <a:ext uri="{FF2B5EF4-FFF2-40B4-BE49-F238E27FC236}">
                <a16:creationId xmlns:a16="http://schemas.microsoft.com/office/drawing/2014/main" id="{15AE2674-352D-E538-7830-BB09A43DDA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9226" y="974721"/>
            <a:ext cx="10013548" cy="5608806"/>
          </a:xfrm>
          <a:prstGeom prst="rect">
            <a:avLst/>
          </a:prstGeom>
        </p:spPr>
      </p:pic>
    </p:spTree>
    <p:extLst>
      <p:ext uri="{BB962C8B-B14F-4D97-AF65-F5344CB8AC3E}">
        <p14:creationId xmlns:p14="http://schemas.microsoft.com/office/powerpoint/2010/main" val="29318691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1C929-461E-94F4-8BDC-3D0D60FBD72A}"/>
            </a:ext>
          </a:extLst>
        </p:cNvPr>
        <p:cNvGrpSpPr/>
        <p:nvPr/>
      </p:nvGrpSpPr>
      <p:grpSpPr>
        <a:xfrm>
          <a:off x="0" y="0"/>
          <a:ext cx="0" cy="0"/>
          <a:chOff x="0" y="0"/>
          <a:chExt cx="0" cy="0"/>
        </a:xfrm>
      </p:grpSpPr>
      <p:sp>
        <p:nvSpPr>
          <p:cNvPr id="2" name="Google Shape;257;g21197e7cf6e_0_97">
            <a:extLst>
              <a:ext uri="{FF2B5EF4-FFF2-40B4-BE49-F238E27FC236}">
                <a16:creationId xmlns:a16="http://schemas.microsoft.com/office/drawing/2014/main" id="{F802D028-8F2B-382F-E172-18184154BCD3}"/>
              </a:ext>
            </a:extLst>
          </p:cNvPr>
          <p:cNvSpPr txBox="1">
            <a:spLocks/>
          </p:cNvSpPr>
          <p:nvPr/>
        </p:nvSpPr>
        <p:spPr>
          <a:xfrm>
            <a:off x="839546" y="323677"/>
            <a:ext cx="6161387" cy="492443"/>
          </a:xfrm>
          <a:prstGeom prst="rect">
            <a:avLst/>
          </a:prstGeom>
          <a:noFill/>
          <a:ln>
            <a:noFill/>
          </a:ln>
        </p:spPr>
        <p:txBody>
          <a:bodyPr spcFirstLastPara="1" wrap="square" lIns="0" tIns="0" rIns="0" bIns="0" anchor="t" anchorCtr="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0"/>
              </a:spcBef>
              <a:buClr>
                <a:schemeClr val="dk1"/>
              </a:buClr>
              <a:buSzPts val="1800"/>
            </a:pPr>
            <a:r>
              <a:rPr lang="en-IN" sz="3200" dirty="0">
                <a:solidFill>
                  <a:schemeClr val="tx1">
                    <a:lumMod val="75000"/>
                    <a:lumOff val="25000"/>
                  </a:schemeClr>
                </a:solidFill>
                <a:latin typeface="Palatino Linotype" panose="02040502050505030304" pitchFamily="18" charset="0"/>
              </a:rPr>
              <a:t>Page 2</a:t>
            </a:r>
          </a:p>
        </p:txBody>
      </p:sp>
      <p:pic>
        <p:nvPicPr>
          <p:cNvPr id="5" name="Picture 4">
            <a:extLst>
              <a:ext uri="{FF2B5EF4-FFF2-40B4-BE49-F238E27FC236}">
                <a16:creationId xmlns:a16="http://schemas.microsoft.com/office/drawing/2014/main" id="{17E2B038-17A8-9A77-F807-98EB6A3906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3293" y="971241"/>
            <a:ext cx="9983065" cy="5563082"/>
          </a:xfrm>
          <a:prstGeom prst="rect">
            <a:avLst/>
          </a:prstGeom>
        </p:spPr>
      </p:pic>
    </p:spTree>
    <p:extLst>
      <p:ext uri="{BB962C8B-B14F-4D97-AF65-F5344CB8AC3E}">
        <p14:creationId xmlns:p14="http://schemas.microsoft.com/office/powerpoint/2010/main" val="30772702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FAAF8-7DA9-F9ED-3453-118DED230EEB}"/>
            </a:ext>
          </a:extLst>
        </p:cNvPr>
        <p:cNvGrpSpPr/>
        <p:nvPr/>
      </p:nvGrpSpPr>
      <p:grpSpPr>
        <a:xfrm>
          <a:off x="0" y="0"/>
          <a:ext cx="0" cy="0"/>
          <a:chOff x="0" y="0"/>
          <a:chExt cx="0" cy="0"/>
        </a:xfrm>
      </p:grpSpPr>
      <p:sp>
        <p:nvSpPr>
          <p:cNvPr id="2" name="Google Shape;257;g21197e7cf6e_0_97">
            <a:extLst>
              <a:ext uri="{FF2B5EF4-FFF2-40B4-BE49-F238E27FC236}">
                <a16:creationId xmlns:a16="http://schemas.microsoft.com/office/drawing/2014/main" id="{E4297483-E985-4EEB-8C27-9B98AC47D29C}"/>
              </a:ext>
            </a:extLst>
          </p:cNvPr>
          <p:cNvSpPr txBox="1">
            <a:spLocks/>
          </p:cNvSpPr>
          <p:nvPr/>
        </p:nvSpPr>
        <p:spPr>
          <a:xfrm>
            <a:off x="839546" y="323677"/>
            <a:ext cx="6161387" cy="492443"/>
          </a:xfrm>
          <a:prstGeom prst="rect">
            <a:avLst/>
          </a:prstGeom>
          <a:noFill/>
          <a:ln>
            <a:noFill/>
          </a:ln>
        </p:spPr>
        <p:txBody>
          <a:bodyPr spcFirstLastPara="1" wrap="square" lIns="0" tIns="0" rIns="0" bIns="0" anchor="t" anchorCtr="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0"/>
              </a:spcBef>
              <a:buClr>
                <a:schemeClr val="dk1"/>
              </a:buClr>
              <a:buSzPts val="1800"/>
            </a:pPr>
            <a:r>
              <a:rPr lang="en-IN" sz="3200" dirty="0">
                <a:solidFill>
                  <a:schemeClr val="tx1">
                    <a:lumMod val="75000"/>
                    <a:lumOff val="25000"/>
                  </a:schemeClr>
                </a:solidFill>
                <a:latin typeface="Palatino Linotype" panose="02040502050505030304" pitchFamily="18" charset="0"/>
              </a:rPr>
              <a:t>Page 3</a:t>
            </a:r>
          </a:p>
        </p:txBody>
      </p:sp>
      <p:pic>
        <p:nvPicPr>
          <p:cNvPr id="4" name="Picture 3">
            <a:extLst>
              <a:ext uri="{FF2B5EF4-FFF2-40B4-BE49-F238E27FC236}">
                <a16:creationId xmlns:a16="http://schemas.microsoft.com/office/drawing/2014/main" id="{102A2E1B-559F-655F-3182-C779B5A5F1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8760" y="1001724"/>
            <a:ext cx="9914479" cy="5532599"/>
          </a:xfrm>
          <a:prstGeom prst="rect">
            <a:avLst/>
          </a:prstGeom>
        </p:spPr>
      </p:pic>
    </p:spTree>
    <p:extLst>
      <p:ext uri="{BB962C8B-B14F-4D97-AF65-F5344CB8AC3E}">
        <p14:creationId xmlns:p14="http://schemas.microsoft.com/office/powerpoint/2010/main" val="27830046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2068B-0B15-FDBF-7533-BA0EF13D1021}"/>
            </a:ext>
          </a:extLst>
        </p:cNvPr>
        <p:cNvGrpSpPr/>
        <p:nvPr/>
      </p:nvGrpSpPr>
      <p:grpSpPr>
        <a:xfrm>
          <a:off x="0" y="0"/>
          <a:ext cx="0" cy="0"/>
          <a:chOff x="0" y="0"/>
          <a:chExt cx="0" cy="0"/>
        </a:xfrm>
      </p:grpSpPr>
      <p:sp>
        <p:nvSpPr>
          <p:cNvPr id="2" name="Google Shape;257;g21197e7cf6e_0_97">
            <a:extLst>
              <a:ext uri="{FF2B5EF4-FFF2-40B4-BE49-F238E27FC236}">
                <a16:creationId xmlns:a16="http://schemas.microsoft.com/office/drawing/2014/main" id="{37048A17-45B5-B6D0-D213-C8E4C67EE05A}"/>
              </a:ext>
            </a:extLst>
          </p:cNvPr>
          <p:cNvSpPr txBox="1">
            <a:spLocks/>
          </p:cNvSpPr>
          <p:nvPr/>
        </p:nvSpPr>
        <p:spPr>
          <a:xfrm>
            <a:off x="839546" y="323677"/>
            <a:ext cx="6161387" cy="492443"/>
          </a:xfrm>
          <a:prstGeom prst="rect">
            <a:avLst/>
          </a:prstGeom>
          <a:noFill/>
          <a:ln>
            <a:noFill/>
          </a:ln>
        </p:spPr>
        <p:txBody>
          <a:bodyPr spcFirstLastPara="1" wrap="square" lIns="0" tIns="0" rIns="0" bIns="0" anchor="t" anchorCtr="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0"/>
              </a:spcBef>
              <a:buClr>
                <a:schemeClr val="dk1"/>
              </a:buClr>
              <a:buSzPts val="1800"/>
            </a:pPr>
            <a:r>
              <a:rPr lang="en-IN" sz="3200" dirty="0">
                <a:solidFill>
                  <a:schemeClr val="tx1">
                    <a:lumMod val="75000"/>
                    <a:lumOff val="25000"/>
                  </a:schemeClr>
                </a:solidFill>
                <a:latin typeface="Palatino Linotype" panose="02040502050505030304" pitchFamily="18" charset="0"/>
              </a:rPr>
              <a:t>Page 4</a:t>
            </a:r>
          </a:p>
        </p:txBody>
      </p:sp>
      <p:pic>
        <p:nvPicPr>
          <p:cNvPr id="7" name="Picture 6">
            <a:extLst>
              <a:ext uri="{FF2B5EF4-FFF2-40B4-BE49-F238E27FC236}">
                <a16:creationId xmlns:a16="http://schemas.microsoft.com/office/drawing/2014/main" id="{68C64D84-D719-E8AF-897A-2C4296A5C1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657" y="1072457"/>
            <a:ext cx="9990686" cy="5578323"/>
          </a:xfrm>
          <a:prstGeom prst="rect">
            <a:avLst/>
          </a:prstGeom>
        </p:spPr>
      </p:pic>
    </p:spTree>
    <p:extLst>
      <p:ext uri="{BB962C8B-B14F-4D97-AF65-F5344CB8AC3E}">
        <p14:creationId xmlns:p14="http://schemas.microsoft.com/office/powerpoint/2010/main" val="6277355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6A520-7C96-E18A-0F98-DB6399BC7C9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FF535AD-8C6D-E08C-5715-37B596973C07}"/>
              </a:ext>
            </a:extLst>
          </p:cNvPr>
          <p:cNvPicPr>
            <a:picLocks noChangeAspect="1"/>
          </p:cNvPicPr>
          <p:nvPr/>
        </p:nvPicPr>
        <p:blipFill>
          <a:blip r:embed="rId2">
            <a:alphaModFix amt="90000"/>
          </a:blip>
          <a:srcRect/>
          <a:stretch/>
        </p:blipFill>
        <p:spPr>
          <a:xfrm>
            <a:off x="0" y="0"/>
            <a:ext cx="12192000" cy="6858000"/>
          </a:xfrm>
          <a:prstGeom prst="rect">
            <a:avLst/>
          </a:prstGeom>
        </p:spPr>
      </p:pic>
      <p:sp>
        <p:nvSpPr>
          <p:cNvPr id="5" name="TextBox 4">
            <a:extLst>
              <a:ext uri="{FF2B5EF4-FFF2-40B4-BE49-F238E27FC236}">
                <a16:creationId xmlns:a16="http://schemas.microsoft.com/office/drawing/2014/main" id="{C251290D-A97C-C596-3FFD-7F49DC3042D0}"/>
              </a:ext>
            </a:extLst>
          </p:cNvPr>
          <p:cNvSpPr txBox="1"/>
          <p:nvPr/>
        </p:nvSpPr>
        <p:spPr>
          <a:xfrm>
            <a:off x="2448790" y="2505670"/>
            <a:ext cx="7294419" cy="923330"/>
          </a:xfrm>
          <a:prstGeom prst="rect">
            <a:avLst/>
          </a:prstGeom>
          <a:noFill/>
          <a:effectLst>
            <a:outerShdw blurRad="50800" dist="38100" dir="2700000" algn="tl" rotWithShape="0">
              <a:prstClr val="black">
                <a:alpha val="40000"/>
              </a:prstClr>
            </a:outerShdw>
          </a:effectLst>
        </p:spPr>
        <p:txBody>
          <a:bodyPr wrap="square" rtlCol="0">
            <a:spAutoFit/>
          </a:bodyPr>
          <a:lstStyle/>
          <a:p>
            <a:pPr algn="ctr"/>
            <a:r>
              <a:rPr lang="en-IN" sz="5400" b="1" dirty="0">
                <a:solidFill>
                  <a:schemeClr val="bg1"/>
                </a:solidFill>
                <a:latin typeface="Palatino Linotype" panose="02040502050505030304" pitchFamily="18" charset="0"/>
                <a:cs typeface="Poppins" panose="020B0604020202020204" charset="0"/>
              </a:rPr>
              <a:t>Thank You…</a:t>
            </a:r>
          </a:p>
        </p:txBody>
      </p:sp>
    </p:spTree>
    <p:extLst>
      <p:ext uri="{BB962C8B-B14F-4D97-AF65-F5344CB8AC3E}">
        <p14:creationId xmlns:p14="http://schemas.microsoft.com/office/powerpoint/2010/main" val="10675876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322</TotalTime>
  <Words>906</Words>
  <Application>Microsoft Office PowerPoint</Application>
  <PresentationFormat>Widescreen</PresentationFormat>
  <Paragraphs>174</Paragraphs>
  <Slides>30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Arial</vt:lpstr>
      <vt:lpstr>Calibri</vt:lpstr>
      <vt:lpstr>Calibri Light</vt:lpstr>
      <vt:lpstr>Palatino Linotype</vt:lpstr>
      <vt:lpstr>Poppins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om navghire</dc:creator>
  <cp:lastModifiedBy>om navghire</cp:lastModifiedBy>
  <cp:revision>7</cp:revision>
  <dcterms:created xsi:type="dcterms:W3CDTF">2025-11-29T06:26:50Z</dcterms:created>
  <dcterms:modified xsi:type="dcterms:W3CDTF">2026-01-05T12:18:00Z</dcterms:modified>
</cp:coreProperties>
</file>